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 id="2147483672" r:id="rId3"/>
    <p:sldMasterId id="2147483660" r:id="rId4"/>
  </p:sldMasterIdLst>
  <p:notesMasterIdLst>
    <p:notesMasterId r:id="rId32"/>
  </p:notesMasterIdLst>
  <p:sldIdLst>
    <p:sldId id="256" r:id="rId5"/>
    <p:sldId id="273" r:id="rId6"/>
    <p:sldId id="283" r:id="rId7"/>
    <p:sldId id="270" r:id="rId8"/>
    <p:sldId id="258" r:id="rId9"/>
    <p:sldId id="260" r:id="rId10"/>
    <p:sldId id="284" r:id="rId11"/>
    <p:sldId id="259" r:id="rId12"/>
    <p:sldId id="274" r:id="rId13"/>
    <p:sldId id="263" r:id="rId14"/>
    <p:sldId id="285" r:id="rId15"/>
    <p:sldId id="257" r:id="rId16"/>
    <p:sldId id="265" r:id="rId17"/>
    <p:sldId id="268" r:id="rId18"/>
    <p:sldId id="275" r:id="rId19"/>
    <p:sldId id="276" r:id="rId20"/>
    <p:sldId id="277" r:id="rId21"/>
    <p:sldId id="286" r:id="rId22"/>
    <p:sldId id="269" r:id="rId23"/>
    <p:sldId id="278" r:id="rId24"/>
    <p:sldId id="280" r:id="rId25"/>
    <p:sldId id="279" r:id="rId26"/>
    <p:sldId id="281" r:id="rId27"/>
    <p:sldId id="287" r:id="rId28"/>
    <p:sldId id="271" r:id="rId29"/>
    <p:sldId id="282" r:id="rId30"/>
    <p:sldId id="288"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3C6B"/>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84" autoAdjust="0"/>
    <p:restoredTop sz="94279" autoAdjust="0"/>
  </p:normalViewPr>
  <p:slideViewPr>
    <p:cSldViewPr snapToGrid="0">
      <p:cViewPr>
        <p:scale>
          <a:sx n="75" d="100"/>
          <a:sy n="75" d="100"/>
        </p:scale>
        <p:origin x="37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oleObject" Target="file:///D:\Undergraduate\design\experimen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School\School\design\experimen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School\School\design\experimen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School\School\design\experiment.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cifar10!$P$20</c:f>
              <c:strCache>
                <c:ptCount val="1"/>
                <c:pt idx="0">
                  <c:v>CE</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strRef>
              <c:f>cifar10!$Q$19:$V$19</c:f>
              <c:strCache>
                <c:ptCount val="6"/>
                <c:pt idx="0">
                  <c:v>1:1</c:v>
                </c:pt>
                <c:pt idx="1">
                  <c:v>1:4</c:v>
                </c:pt>
                <c:pt idx="2">
                  <c:v>1:9</c:v>
                </c:pt>
                <c:pt idx="3">
                  <c:v>1:14</c:v>
                </c:pt>
                <c:pt idx="4">
                  <c:v>1:19</c:v>
                </c:pt>
                <c:pt idx="5">
                  <c:v>1:24</c:v>
                </c:pt>
              </c:strCache>
            </c:strRef>
          </c:cat>
          <c:val>
            <c:numRef>
              <c:f>cifar10!$Q$20:$V$20</c:f>
              <c:numCache>
                <c:formatCode>General</c:formatCode>
                <c:ptCount val="6"/>
                <c:pt idx="0">
                  <c:v>0.87170000000000003</c:v>
                </c:pt>
                <c:pt idx="1">
                  <c:v>0.8563599999999999</c:v>
                </c:pt>
                <c:pt idx="2">
                  <c:v>0.82672000000000012</c:v>
                </c:pt>
                <c:pt idx="3">
                  <c:v>0.82222000000000006</c:v>
                </c:pt>
                <c:pt idx="4">
                  <c:v>0.79442000000000002</c:v>
                </c:pt>
                <c:pt idx="5">
                  <c:v>0.78836000000000006</c:v>
                </c:pt>
              </c:numCache>
            </c:numRef>
          </c:val>
          <c:smooth val="0"/>
          <c:extLst>
            <c:ext xmlns:c16="http://schemas.microsoft.com/office/drawing/2014/chart" uri="{C3380CC4-5D6E-409C-BE32-E72D297353CC}">
              <c16:uniqueId val="{00000000-0C58-46C3-B146-B2CA302ADABE}"/>
            </c:ext>
          </c:extLst>
        </c:ser>
        <c:ser>
          <c:idx val="1"/>
          <c:order val="1"/>
          <c:tx>
            <c:strRef>
              <c:f>cifar10!$P$21</c:f>
              <c:strCache>
                <c:ptCount val="1"/>
                <c:pt idx="0">
                  <c:v>CBCE</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strRef>
              <c:f>cifar10!$Q$19:$V$19</c:f>
              <c:strCache>
                <c:ptCount val="6"/>
                <c:pt idx="0">
                  <c:v>1:1</c:v>
                </c:pt>
                <c:pt idx="1">
                  <c:v>1:4</c:v>
                </c:pt>
                <c:pt idx="2">
                  <c:v>1:9</c:v>
                </c:pt>
                <c:pt idx="3">
                  <c:v>1:14</c:v>
                </c:pt>
                <c:pt idx="4">
                  <c:v>1:19</c:v>
                </c:pt>
                <c:pt idx="5">
                  <c:v>1:24</c:v>
                </c:pt>
              </c:strCache>
            </c:strRef>
          </c:cat>
          <c:val>
            <c:numRef>
              <c:f>cifar10!$Q$21:$V$21</c:f>
              <c:numCache>
                <c:formatCode>General</c:formatCode>
                <c:ptCount val="6"/>
                <c:pt idx="0">
                  <c:v>0.84386000000000005</c:v>
                </c:pt>
                <c:pt idx="1">
                  <c:v>0.83033999999999997</c:v>
                </c:pt>
                <c:pt idx="2">
                  <c:v>0.81191999999999998</c:v>
                </c:pt>
                <c:pt idx="3">
                  <c:v>0.80611999999999995</c:v>
                </c:pt>
                <c:pt idx="4">
                  <c:v>0.78273999999999999</c:v>
                </c:pt>
                <c:pt idx="5">
                  <c:v>0.77954000000000001</c:v>
                </c:pt>
              </c:numCache>
            </c:numRef>
          </c:val>
          <c:smooth val="0"/>
          <c:extLst>
            <c:ext xmlns:c16="http://schemas.microsoft.com/office/drawing/2014/chart" uri="{C3380CC4-5D6E-409C-BE32-E72D297353CC}">
              <c16:uniqueId val="{00000001-0C58-46C3-B146-B2CA302ADABE}"/>
            </c:ext>
          </c:extLst>
        </c:ser>
        <c:ser>
          <c:idx val="2"/>
          <c:order val="2"/>
          <c:tx>
            <c:strRef>
              <c:f>cifar10!$P$22</c:f>
              <c:strCache>
                <c:ptCount val="1"/>
                <c:pt idx="0">
                  <c:v>TPAUC</c:v>
                </c:pt>
              </c:strCache>
            </c:strRef>
          </c:tx>
          <c:spPr>
            <a:ln w="22225" cap="rnd">
              <a:solidFill>
                <a:schemeClr val="accent3"/>
              </a:solidFill>
              <a:round/>
            </a:ln>
            <a:effectLst/>
          </c:spPr>
          <c:marker>
            <c:symbol val="triangle"/>
            <c:size val="6"/>
            <c:spPr>
              <a:solidFill>
                <a:schemeClr val="accent3"/>
              </a:solidFill>
              <a:ln w="9525">
                <a:solidFill>
                  <a:schemeClr val="accent3"/>
                </a:solidFill>
                <a:round/>
              </a:ln>
              <a:effectLst/>
            </c:spPr>
          </c:marker>
          <c:cat>
            <c:strRef>
              <c:f>cifar10!$Q$19:$V$19</c:f>
              <c:strCache>
                <c:ptCount val="6"/>
                <c:pt idx="0">
                  <c:v>1:1</c:v>
                </c:pt>
                <c:pt idx="1">
                  <c:v>1:4</c:v>
                </c:pt>
                <c:pt idx="2">
                  <c:v>1:9</c:v>
                </c:pt>
                <c:pt idx="3">
                  <c:v>1:14</c:v>
                </c:pt>
                <c:pt idx="4">
                  <c:v>1:19</c:v>
                </c:pt>
                <c:pt idx="5">
                  <c:v>1:24</c:v>
                </c:pt>
              </c:strCache>
            </c:strRef>
          </c:cat>
          <c:val>
            <c:numRef>
              <c:f>cifar10!$Q$22:$V$22</c:f>
              <c:numCache>
                <c:formatCode>General</c:formatCode>
                <c:ptCount val="6"/>
                <c:pt idx="0">
                  <c:v>0.86212</c:v>
                </c:pt>
                <c:pt idx="1">
                  <c:v>0.87122000000000011</c:v>
                </c:pt>
                <c:pt idx="2">
                  <c:v>0.86155999999999988</c:v>
                </c:pt>
                <c:pt idx="3">
                  <c:v>0.85752000000000006</c:v>
                </c:pt>
                <c:pt idx="4">
                  <c:v>0.85075999999999996</c:v>
                </c:pt>
                <c:pt idx="5">
                  <c:v>0.85180000000000011</c:v>
                </c:pt>
              </c:numCache>
            </c:numRef>
          </c:val>
          <c:smooth val="0"/>
          <c:extLst>
            <c:ext xmlns:c16="http://schemas.microsoft.com/office/drawing/2014/chart" uri="{C3380CC4-5D6E-409C-BE32-E72D297353CC}">
              <c16:uniqueId val="{00000002-0C58-46C3-B146-B2CA302ADABE}"/>
            </c:ext>
          </c:extLst>
        </c:ser>
        <c:ser>
          <c:idx val="3"/>
          <c:order val="3"/>
          <c:tx>
            <c:strRef>
              <c:f>cifar10!$P$23</c:f>
              <c:strCache>
                <c:ptCount val="1"/>
                <c:pt idx="0">
                  <c:v>DRO-AUC</c:v>
                </c:pt>
              </c:strCache>
            </c:strRef>
          </c:tx>
          <c:spPr>
            <a:ln w="22225" cap="rnd">
              <a:solidFill>
                <a:schemeClr val="accent4"/>
              </a:solidFill>
              <a:round/>
            </a:ln>
            <a:effectLst/>
          </c:spPr>
          <c:marker>
            <c:symbol val="x"/>
            <c:size val="6"/>
            <c:spPr>
              <a:noFill/>
              <a:ln w="9525">
                <a:solidFill>
                  <a:schemeClr val="accent4"/>
                </a:solidFill>
                <a:round/>
              </a:ln>
              <a:effectLst/>
            </c:spPr>
          </c:marker>
          <c:cat>
            <c:strRef>
              <c:f>cifar10!$Q$19:$V$19</c:f>
              <c:strCache>
                <c:ptCount val="6"/>
                <c:pt idx="0">
                  <c:v>1:1</c:v>
                </c:pt>
                <c:pt idx="1">
                  <c:v>1:4</c:v>
                </c:pt>
                <c:pt idx="2">
                  <c:v>1:9</c:v>
                </c:pt>
                <c:pt idx="3">
                  <c:v>1:14</c:v>
                </c:pt>
                <c:pt idx="4">
                  <c:v>1:19</c:v>
                </c:pt>
                <c:pt idx="5">
                  <c:v>1:24</c:v>
                </c:pt>
              </c:strCache>
            </c:strRef>
          </c:cat>
          <c:val>
            <c:numRef>
              <c:f>cifar10!$Q$23:$V$23</c:f>
              <c:numCache>
                <c:formatCode>General</c:formatCode>
                <c:ptCount val="6"/>
                <c:pt idx="0">
                  <c:v>0.86259999999999992</c:v>
                </c:pt>
                <c:pt idx="1">
                  <c:v>0.87072000000000005</c:v>
                </c:pt>
                <c:pt idx="2">
                  <c:v>0.86028000000000004</c:v>
                </c:pt>
                <c:pt idx="3">
                  <c:v>0.85682000000000014</c:v>
                </c:pt>
                <c:pt idx="4">
                  <c:v>0.85063999999999995</c:v>
                </c:pt>
                <c:pt idx="5">
                  <c:v>0.85836000000000001</c:v>
                </c:pt>
              </c:numCache>
            </c:numRef>
          </c:val>
          <c:smooth val="0"/>
          <c:extLst>
            <c:ext xmlns:c16="http://schemas.microsoft.com/office/drawing/2014/chart" uri="{C3380CC4-5D6E-409C-BE32-E72D297353CC}">
              <c16:uniqueId val="{00000003-0C58-46C3-B146-B2CA302ADABE}"/>
            </c:ext>
          </c:extLst>
        </c:ser>
        <c:dLbls>
          <c:showLegendKey val="0"/>
          <c:showVal val="0"/>
          <c:showCatName val="0"/>
          <c:showSerName val="0"/>
          <c:showPercent val="0"/>
          <c:showBubbleSize val="0"/>
        </c:dLbls>
        <c:marker val="1"/>
        <c:smooth val="0"/>
        <c:axId val="630223743"/>
        <c:axId val="630211263"/>
      </c:lineChart>
      <c:catAx>
        <c:axId val="63022374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crossAx val="630211263"/>
        <c:crosses val="autoZero"/>
        <c:auto val="1"/>
        <c:lblAlgn val="ctr"/>
        <c:lblOffset val="100"/>
        <c:noMultiLvlLbl val="0"/>
      </c:catAx>
      <c:valAx>
        <c:axId val="630211263"/>
        <c:scaling>
          <c:orientation val="minMax"/>
          <c:min val="0.76000000000000012"/>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crossAx val="63022374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rgbClr val="1D3C6B"/>
      </a:solidFill>
      <a:round/>
    </a:ln>
    <a:effectLst/>
  </c:spPr>
  <c:txPr>
    <a:bodyPr/>
    <a:lstStyle/>
    <a:p>
      <a:pPr>
        <a:defRPr>
          <a:latin typeface="Times New Roman" panose="02020603050405020304" pitchFamily="18" charset="0"/>
          <a:cs typeface="Times New Roman" panose="02020603050405020304" pitchFamily="18" charset="0"/>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cifar10!$X$20</c:f>
              <c:strCache>
                <c:ptCount val="1"/>
                <c:pt idx="0">
                  <c:v>CE</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strRef>
              <c:f>cifar10!$Y$19:$AD$19</c:f>
              <c:strCache>
                <c:ptCount val="6"/>
                <c:pt idx="0">
                  <c:v>1:1</c:v>
                </c:pt>
                <c:pt idx="1">
                  <c:v>1:4</c:v>
                </c:pt>
                <c:pt idx="2">
                  <c:v>1:9</c:v>
                </c:pt>
                <c:pt idx="3">
                  <c:v>1:14</c:v>
                </c:pt>
                <c:pt idx="4">
                  <c:v>1:19</c:v>
                </c:pt>
                <c:pt idx="5">
                  <c:v>1:24</c:v>
                </c:pt>
              </c:strCache>
            </c:strRef>
          </c:cat>
          <c:val>
            <c:numRef>
              <c:f>cifar10!$Y$20:$AD$20</c:f>
              <c:numCache>
                <c:formatCode>General</c:formatCode>
                <c:ptCount val="6"/>
                <c:pt idx="0">
                  <c:v>0.56398000000000004</c:v>
                </c:pt>
                <c:pt idx="1">
                  <c:v>0.51541999999999999</c:v>
                </c:pt>
                <c:pt idx="2">
                  <c:v>0.43091999999999997</c:v>
                </c:pt>
                <c:pt idx="3">
                  <c:v>0.41542000000000001</c:v>
                </c:pt>
                <c:pt idx="4">
                  <c:v>0.36293999999999993</c:v>
                </c:pt>
                <c:pt idx="5">
                  <c:v>0.35124000000000005</c:v>
                </c:pt>
              </c:numCache>
            </c:numRef>
          </c:val>
          <c:smooth val="0"/>
          <c:extLst>
            <c:ext xmlns:c16="http://schemas.microsoft.com/office/drawing/2014/chart" uri="{C3380CC4-5D6E-409C-BE32-E72D297353CC}">
              <c16:uniqueId val="{00000000-ECF0-4234-9291-338CF4B08051}"/>
            </c:ext>
          </c:extLst>
        </c:ser>
        <c:ser>
          <c:idx val="1"/>
          <c:order val="1"/>
          <c:tx>
            <c:strRef>
              <c:f>cifar10!$X$21</c:f>
              <c:strCache>
                <c:ptCount val="1"/>
                <c:pt idx="0">
                  <c:v>CBCE</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strRef>
              <c:f>cifar10!$Y$19:$AD$19</c:f>
              <c:strCache>
                <c:ptCount val="6"/>
                <c:pt idx="0">
                  <c:v>1:1</c:v>
                </c:pt>
                <c:pt idx="1">
                  <c:v>1:4</c:v>
                </c:pt>
                <c:pt idx="2">
                  <c:v>1:9</c:v>
                </c:pt>
                <c:pt idx="3">
                  <c:v>1:14</c:v>
                </c:pt>
                <c:pt idx="4">
                  <c:v>1:19</c:v>
                </c:pt>
                <c:pt idx="5">
                  <c:v>1:24</c:v>
                </c:pt>
              </c:strCache>
            </c:strRef>
          </c:cat>
          <c:val>
            <c:numRef>
              <c:f>cifar10!$Y$21:$AD$21</c:f>
              <c:numCache>
                <c:formatCode>General</c:formatCode>
                <c:ptCount val="6"/>
                <c:pt idx="0">
                  <c:v>0.48174</c:v>
                </c:pt>
                <c:pt idx="1">
                  <c:v>0.44909999999999994</c:v>
                </c:pt>
                <c:pt idx="2">
                  <c:v>0.40847999999999995</c:v>
                </c:pt>
                <c:pt idx="3">
                  <c:v>0.38679999999999992</c:v>
                </c:pt>
                <c:pt idx="4">
                  <c:v>0.33096000000000003</c:v>
                </c:pt>
                <c:pt idx="5">
                  <c:v>0.32120000000000004</c:v>
                </c:pt>
              </c:numCache>
            </c:numRef>
          </c:val>
          <c:smooth val="0"/>
          <c:extLst>
            <c:ext xmlns:c16="http://schemas.microsoft.com/office/drawing/2014/chart" uri="{C3380CC4-5D6E-409C-BE32-E72D297353CC}">
              <c16:uniqueId val="{00000001-ECF0-4234-9291-338CF4B08051}"/>
            </c:ext>
          </c:extLst>
        </c:ser>
        <c:ser>
          <c:idx val="2"/>
          <c:order val="2"/>
          <c:tx>
            <c:strRef>
              <c:f>cifar10!$X$22</c:f>
              <c:strCache>
                <c:ptCount val="1"/>
                <c:pt idx="0">
                  <c:v>TPAUC</c:v>
                </c:pt>
              </c:strCache>
            </c:strRef>
          </c:tx>
          <c:spPr>
            <a:ln w="22225" cap="rnd">
              <a:solidFill>
                <a:schemeClr val="accent3"/>
              </a:solidFill>
              <a:round/>
            </a:ln>
            <a:effectLst/>
          </c:spPr>
          <c:marker>
            <c:symbol val="triangle"/>
            <c:size val="6"/>
            <c:spPr>
              <a:solidFill>
                <a:schemeClr val="accent3"/>
              </a:solidFill>
              <a:ln w="9525">
                <a:solidFill>
                  <a:schemeClr val="accent3"/>
                </a:solidFill>
                <a:round/>
              </a:ln>
              <a:effectLst/>
            </c:spPr>
          </c:marker>
          <c:cat>
            <c:strRef>
              <c:f>cifar10!$Y$19:$AD$19</c:f>
              <c:strCache>
                <c:ptCount val="6"/>
                <c:pt idx="0">
                  <c:v>1:1</c:v>
                </c:pt>
                <c:pt idx="1">
                  <c:v>1:4</c:v>
                </c:pt>
                <c:pt idx="2">
                  <c:v>1:9</c:v>
                </c:pt>
                <c:pt idx="3">
                  <c:v>1:14</c:v>
                </c:pt>
                <c:pt idx="4">
                  <c:v>1:19</c:v>
                </c:pt>
                <c:pt idx="5">
                  <c:v>1:24</c:v>
                </c:pt>
              </c:strCache>
            </c:strRef>
          </c:cat>
          <c:val>
            <c:numRef>
              <c:f>cifar10!$Y$22:$AD$22</c:f>
              <c:numCache>
                <c:formatCode>General</c:formatCode>
                <c:ptCount val="6"/>
                <c:pt idx="0">
                  <c:v>0.53469999999999995</c:v>
                </c:pt>
                <c:pt idx="1">
                  <c:v>0.55952000000000002</c:v>
                </c:pt>
                <c:pt idx="2">
                  <c:v>0.52432000000000001</c:v>
                </c:pt>
                <c:pt idx="3">
                  <c:v>0.51484000000000008</c:v>
                </c:pt>
                <c:pt idx="4">
                  <c:v>0.49366000000000004</c:v>
                </c:pt>
                <c:pt idx="5">
                  <c:v>0.50512000000000001</c:v>
                </c:pt>
              </c:numCache>
            </c:numRef>
          </c:val>
          <c:smooth val="0"/>
          <c:extLst>
            <c:ext xmlns:c16="http://schemas.microsoft.com/office/drawing/2014/chart" uri="{C3380CC4-5D6E-409C-BE32-E72D297353CC}">
              <c16:uniqueId val="{00000002-ECF0-4234-9291-338CF4B08051}"/>
            </c:ext>
          </c:extLst>
        </c:ser>
        <c:ser>
          <c:idx val="3"/>
          <c:order val="3"/>
          <c:tx>
            <c:strRef>
              <c:f>cifar10!$X$23</c:f>
              <c:strCache>
                <c:ptCount val="1"/>
                <c:pt idx="0">
                  <c:v>DRO-AUC</c:v>
                </c:pt>
              </c:strCache>
            </c:strRef>
          </c:tx>
          <c:spPr>
            <a:ln w="22225" cap="rnd">
              <a:solidFill>
                <a:schemeClr val="accent4"/>
              </a:solidFill>
              <a:round/>
            </a:ln>
            <a:effectLst/>
          </c:spPr>
          <c:marker>
            <c:symbol val="x"/>
            <c:size val="6"/>
            <c:spPr>
              <a:noFill/>
              <a:ln w="9525">
                <a:solidFill>
                  <a:schemeClr val="accent4"/>
                </a:solidFill>
                <a:round/>
              </a:ln>
              <a:effectLst/>
            </c:spPr>
          </c:marker>
          <c:cat>
            <c:strRef>
              <c:f>cifar10!$Y$19:$AD$19</c:f>
              <c:strCache>
                <c:ptCount val="6"/>
                <c:pt idx="0">
                  <c:v>1:1</c:v>
                </c:pt>
                <c:pt idx="1">
                  <c:v>1:4</c:v>
                </c:pt>
                <c:pt idx="2">
                  <c:v>1:9</c:v>
                </c:pt>
                <c:pt idx="3">
                  <c:v>1:14</c:v>
                </c:pt>
                <c:pt idx="4">
                  <c:v>1:19</c:v>
                </c:pt>
                <c:pt idx="5">
                  <c:v>1:24</c:v>
                </c:pt>
              </c:strCache>
            </c:strRef>
          </c:cat>
          <c:val>
            <c:numRef>
              <c:f>cifar10!$Y$23:$AD$23</c:f>
              <c:numCache>
                <c:formatCode>General</c:formatCode>
                <c:ptCount val="6"/>
                <c:pt idx="0">
                  <c:v>0.53831999999999991</c:v>
                </c:pt>
                <c:pt idx="1">
                  <c:v>0.55899999999999994</c:v>
                </c:pt>
                <c:pt idx="2">
                  <c:v>0.54509999999999992</c:v>
                </c:pt>
                <c:pt idx="3">
                  <c:v>0.52523999999999993</c:v>
                </c:pt>
                <c:pt idx="4">
                  <c:v>0.50404000000000004</c:v>
                </c:pt>
                <c:pt idx="5">
                  <c:v>0.51646000000000003</c:v>
                </c:pt>
              </c:numCache>
            </c:numRef>
          </c:val>
          <c:smooth val="0"/>
          <c:extLst>
            <c:ext xmlns:c16="http://schemas.microsoft.com/office/drawing/2014/chart" uri="{C3380CC4-5D6E-409C-BE32-E72D297353CC}">
              <c16:uniqueId val="{00000003-ECF0-4234-9291-338CF4B08051}"/>
            </c:ext>
          </c:extLst>
        </c:ser>
        <c:dLbls>
          <c:showLegendKey val="0"/>
          <c:showVal val="0"/>
          <c:showCatName val="0"/>
          <c:showSerName val="0"/>
          <c:showPercent val="0"/>
          <c:showBubbleSize val="0"/>
        </c:dLbls>
        <c:marker val="1"/>
        <c:smooth val="0"/>
        <c:axId val="198275231"/>
        <c:axId val="198276671"/>
      </c:lineChart>
      <c:catAx>
        <c:axId val="19827523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crossAx val="198276671"/>
        <c:crosses val="autoZero"/>
        <c:auto val="1"/>
        <c:lblAlgn val="ctr"/>
        <c:lblOffset val="100"/>
        <c:noMultiLvlLbl val="0"/>
      </c:catAx>
      <c:valAx>
        <c:axId val="198276671"/>
        <c:scaling>
          <c:orientation val="minMax"/>
          <c:min val="0.30000000000000004"/>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crossAx val="19827523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rgbClr val="1D3C6B"/>
      </a:solidFill>
      <a:round/>
    </a:ln>
    <a:effectLst/>
  </c:spPr>
  <c:txPr>
    <a:bodyPr/>
    <a:lstStyle/>
    <a:p>
      <a:pPr>
        <a:defRPr>
          <a:latin typeface="Times New Roman" panose="02020603050405020304" pitchFamily="18" charset="0"/>
          <a:cs typeface="Times New Roman" panose="02020603050405020304" pitchFamily="18" charset="0"/>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cifar100!$O$20</c:f>
              <c:strCache>
                <c:ptCount val="1"/>
                <c:pt idx="0">
                  <c:v>CE</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strRef>
              <c:f>cifar100!$P$19:$U$19</c:f>
              <c:strCache>
                <c:ptCount val="6"/>
                <c:pt idx="0">
                  <c:v>1:1</c:v>
                </c:pt>
                <c:pt idx="1">
                  <c:v>1:4</c:v>
                </c:pt>
                <c:pt idx="2">
                  <c:v>1:9</c:v>
                </c:pt>
                <c:pt idx="3">
                  <c:v>1:14</c:v>
                </c:pt>
                <c:pt idx="4">
                  <c:v>1:19</c:v>
                </c:pt>
                <c:pt idx="5">
                  <c:v>1:24</c:v>
                </c:pt>
              </c:strCache>
            </c:strRef>
          </c:cat>
          <c:val>
            <c:numRef>
              <c:f>cifar100!$P$20:$U$20</c:f>
              <c:numCache>
                <c:formatCode>General</c:formatCode>
                <c:ptCount val="6"/>
                <c:pt idx="0">
                  <c:v>0.87894000000000005</c:v>
                </c:pt>
                <c:pt idx="1">
                  <c:v>0.87583999999999995</c:v>
                </c:pt>
                <c:pt idx="2">
                  <c:v>0.82552000000000003</c:v>
                </c:pt>
                <c:pt idx="3">
                  <c:v>0.81243999999999994</c:v>
                </c:pt>
                <c:pt idx="4">
                  <c:v>0.79286000000000012</c:v>
                </c:pt>
                <c:pt idx="5">
                  <c:v>0.77551999999999999</c:v>
                </c:pt>
              </c:numCache>
            </c:numRef>
          </c:val>
          <c:smooth val="0"/>
          <c:extLst>
            <c:ext xmlns:c16="http://schemas.microsoft.com/office/drawing/2014/chart" uri="{C3380CC4-5D6E-409C-BE32-E72D297353CC}">
              <c16:uniqueId val="{00000000-8DAB-4FEB-AAFF-5AA7BE237D78}"/>
            </c:ext>
          </c:extLst>
        </c:ser>
        <c:ser>
          <c:idx val="1"/>
          <c:order val="1"/>
          <c:tx>
            <c:strRef>
              <c:f>cifar100!$O$21</c:f>
              <c:strCache>
                <c:ptCount val="1"/>
                <c:pt idx="0">
                  <c:v>CBCE</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strRef>
              <c:f>cifar100!$P$19:$U$19</c:f>
              <c:strCache>
                <c:ptCount val="6"/>
                <c:pt idx="0">
                  <c:v>1:1</c:v>
                </c:pt>
                <c:pt idx="1">
                  <c:v>1:4</c:v>
                </c:pt>
                <c:pt idx="2">
                  <c:v>1:9</c:v>
                </c:pt>
                <c:pt idx="3">
                  <c:v>1:14</c:v>
                </c:pt>
                <c:pt idx="4">
                  <c:v>1:19</c:v>
                </c:pt>
                <c:pt idx="5">
                  <c:v>1:24</c:v>
                </c:pt>
              </c:strCache>
            </c:strRef>
          </c:cat>
          <c:val>
            <c:numRef>
              <c:f>cifar100!$P$21:$U$21</c:f>
              <c:numCache>
                <c:formatCode>General</c:formatCode>
                <c:ptCount val="6"/>
                <c:pt idx="0">
                  <c:v>0.85676000000000008</c:v>
                </c:pt>
                <c:pt idx="1">
                  <c:v>0.83442000000000005</c:v>
                </c:pt>
                <c:pt idx="2">
                  <c:v>0.80058000000000007</c:v>
                </c:pt>
                <c:pt idx="3">
                  <c:v>0.77061999999999997</c:v>
                </c:pt>
                <c:pt idx="4">
                  <c:v>0.76790000000000003</c:v>
                </c:pt>
                <c:pt idx="5">
                  <c:v>0.77401999999999993</c:v>
                </c:pt>
              </c:numCache>
            </c:numRef>
          </c:val>
          <c:smooth val="0"/>
          <c:extLst>
            <c:ext xmlns:c16="http://schemas.microsoft.com/office/drawing/2014/chart" uri="{C3380CC4-5D6E-409C-BE32-E72D297353CC}">
              <c16:uniqueId val="{00000001-8DAB-4FEB-AAFF-5AA7BE237D78}"/>
            </c:ext>
          </c:extLst>
        </c:ser>
        <c:ser>
          <c:idx val="2"/>
          <c:order val="2"/>
          <c:tx>
            <c:strRef>
              <c:f>cifar100!$O$22</c:f>
              <c:strCache>
                <c:ptCount val="1"/>
                <c:pt idx="0">
                  <c:v>TPAUC</c:v>
                </c:pt>
              </c:strCache>
            </c:strRef>
          </c:tx>
          <c:spPr>
            <a:ln w="22225" cap="rnd">
              <a:solidFill>
                <a:schemeClr val="accent3"/>
              </a:solidFill>
              <a:round/>
            </a:ln>
            <a:effectLst/>
          </c:spPr>
          <c:marker>
            <c:symbol val="triangle"/>
            <c:size val="6"/>
            <c:spPr>
              <a:solidFill>
                <a:schemeClr val="accent3"/>
              </a:solidFill>
              <a:ln w="9525">
                <a:solidFill>
                  <a:schemeClr val="accent3"/>
                </a:solidFill>
                <a:round/>
              </a:ln>
              <a:effectLst/>
            </c:spPr>
          </c:marker>
          <c:cat>
            <c:strRef>
              <c:f>cifar100!$P$19:$U$19</c:f>
              <c:strCache>
                <c:ptCount val="6"/>
                <c:pt idx="0">
                  <c:v>1:1</c:v>
                </c:pt>
                <c:pt idx="1">
                  <c:v>1:4</c:v>
                </c:pt>
                <c:pt idx="2">
                  <c:v>1:9</c:v>
                </c:pt>
                <c:pt idx="3">
                  <c:v>1:14</c:v>
                </c:pt>
                <c:pt idx="4">
                  <c:v>1:19</c:v>
                </c:pt>
                <c:pt idx="5">
                  <c:v>1:24</c:v>
                </c:pt>
              </c:strCache>
            </c:strRef>
          </c:cat>
          <c:val>
            <c:numRef>
              <c:f>cifar100!$P$22:$U$22</c:f>
              <c:numCache>
                <c:formatCode>General</c:formatCode>
                <c:ptCount val="6"/>
                <c:pt idx="0">
                  <c:v>0.86708000000000018</c:v>
                </c:pt>
                <c:pt idx="1">
                  <c:v>0.87714000000000003</c:v>
                </c:pt>
                <c:pt idx="2">
                  <c:v>0.8671399999999998</c:v>
                </c:pt>
                <c:pt idx="3">
                  <c:v>0.8630000000000001</c:v>
                </c:pt>
                <c:pt idx="4">
                  <c:v>0.86524000000000001</c:v>
                </c:pt>
                <c:pt idx="5">
                  <c:v>0.84758</c:v>
                </c:pt>
              </c:numCache>
            </c:numRef>
          </c:val>
          <c:smooth val="0"/>
          <c:extLst>
            <c:ext xmlns:c16="http://schemas.microsoft.com/office/drawing/2014/chart" uri="{C3380CC4-5D6E-409C-BE32-E72D297353CC}">
              <c16:uniqueId val="{00000002-8DAB-4FEB-AAFF-5AA7BE237D78}"/>
            </c:ext>
          </c:extLst>
        </c:ser>
        <c:ser>
          <c:idx val="3"/>
          <c:order val="3"/>
          <c:tx>
            <c:strRef>
              <c:f>cifar100!$O$23</c:f>
              <c:strCache>
                <c:ptCount val="1"/>
                <c:pt idx="0">
                  <c:v>DRO-AUC</c:v>
                </c:pt>
              </c:strCache>
            </c:strRef>
          </c:tx>
          <c:spPr>
            <a:ln w="22225" cap="rnd">
              <a:solidFill>
                <a:schemeClr val="accent4"/>
              </a:solidFill>
              <a:round/>
            </a:ln>
            <a:effectLst/>
          </c:spPr>
          <c:marker>
            <c:symbol val="x"/>
            <c:size val="6"/>
            <c:spPr>
              <a:noFill/>
              <a:ln w="9525">
                <a:solidFill>
                  <a:schemeClr val="accent4"/>
                </a:solidFill>
                <a:round/>
              </a:ln>
              <a:effectLst/>
            </c:spPr>
          </c:marker>
          <c:cat>
            <c:strRef>
              <c:f>cifar100!$P$19:$U$19</c:f>
              <c:strCache>
                <c:ptCount val="6"/>
                <c:pt idx="0">
                  <c:v>1:1</c:v>
                </c:pt>
                <c:pt idx="1">
                  <c:v>1:4</c:v>
                </c:pt>
                <c:pt idx="2">
                  <c:v>1:9</c:v>
                </c:pt>
                <c:pt idx="3">
                  <c:v>1:14</c:v>
                </c:pt>
                <c:pt idx="4">
                  <c:v>1:19</c:v>
                </c:pt>
                <c:pt idx="5">
                  <c:v>1:24</c:v>
                </c:pt>
              </c:strCache>
            </c:strRef>
          </c:cat>
          <c:val>
            <c:numRef>
              <c:f>cifar100!$P$23:$U$23</c:f>
              <c:numCache>
                <c:formatCode>General</c:formatCode>
                <c:ptCount val="6"/>
                <c:pt idx="0">
                  <c:v>0.8746600000000001</c:v>
                </c:pt>
                <c:pt idx="1">
                  <c:v>0.88051999999999997</c:v>
                </c:pt>
                <c:pt idx="2">
                  <c:v>0.87420000000000009</c:v>
                </c:pt>
                <c:pt idx="3">
                  <c:v>0.87148000000000003</c:v>
                </c:pt>
                <c:pt idx="4">
                  <c:v>0.86840000000000006</c:v>
                </c:pt>
                <c:pt idx="5">
                  <c:v>0.85250000000000004</c:v>
                </c:pt>
              </c:numCache>
            </c:numRef>
          </c:val>
          <c:smooth val="0"/>
          <c:extLst>
            <c:ext xmlns:c16="http://schemas.microsoft.com/office/drawing/2014/chart" uri="{C3380CC4-5D6E-409C-BE32-E72D297353CC}">
              <c16:uniqueId val="{00000003-8DAB-4FEB-AAFF-5AA7BE237D78}"/>
            </c:ext>
          </c:extLst>
        </c:ser>
        <c:dLbls>
          <c:showLegendKey val="0"/>
          <c:showVal val="0"/>
          <c:showCatName val="0"/>
          <c:showSerName val="0"/>
          <c:showPercent val="0"/>
          <c:showBubbleSize val="0"/>
        </c:dLbls>
        <c:marker val="1"/>
        <c:smooth val="0"/>
        <c:axId val="784323679"/>
        <c:axId val="1024208143"/>
      </c:lineChart>
      <c:catAx>
        <c:axId val="78432367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crossAx val="1024208143"/>
        <c:crosses val="autoZero"/>
        <c:auto val="1"/>
        <c:lblAlgn val="ctr"/>
        <c:lblOffset val="100"/>
        <c:noMultiLvlLbl val="0"/>
      </c:catAx>
      <c:valAx>
        <c:axId val="1024208143"/>
        <c:scaling>
          <c:orientation val="minMax"/>
          <c:min val="0.7400000000000001"/>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crossAx val="78432367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rgbClr val="1D3C6B"/>
      </a:solidFill>
      <a:round/>
    </a:ln>
    <a:effectLst/>
  </c:spPr>
  <c:txPr>
    <a:bodyPr/>
    <a:lstStyle/>
    <a:p>
      <a:pPr>
        <a:defRPr>
          <a:latin typeface="Times New Roman" panose="02020603050405020304" pitchFamily="18" charset="0"/>
          <a:cs typeface="Times New Roman" panose="02020603050405020304" pitchFamily="18" charset="0"/>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cifar100!$O$28</c:f>
              <c:strCache>
                <c:ptCount val="1"/>
                <c:pt idx="0">
                  <c:v>CE</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cat>
            <c:strRef>
              <c:f>cifar100!$P$27:$U$27</c:f>
              <c:strCache>
                <c:ptCount val="6"/>
                <c:pt idx="0">
                  <c:v>1:1</c:v>
                </c:pt>
                <c:pt idx="1">
                  <c:v>1:4</c:v>
                </c:pt>
                <c:pt idx="2">
                  <c:v>1:9</c:v>
                </c:pt>
                <c:pt idx="3">
                  <c:v>1:14</c:v>
                </c:pt>
                <c:pt idx="4">
                  <c:v>1:19</c:v>
                </c:pt>
                <c:pt idx="5">
                  <c:v>1:24</c:v>
                </c:pt>
              </c:strCache>
            </c:strRef>
          </c:cat>
          <c:val>
            <c:numRef>
              <c:f>cifar100!$P$28:$U$28</c:f>
              <c:numCache>
                <c:formatCode>General</c:formatCode>
                <c:ptCount val="6"/>
                <c:pt idx="0">
                  <c:v>0.57813999999999999</c:v>
                </c:pt>
                <c:pt idx="1">
                  <c:v>0.55730000000000002</c:v>
                </c:pt>
                <c:pt idx="2">
                  <c:v>0.42421999999999993</c:v>
                </c:pt>
                <c:pt idx="3">
                  <c:v>0.40842000000000001</c:v>
                </c:pt>
                <c:pt idx="4">
                  <c:v>0.35327999999999998</c:v>
                </c:pt>
                <c:pt idx="5">
                  <c:v>0.33892</c:v>
                </c:pt>
              </c:numCache>
            </c:numRef>
          </c:val>
          <c:smooth val="0"/>
          <c:extLst>
            <c:ext xmlns:c16="http://schemas.microsoft.com/office/drawing/2014/chart" uri="{C3380CC4-5D6E-409C-BE32-E72D297353CC}">
              <c16:uniqueId val="{00000000-CA2F-42A2-B7A4-79BDC30C6E9B}"/>
            </c:ext>
          </c:extLst>
        </c:ser>
        <c:ser>
          <c:idx val="1"/>
          <c:order val="1"/>
          <c:tx>
            <c:strRef>
              <c:f>cifar100!$O$29</c:f>
              <c:strCache>
                <c:ptCount val="1"/>
                <c:pt idx="0">
                  <c:v>CBCE</c:v>
                </c:pt>
              </c:strCache>
            </c:strRef>
          </c:tx>
          <c:spPr>
            <a:ln w="22225" cap="rnd">
              <a:solidFill>
                <a:schemeClr val="accent2"/>
              </a:solidFill>
              <a:round/>
            </a:ln>
            <a:effectLst/>
          </c:spPr>
          <c:marker>
            <c:symbol val="square"/>
            <c:size val="6"/>
            <c:spPr>
              <a:solidFill>
                <a:schemeClr val="accent2"/>
              </a:solidFill>
              <a:ln w="9525">
                <a:solidFill>
                  <a:schemeClr val="accent2"/>
                </a:solidFill>
                <a:round/>
              </a:ln>
              <a:effectLst/>
            </c:spPr>
          </c:marker>
          <c:cat>
            <c:strRef>
              <c:f>cifar100!$P$27:$U$27</c:f>
              <c:strCache>
                <c:ptCount val="6"/>
                <c:pt idx="0">
                  <c:v>1:1</c:v>
                </c:pt>
                <c:pt idx="1">
                  <c:v>1:4</c:v>
                </c:pt>
                <c:pt idx="2">
                  <c:v>1:9</c:v>
                </c:pt>
                <c:pt idx="3">
                  <c:v>1:14</c:v>
                </c:pt>
                <c:pt idx="4">
                  <c:v>1:19</c:v>
                </c:pt>
                <c:pt idx="5">
                  <c:v>1:24</c:v>
                </c:pt>
              </c:strCache>
            </c:strRef>
          </c:cat>
          <c:val>
            <c:numRef>
              <c:f>cifar100!$P$29:$U$29</c:f>
              <c:numCache>
                <c:formatCode>General</c:formatCode>
                <c:ptCount val="6"/>
                <c:pt idx="0">
                  <c:v>0.51524000000000003</c:v>
                </c:pt>
                <c:pt idx="1">
                  <c:v>0.46048000000000011</c:v>
                </c:pt>
                <c:pt idx="2">
                  <c:v>0.38650000000000001</c:v>
                </c:pt>
                <c:pt idx="3">
                  <c:v>0.32552000000000003</c:v>
                </c:pt>
                <c:pt idx="4">
                  <c:v>0.31555999999999995</c:v>
                </c:pt>
                <c:pt idx="5">
                  <c:v>0.32301999999999997</c:v>
                </c:pt>
              </c:numCache>
            </c:numRef>
          </c:val>
          <c:smooth val="0"/>
          <c:extLst>
            <c:ext xmlns:c16="http://schemas.microsoft.com/office/drawing/2014/chart" uri="{C3380CC4-5D6E-409C-BE32-E72D297353CC}">
              <c16:uniqueId val="{00000001-CA2F-42A2-B7A4-79BDC30C6E9B}"/>
            </c:ext>
          </c:extLst>
        </c:ser>
        <c:ser>
          <c:idx val="2"/>
          <c:order val="2"/>
          <c:tx>
            <c:strRef>
              <c:f>cifar100!$O$30</c:f>
              <c:strCache>
                <c:ptCount val="1"/>
                <c:pt idx="0">
                  <c:v>TPAUC</c:v>
                </c:pt>
              </c:strCache>
            </c:strRef>
          </c:tx>
          <c:spPr>
            <a:ln w="22225" cap="rnd">
              <a:solidFill>
                <a:schemeClr val="accent3"/>
              </a:solidFill>
              <a:round/>
            </a:ln>
            <a:effectLst/>
          </c:spPr>
          <c:marker>
            <c:symbol val="triangle"/>
            <c:size val="6"/>
            <c:spPr>
              <a:solidFill>
                <a:schemeClr val="accent3"/>
              </a:solidFill>
              <a:ln w="9525">
                <a:solidFill>
                  <a:schemeClr val="accent3"/>
                </a:solidFill>
                <a:round/>
              </a:ln>
              <a:effectLst/>
            </c:spPr>
          </c:marker>
          <c:cat>
            <c:strRef>
              <c:f>cifar100!$P$27:$U$27</c:f>
              <c:strCache>
                <c:ptCount val="6"/>
                <c:pt idx="0">
                  <c:v>1:1</c:v>
                </c:pt>
                <c:pt idx="1">
                  <c:v>1:4</c:v>
                </c:pt>
                <c:pt idx="2">
                  <c:v>1:9</c:v>
                </c:pt>
                <c:pt idx="3">
                  <c:v>1:14</c:v>
                </c:pt>
                <c:pt idx="4">
                  <c:v>1:19</c:v>
                </c:pt>
                <c:pt idx="5">
                  <c:v>1:24</c:v>
                </c:pt>
              </c:strCache>
            </c:strRef>
          </c:cat>
          <c:val>
            <c:numRef>
              <c:f>cifar100!$P$30:$U$30</c:f>
              <c:numCache>
                <c:formatCode>General</c:formatCode>
                <c:ptCount val="6"/>
                <c:pt idx="0">
                  <c:v>0.54486000000000001</c:v>
                </c:pt>
                <c:pt idx="1">
                  <c:v>0.58157999999999999</c:v>
                </c:pt>
                <c:pt idx="2">
                  <c:v>0.54168000000000005</c:v>
                </c:pt>
                <c:pt idx="3">
                  <c:v>0.53912000000000004</c:v>
                </c:pt>
                <c:pt idx="4">
                  <c:v>0.54388000000000003</c:v>
                </c:pt>
                <c:pt idx="5">
                  <c:v>0.49871999999999994</c:v>
                </c:pt>
              </c:numCache>
            </c:numRef>
          </c:val>
          <c:smooth val="0"/>
          <c:extLst>
            <c:ext xmlns:c16="http://schemas.microsoft.com/office/drawing/2014/chart" uri="{C3380CC4-5D6E-409C-BE32-E72D297353CC}">
              <c16:uniqueId val="{00000002-CA2F-42A2-B7A4-79BDC30C6E9B}"/>
            </c:ext>
          </c:extLst>
        </c:ser>
        <c:ser>
          <c:idx val="3"/>
          <c:order val="3"/>
          <c:tx>
            <c:strRef>
              <c:f>cifar100!$O$31</c:f>
              <c:strCache>
                <c:ptCount val="1"/>
                <c:pt idx="0">
                  <c:v>DRO-AUC</c:v>
                </c:pt>
              </c:strCache>
            </c:strRef>
          </c:tx>
          <c:spPr>
            <a:ln w="22225" cap="rnd">
              <a:solidFill>
                <a:schemeClr val="accent4"/>
              </a:solidFill>
              <a:round/>
            </a:ln>
            <a:effectLst/>
          </c:spPr>
          <c:marker>
            <c:symbol val="x"/>
            <c:size val="6"/>
            <c:spPr>
              <a:noFill/>
              <a:ln w="9525">
                <a:solidFill>
                  <a:schemeClr val="accent4"/>
                </a:solidFill>
                <a:round/>
              </a:ln>
              <a:effectLst/>
            </c:spPr>
          </c:marker>
          <c:cat>
            <c:strRef>
              <c:f>cifar100!$P$27:$U$27</c:f>
              <c:strCache>
                <c:ptCount val="6"/>
                <c:pt idx="0">
                  <c:v>1:1</c:v>
                </c:pt>
                <c:pt idx="1">
                  <c:v>1:4</c:v>
                </c:pt>
                <c:pt idx="2">
                  <c:v>1:9</c:v>
                </c:pt>
                <c:pt idx="3">
                  <c:v>1:14</c:v>
                </c:pt>
                <c:pt idx="4">
                  <c:v>1:19</c:v>
                </c:pt>
                <c:pt idx="5">
                  <c:v>1:24</c:v>
                </c:pt>
              </c:strCache>
            </c:strRef>
          </c:cat>
          <c:val>
            <c:numRef>
              <c:f>cifar100!$P$31:$U$31</c:f>
              <c:numCache>
                <c:formatCode>General</c:formatCode>
                <c:ptCount val="6"/>
                <c:pt idx="0">
                  <c:v>0.57132000000000005</c:v>
                </c:pt>
                <c:pt idx="1">
                  <c:v>0.58679999999999999</c:v>
                </c:pt>
                <c:pt idx="2">
                  <c:v>0.57718000000000003</c:v>
                </c:pt>
                <c:pt idx="3">
                  <c:v>0.56277999999999995</c:v>
                </c:pt>
                <c:pt idx="4">
                  <c:v>0.55993999999999988</c:v>
                </c:pt>
                <c:pt idx="5">
                  <c:v>0.50781999999999994</c:v>
                </c:pt>
              </c:numCache>
            </c:numRef>
          </c:val>
          <c:smooth val="0"/>
          <c:extLst>
            <c:ext xmlns:c16="http://schemas.microsoft.com/office/drawing/2014/chart" uri="{C3380CC4-5D6E-409C-BE32-E72D297353CC}">
              <c16:uniqueId val="{00000003-CA2F-42A2-B7A4-79BDC30C6E9B}"/>
            </c:ext>
          </c:extLst>
        </c:ser>
        <c:dLbls>
          <c:showLegendKey val="0"/>
          <c:showVal val="0"/>
          <c:showCatName val="0"/>
          <c:showSerName val="0"/>
          <c:showPercent val="0"/>
          <c:showBubbleSize val="0"/>
        </c:dLbls>
        <c:marker val="1"/>
        <c:smooth val="0"/>
        <c:axId val="1692108575"/>
        <c:axId val="1692107135"/>
      </c:lineChart>
      <c:catAx>
        <c:axId val="169210857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cap="all" spc="120" normalizeH="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crossAx val="1692107135"/>
        <c:crosses val="autoZero"/>
        <c:auto val="1"/>
        <c:lblAlgn val="ctr"/>
        <c:lblOffset val="100"/>
        <c:noMultiLvlLbl val="0"/>
      </c:catAx>
      <c:valAx>
        <c:axId val="1692107135"/>
        <c:scaling>
          <c:orientation val="minMax"/>
          <c:min val="0.30000000000000004"/>
        </c:scaling>
        <c:delete val="0"/>
        <c:axPos val="l"/>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crossAx val="1692108575"/>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rgbClr val="1D3C6B"/>
      </a:solidFill>
      <a:round/>
    </a:ln>
    <a:effectLst/>
  </c:spPr>
  <c:txPr>
    <a:bodyPr/>
    <a:lstStyle/>
    <a:p>
      <a:pPr>
        <a:defRPr>
          <a:latin typeface="Times New Roman" panose="02020603050405020304" pitchFamily="18" charset="0"/>
          <a:cs typeface="Times New Roman" panose="02020603050405020304" pitchFamily="18" charset="0"/>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800"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8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E5B33A-B0E7-4820-9659-0C57A710376A}" type="datetimeFigureOut">
              <a:rPr lang="zh-CN" altLang="en-US" smtClean="0"/>
              <a:t>2023-06-01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A48A1C-5608-430B-AE15-1C1ECB13D867}" type="slidenum">
              <a:rPr lang="zh-CN" altLang="en-US" smtClean="0"/>
              <a:t>‹#›</a:t>
            </a:fld>
            <a:endParaRPr lang="zh-CN" altLang="en-US"/>
          </a:p>
        </p:txBody>
      </p:sp>
    </p:spTree>
    <p:extLst>
      <p:ext uri="{BB962C8B-B14F-4D97-AF65-F5344CB8AC3E}">
        <p14:creationId xmlns:p14="http://schemas.microsoft.com/office/powerpoint/2010/main" val="1039985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各位老师好，我是计算机科学与技术</a:t>
            </a:r>
            <a:r>
              <a:rPr lang="en-US" altLang="zh-CN" dirty="0"/>
              <a:t>19-1</a:t>
            </a:r>
            <a:r>
              <a:rPr lang="zh-CN" altLang="en-US" dirty="0"/>
              <a:t>班的李斐然，学号是</a:t>
            </a:r>
            <a:r>
              <a:rPr lang="en-US" altLang="zh-CN" dirty="0"/>
              <a:t>07192378</a:t>
            </a:r>
            <a:r>
              <a:rPr lang="zh-CN" altLang="en-US" dirty="0"/>
              <a:t>，我的毕业设计的题目是</a:t>
            </a:r>
            <a:r>
              <a:rPr lang="en-US" altLang="zh-CN" dirty="0"/>
              <a:t>《</a:t>
            </a:r>
            <a:r>
              <a:rPr lang="zh-CN" altLang="en-US" dirty="0"/>
              <a:t>基于分布鲁棒优化的</a:t>
            </a:r>
            <a:r>
              <a:rPr lang="en-US" altLang="zh-CN" dirty="0"/>
              <a:t>AUC</a:t>
            </a:r>
            <a:r>
              <a:rPr lang="zh-CN" altLang="en-US" dirty="0"/>
              <a:t>最大化研究</a:t>
            </a:r>
            <a:r>
              <a:rPr lang="en-US" altLang="zh-CN" dirty="0"/>
              <a:t>》</a:t>
            </a:r>
            <a:r>
              <a:rPr lang="zh-CN" altLang="en-US" dirty="0"/>
              <a:t>，指导老师是邵志文副教授。</a:t>
            </a:r>
          </a:p>
        </p:txBody>
      </p:sp>
      <p:sp>
        <p:nvSpPr>
          <p:cNvPr id="4" name="灯片编号占位符 3"/>
          <p:cNvSpPr>
            <a:spLocks noGrp="1"/>
          </p:cNvSpPr>
          <p:nvPr>
            <p:ph type="sldNum" sz="quarter" idx="5"/>
          </p:nvPr>
        </p:nvSpPr>
        <p:spPr/>
        <p:txBody>
          <a:bodyPr/>
          <a:lstStyle/>
          <a:p>
            <a:fld id="{87A48A1C-5608-430B-AE15-1C1ECB13D867}" type="slidenum">
              <a:rPr lang="zh-CN" altLang="en-US" smtClean="0"/>
              <a:t>1</a:t>
            </a:fld>
            <a:endParaRPr lang="zh-CN" altLang="en-US"/>
          </a:p>
        </p:txBody>
      </p:sp>
    </p:spTree>
    <p:extLst>
      <p:ext uri="{BB962C8B-B14F-4D97-AF65-F5344CB8AC3E}">
        <p14:creationId xmlns:p14="http://schemas.microsoft.com/office/powerpoint/2010/main" val="359755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我将从以下五个方面来介绍的我的毕业设计工作，包括选题背景、理论基础与国内外研究现状、研究思路与内容、实验结果和总结展望。</a:t>
            </a:r>
          </a:p>
        </p:txBody>
      </p:sp>
      <p:sp>
        <p:nvSpPr>
          <p:cNvPr id="4" name="灯片编号占位符 3"/>
          <p:cNvSpPr>
            <a:spLocks noGrp="1"/>
          </p:cNvSpPr>
          <p:nvPr>
            <p:ph type="sldNum" sz="quarter" idx="5"/>
          </p:nvPr>
        </p:nvSpPr>
        <p:spPr/>
        <p:txBody>
          <a:bodyPr/>
          <a:lstStyle/>
          <a:p>
            <a:fld id="{87A48A1C-5608-430B-AE15-1C1ECB13D867}" type="slidenum">
              <a:rPr lang="zh-CN" altLang="en-US" smtClean="0"/>
              <a:t>2</a:t>
            </a:fld>
            <a:endParaRPr lang="zh-CN" altLang="en-US"/>
          </a:p>
        </p:txBody>
      </p:sp>
    </p:spTree>
    <p:extLst>
      <p:ext uri="{BB962C8B-B14F-4D97-AF65-F5344CB8AC3E}">
        <p14:creationId xmlns:p14="http://schemas.microsoft.com/office/powerpoint/2010/main" val="2755832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首先，我来介绍关于</a:t>
            </a:r>
            <a:r>
              <a:rPr lang="en-US" altLang="zh-CN" dirty="0"/>
              <a:t>AUC</a:t>
            </a:r>
            <a:r>
              <a:rPr lang="zh-CN" altLang="en-US" dirty="0"/>
              <a:t>和分布鲁棒优化的选题背景。</a:t>
            </a:r>
          </a:p>
        </p:txBody>
      </p:sp>
      <p:sp>
        <p:nvSpPr>
          <p:cNvPr id="4" name="灯片编号占位符 3"/>
          <p:cNvSpPr>
            <a:spLocks noGrp="1"/>
          </p:cNvSpPr>
          <p:nvPr>
            <p:ph type="sldNum" sz="quarter" idx="5"/>
          </p:nvPr>
        </p:nvSpPr>
        <p:spPr/>
        <p:txBody>
          <a:bodyPr/>
          <a:lstStyle/>
          <a:p>
            <a:fld id="{87A48A1C-5608-430B-AE15-1C1ECB13D867}" type="slidenum">
              <a:rPr lang="zh-CN" altLang="en-US" smtClean="0"/>
              <a:t>3</a:t>
            </a:fld>
            <a:endParaRPr lang="zh-CN" altLang="en-US"/>
          </a:p>
        </p:txBody>
      </p:sp>
    </p:spTree>
    <p:extLst>
      <p:ext uri="{BB962C8B-B14F-4D97-AF65-F5344CB8AC3E}">
        <p14:creationId xmlns:p14="http://schemas.microsoft.com/office/powerpoint/2010/main" val="2777187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主流的机器学习算法中，往往采用总体正确率来评价模型的性能，对应于在训练阶段则是最小化总体的错误率。这种方法对数据的分布很敏感，在不平衡数据、例如长尾分布的数据集下无法准确有效地评估模型的性能。例如，在风险内容识别的任务中，真正含有风险内容的样本占比可能只有千分之一，甚至万分之一。在这种数据分布下，如果我们仍然采用总体正确率作为评价指标，那么模型将倾向于将所有的样本均认为不含有风险内容，从而提高总体正确率，降低损失，但是却难以检测出真正含有风险内容的样本，导致检测效率的降低。疾病预测也是类似的场景，即真正含有疾病的样本数量在总样本数量中占比很小。</a:t>
            </a:r>
          </a:p>
        </p:txBody>
      </p:sp>
      <p:sp>
        <p:nvSpPr>
          <p:cNvPr id="4" name="灯片编号占位符 3"/>
          <p:cNvSpPr>
            <a:spLocks noGrp="1"/>
          </p:cNvSpPr>
          <p:nvPr>
            <p:ph type="sldNum" sz="quarter" idx="5"/>
          </p:nvPr>
        </p:nvSpPr>
        <p:spPr/>
        <p:txBody>
          <a:bodyPr/>
          <a:lstStyle/>
          <a:p>
            <a:fld id="{87A48A1C-5608-430B-AE15-1C1ECB13D867}" type="slidenum">
              <a:rPr lang="zh-CN" altLang="en-US" smtClean="0"/>
              <a:t>4</a:t>
            </a:fld>
            <a:endParaRPr lang="zh-CN" altLang="en-US"/>
          </a:p>
        </p:txBody>
      </p:sp>
    </p:spTree>
    <p:extLst>
      <p:ext uri="{BB962C8B-B14F-4D97-AF65-F5344CB8AC3E}">
        <p14:creationId xmlns:p14="http://schemas.microsoft.com/office/powerpoint/2010/main" val="8598232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a:t>
            </a:r>
            <a:r>
              <a:rPr lang="en-US" altLang="zh-CN" dirty="0"/>
              <a:t>AUC</a:t>
            </a:r>
            <a:r>
              <a:rPr lang="zh-CN" altLang="en-US" dirty="0"/>
              <a:t>，即</a:t>
            </a:r>
            <a:r>
              <a:rPr lang="en-US" altLang="zh-CN" dirty="0"/>
              <a:t>ROC</a:t>
            </a:r>
            <a:r>
              <a:rPr lang="zh-CN" altLang="en-US" dirty="0"/>
              <a:t>曲线下的面积，由于考虑了不同阈值</a:t>
            </a:r>
            <a:r>
              <a:rPr lang="en-US" altLang="zh-CN" dirty="0"/>
              <a:t>t</a:t>
            </a:r>
            <a:r>
              <a:rPr lang="zh-CN" altLang="en-US" dirty="0"/>
              <a:t>下的性能，因而对数据分布不敏感。</a:t>
            </a:r>
            <a:endParaRPr lang="en-US" altLang="zh-CN" dirty="0"/>
          </a:p>
          <a:p>
            <a:r>
              <a:rPr lang="zh-CN" altLang="en-US" dirty="0"/>
              <a:t>具体来说，以二分类任务为例，软分类的模型会对样本给出一个预测得分</a:t>
            </a:r>
            <a:r>
              <a:rPr lang="en-US" altLang="zh-CN" dirty="0"/>
              <a:t>f(x)</a:t>
            </a:r>
            <a:r>
              <a:rPr lang="zh-CN" altLang="en-US" dirty="0"/>
              <a:t>，当这个预测得分</a:t>
            </a:r>
            <a:r>
              <a:rPr lang="en-US" altLang="zh-CN" dirty="0"/>
              <a:t>f(x)</a:t>
            </a:r>
            <a:r>
              <a:rPr lang="zh-CN" altLang="en-US" dirty="0"/>
              <a:t>大于人为设置的阈值</a:t>
            </a:r>
            <a:r>
              <a:rPr lang="en-US" altLang="zh-CN" dirty="0"/>
              <a:t>t</a:t>
            </a:r>
            <a:r>
              <a:rPr lang="zh-CN" altLang="en-US" dirty="0"/>
              <a:t>时，我们认为模型的预测结果为正，否则为负。</a:t>
            </a:r>
            <a:endParaRPr lang="en-US" altLang="zh-CN" dirty="0"/>
          </a:p>
          <a:p>
            <a:r>
              <a:rPr lang="zh-CN" altLang="en-US" dirty="0"/>
              <a:t>阈值</a:t>
            </a:r>
            <a:r>
              <a:rPr lang="en-US" altLang="zh-CN" dirty="0"/>
              <a:t>t</a:t>
            </a:r>
            <a:r>
              <a:rPr lang="zh-CN" altLang="en-US" dirty="0"/>
              <a:t>的设置对模型的最终性能影响很大，通常情况下设置其值为</a:t>
            </a:r>
            <a:r>
              <a:rPr lang="en-US" altLang="zh-CN" dirty="0"/>
              <a:t>0.5</a:t>
            </a:r>
            <a:r>
              <a:rPr lang="zh-CN" altLang="en-US" dirty="0"/>
              <a:t>，但是在长尾分布等复杂情况下，很难直接找到这样一个合适的，或者说固定的阈值。</a:t>
            </a:r>
            <a:r>
              <a:rPr lang="en-US" altLang="zh-CN" dirty="0"/>
              <a:t>AUC</a:t>
            </a:r>
            <a:r>
              <a:rPr lang="zh-CN" altLang="en-US" dirty="0"/>
              <a:t>的引入则避免了设置阈值的过程。</a:t>
            </a:r>
            <a:endParaRPr lang="en-US" altLang="zh-CN" dirty="0"/>
          </a:p>
          <a:p>
            <a:r>
              <a:rPr lang="zh-CN" altLang="en-US" dirty="0"/>
              <a:t>实际上，</a:t>
            </a:r>
            <a:r>
              <a:rPr lang="en-US" altLang="zh-CN" dirty="0"/>
              <a:t>ROC</a:t>
            </a:r>
            <a:r>
              <a:rPr lang="zh-CN" altLang="en-US" dirty="0"/>
              <a:t>曲线是通过阈值取遍区间</a:t>
            </a:r>
            <a:r>
              <a:rPr lang="en-US" altLang="zh-CN" dirty="0"/>
              <a:t>[0,1]</a:t>
            </a:r>
            <a:r>
              <a:rPr lang="zh-CN" altLang="en-US" dirty="0"/>
              <a:t>绘制而成的。当阈值设置为</a:t>
            </a:r>
            <a:r>
              <a:rPr lang="en-US" altLang="zh-CN" dirty="0"/>
              <a:t>t</a:t>
            </a:r>
            <a:r>
              <a:rPr lang="zh-CN" altLang="en-US" dirty="0"/>
              <a:t>时，定义真阳性率</a:t>
            </a:r>
            <a:r>
              <a:rPr lang="en-US" altLang="zh-CN" dirty="0"/>
              <a:t>TPR=P[f(x)&gt;</a:t>
            </a:r>
            <a:r>
              <a:rPr lang="en-US" altLang="zh-CN" dirty="0" err="1"/>
              <a:t>t|y</a:t>
            </a:r>
            <a:r>
              <a:rPr lang="en-US" altLang="zh-CN" dirty="0"/>
              <a:t>=1]</a:t>
            </a:r>
            <a:r>
              <a:rPr lang="zh-CN" altLang="en-US" dirty="0"/>
              <a:t>，即样本标签为正且预测类别也为正，定义假阳性率</a:t>
            </a:r>
            <a:r>
              <a:rPr lang="en-US" altLang="zh-CN" dirty="0"/>
              <a:t>FPR=P[f(x)&gt;</a:t>
            </a:r>
            <a:r>
              <a:rPr lang="en-US" altLang="zh-CN" dirty="0" err="1"/>
              <a:t>t|y</a:t>
            </a:r>
            <a:r>
              <a:rPr lang="en-US" altLang="zh-CN" dirty="0"/>
              <a:t>=0]</a:t>
            </a:r>
            <a:r>
              <a:rPr lang="zh-CN" altLang="en-US" dirty="0"/>
              <a:t>，即样本标签为负且预测类别为正。</a:t>
            </a:r>
            <a:r>
              <a:rPr lang="en-US" altLang="zh-CN" dirty="0"/>
              <a:t>ROC</a:t>
            </a:r>
            <a:r>
              <a:rPr lang="zh-CN" altLang="en-US" dirty="0"/>
              <a:t>曲线的横轴是</a:t>
            </a:r>
            <a:r>
              <a:rPr lang="en-US" altLang="zh-CN" dirty="0"/>
              <a:t>FPR</a:t>
            </a:r>
            <a:r>
              <a:rPr lang="zh-CN" altLang="en-US" dirty="0"/>
              <a:t>，纵轴是</a:t>
            </a:r>
            <a:r>
              <a:rPr lang="en-US" altLang="zh-CN" dirty="0"/>
              <a:t>TPR</a:t>
            </a:r>
            <a:r>
              <a:rPr lang="zh-CN" altLang="en-US" dirty="0"/>
              <a:t>，每个阈值</a:t>
            </a:r>
            <a:r>
              <a:rPr lang="en-US" altLang="zh-CN" dirty="0"/>
              <a:t>t</a:t>
            </a:r>
            <a:r>
              <a:rPr lang="zh-CN" altLang="en-US" dirty="0"/>
              <a:t>都对应一对</a:t>
            </a:r>
            <a:r>
              <a:rPr lang="en-US" altLang="zh-CN" dirty="0"/>
              <a:t>(FPR,TPR)</a:t>
            </a:r>
            <a:r>
              <a:rPr lang="zh-CN" altLang="en-US" dirty="0"/>
              <a:t>，也就是</a:t>
            </a:r>
            <a:r>
              <a:rPr lang="en-US" altLang="zh-CN" dirty="0"/>
              <a:t>ROC</a:t>
            </a:r>
            <a:r>
              <a:rPr lang="zh-CN" altLang="en-US" dirty="0"/>
              <a:t>曲线上的一个点，因此当</a:t>
            </a:r>
            <a:r>
              <a:rPr lang="en-US" altLang="zh-CN" dirty="0"/>
              <a:t>t</a:t>
            </a:r>
            <a:r>
              <a:rPr lang="zh-CN" altLang="en-US" dirty="0"/>
              <a:t>取遍</a:t>
            </a:r>
            <a:r>
              <a:rPr lang="en-US" altLang="zh-CN" dirty="0"/>
              <a:t>[0,1]</a:t>
            </a:r>
            <a:r>
              <a:rPr lang="zh-CN" altLang="en-US" dirty="0"/>
              <a:t>时，便能得到完整的</a:t>
            </a:r>
            <a:r>
              <a:rPr lang="en-US" altLang="zh-CN" dirty="0"/>
              <a:t>ROC</a:t>
            </a:r>
            <a:r>
              <a:rPr lang="zh-CN" altLang="en-US" dirty="0"/>
              <a:t>曲线。</a:t>
            </a:r>
            <a:endParaRPr lang="en-US" altLang="zh-CN" dirty="0"/>
          </a:p>
          <a:p>
            <a:r>
              <a:rPr lang="zh-CN" altLang="en-US" dirty="0"/>
              <a:t>通过这样的几何图像，可以得到</a:t>
            </a:r>
            <a:r>
              <a:rPr lang="en-US" altLang="zh-CN" dirty="0"/>
              <a:t>AUC</a:t>
            </a:r>
            <a:r>
              <a:rPr lang="zh-CN" altLang="en-US" dirty="0"/>
              <a:t>的一个计算公式，其中</a:t>
            </a:r>
            <a:r>
              <a:rPr lang="en-US" altLang="zh-CN" dirty="0"/>
              <a:t>FPR^-1(\theta)</a:t>
            </a:r>
            <a:r>
              <a:rPr lang="zh-CN" altLang="en-US" dirty="0"/>
              <a:t>是通过</a:t>
            </a:r>
            <a:r>
              <a:rPr lang="en-US" altLang="zh-CN" dirty="0"/>
              <a:t>FPR</a:t>
            </a:r>
            <a:r>
              <a:rPr lang="zh-CN" altLang="en-US" dirty="0"/>
              <a:t>值</a:t>
            </a:r>
            <a:r>
              <a:rPr lang="en-US" altLang="zh-CN" dirty="0"/>
              <a:t>\theta</a:t>
            </a:r>
            <a:r>
              <a:rPr lang="zh-CN" altLang="en-US" dirty="0"/>
              <a:t>反求得到阈值</a:t>
            </a:r>
            <a:r>
              <a:rPr lang="en-US" altLang="zh-CN" dirty="0"/>
              <a:t>t</a:t>
            </a:r>
            <a:r>
              <a:rPr lang="zh-CN" altLang="en-US" dirty="0"/>
              <a:t>，</a:t>
            </a:r>
            <a:r>
              <a:rPr lang="en-US" altLang="zh-CN" dirty="0"/>
              <a:t>TPR()</a:t>
            </a:r>
            <a:r>
              <a:rPr lang="zh-CN" altLang="en-US" dirty="0"/>
              <a:t>则求出了阈值</a:t>
            </a:r>
            <a:r>
              <a:rPr lang="en-US" altLang="zh-CN" dirty="0"/>
              <a:t>t</a:t>
            </a:r>
            <a:r>
              <a:rPr lang="zh-CN" altLang="en-US" dirty="0"/>
              <a:t>对应的</a:t>
            </a:r>
            <a:r>
              <a:rPr lang="en-US" altLang="zh-CN" dirty="0"/>
              <a:t>TPR</a:t>
            </a:r>
            <a:r>
              <a:rPr lang="zh-CN" altLang="en-US" dirty="0"/>
              <a:t>值，积分可以得到曲线下的面积，也就是</a:t>
            </a:r>
            <a:r>
              <a:rPr lang="en-US" altLang="zh-CN" dirty="0"/>
              <a:t>AUC</a:t>
            </a:r>
            <a:r>
              <a:rPr lang="zh-CN" altLang="en-US" dirty="0"/>
              <a:t>。</a:t>
            </a:r>
            <a:endParaRPr lang="en-US" altLang="zh-CN" dirty="0"/>
          </a:p>
          <a:p>
            <a:r>
              <a:rPr lang="zh-CN" altLang="en-US" dirty="0"/>
              <a:t>该图像上有几个点值得注意，当阈值</a:t>
            </a:r>
            <a:r>
              <a:rPr lang="en-US" altLang="zh-CN" dirty="0"/>
              <a:t>t=0</a:t>
            </a:r>
            <a:r>
              <a:rPr lang="zh-CN" altLang="en-US" dirty="0"/>
              <a:t>时，</a:t>
            </a:r>
            <a:r>
              <a:rPr lang="en-US" altLang="zh-CN" dirty="0"/>
              <a:t>TPR=1,FPR=1,</a:t>
            </a:r>
            <a:r>
              <a:rPr lang="zh-CN" altLang="en-US" dirty="0"/>
              <a:t>对应点</a:t>
            </a:r>
            <a:r>
              <a:rPr lang="en-US" altLang="zh-CN" dirty="0"/>
              <a:t>(1,1),</a:t>
            </a:r>
            <a:r>
              <a:rPr lang="zh-CN" altLang="en-US" dirty="0"/>
              <a:t>即模型预测所有样本均为正；当阈值</a:t>
            </a:r>
            <a:r>
              <a:rPr lang="en-US" altLang="zh-CN" dirty="0"/>
              <a:t>t=1</a:t>
            </a:r>
            <a:r>
              <a:rPr lang="zh-CN" altLang="en-US" dirty="0"/>
              <a:t>时，</a:t>
            </a:r>
            <a:r>
              <a:rPr lang="en-US" altLang="zh-CN" dirty="0"/>
              <a:t>TPR=0,FPR=0,</a:t>
            </a:r>
            <a:r>
              <a:rPr lang="zh-CN" altLang="en-US" dirty="0"/>
              <a:t>对应点</a:t>
            </a:r>
            <a:r>
              <a:rPr lang="en-US" altLang="zh-CN" dirty="0"/>
              <a:t>(0,0)</a:t>
            </a:r>
            <a:r>
              <a:rPr lang="zh-CN" altLang="en-US" dirty="0"/>
              <a:t>，即模型预测所有样本均为负；而点</a:t>
            </a:r>
            <a:r>
              <a:rPr lang="en-US" altLang="zh-CN" dirty="0"/>
              <a:t>(0,1),</a:t>
            </a:r>
            <a:r>
              <a:rPr lang="zh-CN" altLang="en-US" dirty="0"/>
              <a:t>即</a:t>
            </a:r>
            <a:r>
              <a:rPr lang="en-US" altLang="zh-CN" dirty="0"/>
              <a:t>FPR=0,TPR=1,</a:t>
            </a:r>
            <a:r>
              <a:rPr lang="zh-CN" altLang="en-US" dirty="0"/>
              <a:t>此时模型预测出了所有的正样本，且没有负样本被误判为正样本，该模型是最优模型，它对应图像的左上角。</a:t>
            </a:r>
            <a:endParaRPr lang="en-US" altLang="zh-CN" dirty="0"/>
          </a:p>
          <a:p>
            <a:r>
              <a:rPr lang="zh-CN" altLang="en-US" dirty="0"/>
              <a:t>事实上，当</a:t>
            </a:r>
            <a:r>
              <a:rPr lang="en-US" altLang="zh-CN" dirty="0"/>
              <a:t>FPR</a:t>
            </a:r>
            <a:r>
              <a:rPr lang="zh-CN" altLang="en-US" dirty="0"/>
              <a:t>越小，</a:t>
            </a:r>
            <a:r>
              <a:rPr lang="en-US" altLang="zh-CN" dirty="0"/>
              <a:t>TPR</a:t>
            </a:r>
            <a:r>
              <a:rPr lang="zh-CN" altLang="en-US" dirty="0"/>
              <a:t>越大时，模型的性能是更好的，也就是落在左上角的点。因此，当</a:t>
            </a:r>
            <a:r>
              <a:rPr lang="en-US" altLang="zh-CN" dirty="0"/>
              <a:t>ROC</a:t>
            </a:r>
            <a:r>
              <a:rPr lang="zh-CN" altLang="en-US" dirty="0"/>
              <a:t>曲线越接近左上角，模型的性能更优。而</a:t>
            </a:r>
            <a:r>
              <a:rPr lang="en-US" altLang="zh-CN" dirty="0"/>
              <a:t>ROC</a:t>
            </a:r>
            <a:r>
              <a:rPr lang="zh-CN" altLang="en-US" dirty="0"/>
              <a:t>曲线向左上角接近意味着</a:t>
            </a:r>
            <a:r>
              <a:rPr lang="en-US" altLang="zh-CN" dirty="0"/>
              <a:t>ROC</a:t>
            </a:r>
            <a:r>
              <a:rPr lang="zh-CN" altLang="en-US" dirty="0"/>
              <a:t>曲线下的面积越大，因此，将</a:t>
            </a:r>
            <a:r>
              <a:rPr lang="en-US" altLang="zh-CN" dirty="0"/>
              <a:t>AUC</a:t>
            </a:r>
            <a:r>
              <a:rPr lang="zh-CN" altLang="en-US" dirty="0"/>
              <a:t>值最大化可以实现模型优化的目标。</a:t>
            </a:r>
          </a:p>
        </p:txBody>
      </p:sp>
      <p:sp>
        <p:nvSpPr>
          <p:cNvPr id="4" name="灯片编号占位符 3"/>
          <p:cNvSpPr>
            <a:spLocks noGrp="1"/>
          </p:cNvSpPr>
          <p:nvPr>
            <p:ph type="sldNum" sz="quarter" idx="5"/>
          </p:nvPr>
        </p:nvSpPr>
        <p:spPr/>
        <p:txBody>
          <a:bodyPr/>
          <a:lstStyle/>
          <a:p>
            <a:fld id="{87A48A1C-5608-430B-AE15-1C1ECB13D867}" type="slidenum">
              <a:rPr lang="zh-CN" altLang="en-US" smtClean="0"/>
              <a:t>5</a:t>
            </a:fld>
            <a:endParaRPr lang="zh-CN" altLang="en-US"/>
          </a:p>
        </p:txBody>
      </p:sp>
    </p:spTree>
    <p:extLst>
      <p:ext uri="{BB962C8B-B14F-4D97-AF65-F5344CB8AC3E}">
        <p14:creationId xmlns:p14="http://schemas.microsoft.com/office/powerpoint/2010/main" val="4217335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分布鲁棒优化的引入同样与数据集的分布有关，但是这里讨论的更多的是测试集与数据集之间的分布差异，而不是数据集内部的特征。</a:t>
            </a:r>
            <a:endParaRPr lang="en-US" altLang="zh-CN" dirty="0"/>
          </a:p>
          <a:p>
            <a:r>
              <a:rPr lang="zh-CN" altLang="en-US" dirty="0"/>
              <a:t>通常的经验风险最小化是通过</a:t>
            </a:r>
            <a:r>
              <a:rPr lang="en-US" altLang="zh-CN" dirty="0"/>
              <a:t>minimize </a:t>
            </a:r>
            <a:r>
              <a:rPr lang="en-US" altLang="zh-CN" dirty="0" err="1"/>
              <a:t>p_true</a:t>
            </a:r>
            <a:r>
              <a:rPr lang="zh-CN" altLang="en-US" dirty="0"/>
              <a:t>下的风险期望来优化模型参数的，其中</a:t>
            </a:r>
            <a:r>
              <a:rPr lang="en-US" altLang="zh-CN" dirty="0" err="1"/>
              <a:t>p_true</a:t>
            </a:r>
            <a:r>
              <a:rPr lang="zh-CN" altLang="en-US" dirty="0"/>
              <a:t>往往是不可知的，一种常见方法是使用训练集分布</a:t>
            </a:r>
            <a:r>
              <a:rPr lang="en-US" altLang="zh-CN" dirty="0" err="1"/>
              <a:t>p_train</a:t>
            </a:r>
            <a:r>
              <a:rPr lang="zh-CN" altLang="en-US" dirty="0"/>
              <a:t>来代替真实</a:t>
            </a:r>
            <a:r>
              <a:rPr lang="en-US" altLang="zh-CN" dirty="0" err="1"/>
              <a:t>p_true</a:t>
            </a:r>
            <a:r>
              <a:rPr lang="zh-CN" altLang="en-US" dirty="0"/>
              <a:t>。但是当训练集和测试集的数据分布存在较大差异时，在训练集上表现良好的模型可能在测试集上会出现大幅度的性能下滑。</a:t>
            </a:r>
            <a:endParaRPr lang="en-US" altLang="zh-CN" dirty="0"/>
          </a:p>
          <a:p>
            <a:r>
              <a:rPr lang="zh-CN" altLang="en-US" dirty="0"/>
              <a:t>分布鲁棒优化考虑到这种潜在的分布差异，因此不是使用训练集分布</a:t>
            </a:r>
            <a:r>
              <a:rPr lang="en-US" altLang="zh-CN" dirty="0" err="1"/>
              <a:t>p_train</a:t>
            </a:r>
            <a:r>
              <a:rPr lang="zh-CN" altLang="en-US" dirty="0"/>
              <a:t>来代替真实</a:t>
            </a:r>
            <a:r>
              <a:rPr lang="en-US" altLang="zh-CN" dirty="0" err="1"/>
              <a:t>p_true</a:t>
            </a:r>
            <a:r>
              <a:rPr lang="zh-CN" altLang="en-US" dirty="0"/>
              <a:t>，而是基于</a:t>
            </a:r>
            <a:r>
              <a:rPr lang="en-US" altLang="zh-CN" dirty="0" err="1"/>
              <a:t>p_train</a:t>
            </a:r>
            <a:r>
              <a:rPr lang="zh-CN" altLang="en-US" dirty="0"/>
              <a:t>，来构造一个更大的可能的数据分布集合</a:t>
            </a:r>
            <a:r>
              <a:rPr lang="en-US" altLang="zh-CN" dirty="0"/>
              <a:t>M</a:t>
            </a:r>
            <a:r>
              <a:rPr lang="zh-CN" altLang="en-US" dirty="0"/>
              <a:t>，用</a:t>
            </a:r>
            <a:r>
              <a:rPr lang="en-US" altLang="zh-CN" dirty="0"/>
              <a:t>M</a:t>
            </a:r>
            <a:r>
              <a:rPr lang="zh-CN" altLang="en-US" dirty="0"/>
              <a:t>中的最坏情况来代替</a:t>
            </a:r>
            <a:r>
              <a:rPr lang="en-US" altLang="zh-CN" dirty="0"/>
              <a:t>ERM</a:t>
            </a:r>
            <a:r>
              <a:rPr lang="zh-CN" altLang="en-US" dirty="0"/>
              <a:t>中单一分布的风险。这是一个</a:t>
            </a:r>
            <a:r>
              <a:rPr lang="en-US" altLang="zh-CN" dirty="0"/>
              <a:t>min-max</a:t>
            </a:r>
            <a:r>
              <a:rPr lang="zh-CN" altLang="en-US" dirty="0"/>
              <a:t>问题，内层是最大化风险，也就是找到最坏情况的分布，外层是最小化内层得到分布的风险。通过此方法，我们可以保证最差情况下的损失不会过低，从而提高模型的鲁棒性。</a:t>
            </a:r>
          </a:p>
        </p:txBody>
      </p:sp>
      <p:sp>
        <p:nvSpPr>
          <p:cNvPr id="4" name="灯片编号占位符 3"/>
          <p:cNvSpPr>
            <a:spLocks noGrp="1"/>
          </p:cNvSpPr>
          <p:nvPr>
            <p:ph type="sldNum" sz="quarter" idx="5"/>
          </p:nvPr>
        </p:nvSpPr>
        <p:spPr/>
        <p:txBody>
          <a:bodyPr/>
          <a:lstStyle/>
          <a:p>
            <a:fld id="{87A48A1C-5608-430B-AE15-1C1ECB13D867}" type="slidenum">
              <a:rPr lang="zh-CN" altLang="en-US" smtClean="0"/>
              <a:t>6</a:t>
            </a:fld>
            <a:endParaRPr lang="zh-CN" altLang="en-US"/>
          </a:p>
        </p:txBody>
      </p:sp>
    </p:spTree>
    <p:extLst>
      <p:ext uri="{BB962C8B-B14F-4D97-AF65-F5344CB8AC3E}">
        <p14:creationId xmlns:p14="http://schemas.microsoft.com/office/powerpoint/2010/main" val="1184335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本部分我来介绍</a:t>
            </a:r>
            <a:r>
              <a:rPr lang="en-US" altLang="zh-CN" dirty="0"/>
              <a:t>AUC</a:t>
            </a:r>
            <a:r>
              <a:rPr lang="zh-CN" altLang="en-US" dirty="0"/>
              <a:t>优化与分布鲁棒优化的理论基础和国内外研究现状。</a:t>
            </a:r>
          </a:p>
        </p:txBody>
      </p:sp>
      <p:sp>
        <p:nvSpPr>
          <p:cNvPr id="4" name="灯片编号占位符 3"/>
          <p:cNvSpPr>
            <a:spLocks noGrp="1"/>
          </p:cNvSpPr>
          <p:nvPr>
            <p:ph type="sldNum" sz="quarter" idx="5"/>
          </p:nvPr>
        </p:nvSpPr>
        <p:spPr/>
        <p:txBody>
          <a:bodyPr/>
          <a:lstStyle/>
          <a:p>
            <a:fld id="{87A48A1C-5608-430B-AE15-1C1ECB13D867}" type="slidenum">
              <a:rPr lang="zh-CN" altLang="en-US" smtClean="0"/>
              <a:t>7</a:t>
            </a:fld>
            <a:endParaRPr lang="zh-CN" altLang="en-US"/>
          </a:p>
        </p:txBody>
      </p:sp>
    </p:spTree>
    <p:extLst>
      <p:ext uri="{BB962C8B-B14F-4D97-AF65-F5344CB8AC3E}">
        <p14:creationId xmlns:p14="http://schemas.microsoft.com/office/powerpoint/2010/main" val="3395862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之前介绍的</a:t>
            </a:r>
            <a:r>
              <a:rPr lang="en-US" altLang="zh-CN" dirty="0"/>
              <a:t>AUC</a:t>
            </a:r>
            <a:r>
              <a:rPr lang="zh-CN" altLang="en-US" dirty="0"/>
              <a:t>计算公式，是以一种几何图像的形式呈现的，那种方式虽然直观，但是难以计算和优化。</a:t>
            </a:r>
            <a:endParaRPr lang="en-US" altLang="zh-CN" dirty="0"/>
          </a:p>
          <a:p>
            <a:r>
              <a:rPr lang="zh-CN" altLang="en-US" dirty="0"/>
              <a:t>事实上，通过假阳性率</a:t>
            </a:r>
            <a:r>
              <a:rPr lang="en-US" altLang="zh-CN" dirty="0"/>
              <a:t>FPR</a:t>
            </a:r>
            <a:r>
              <a:rPr lang="zh-CN" altLang="en-US" dirty="0"/>
              <a:t>和真阳性率</a:t>
            </a:r>
            <a:r>
              <a:rPr lang="en-US" altLang="zh-CN" dirty="0"/>
              <a:t>TPR</a:t>
            </a:r>
            <a:r>
              <a:rPr lang="zh-CN" altLang="en-US" dirty="0"/>
              <a:t>的定义，可以将基于几何图像得到的积分公式，转化成概率角度的求和。</a:t>
            </a:r>
            <a:endParaRPr lang="en-US" altLang="zh-CN" dirty="0"/>
          </a:p>
          <a:p>
            <a:r>
              <a:rPr lang="zh-CN" altLang="en-US" dirty="0"/>
              <a:t>具体地，第一步，首先从定义的角度将函数</a:t>
            </a:r>
            <a:r>
              <a:rPr lang="en-US" altLang="zh-CN" dirty="0"/>
              <a:t>T()</a:t>
            </a:r>
            <a:r>
              <a:rPr lang="zh-CN" altLang="en-US" dirty="0"/>
              <a:t>展开；</a:t>
            </a:r>
            <a:endParaRPr lang="en-US" altLang="zh-CN" dirty="0"/>
          </a:p>
          <a:p>
            <a:r>
              <a:rPr lang="zh-CN" altLang="en-US" dirty="0"/>
              <a:t>然后通过步骤</a:t>
            </a:r>
            <a:r>
              <a:rPr lang="en-US" altLang="zh-CN" dirty="0"/>
              <a:t>a</a:t>
            </a:r>
            <a:r>
              <a:rPr lang="zh-CN" altLang="en-US" dirty="0"/>
              <a:t>，将</a:t>
            </a:r>
            <a:r>
              <a:rPr lang="en-US" altLang="zh-CN" dirty="0"/>
              <a:t>F_0</a:t>
            </a:r>
            <a:r>
              <a:rPr lang="zh-CN" altLang="en-US" dirty="0"/>
              <a:t>替换为</a:t>
            </a:r>
            <a:r>
              <a:rPr lang="en-US" altLang="zh-CN" dirty="0"/>
              <a:t>F(t)</a:t>
            </a:r>
            <a:r>
              <a:rPr lang="zh-CN" altLang="en-US" dirty="0"/>
              <a:t>，由于</a:t>
            </a:r>
            <a:r>
              <a:rPr lang="en-US" altLang="zh-CN" dirty="0"/>
              <a:t>F(t)</a:t>
            </a:r>
            <a:r>
              <a:rPr lang="zh-CN" altLang="en-US" dirty="0"/>
              <a:t>是</a:t>
            </a:r>
            <a:r>
              <a:rPr lang="en-US" altLang="zh-CN" dirty="0"/>
              <a:t>t</a:t>
            </a:r>
            <a:r>
              <a:rPr lang="zh-CN" altLang="en-US" dirty="0"/>
              <a:t>的单调递减函数，因此将积分上下限进行调换。</a:t>
            </a:r>
            <a:endParaRPr lang="en-US" altLang="zh-CN" dirty="0"/>
          </a:p>
          <a:p>
            <a:r>
              <a:rPr lang="zh-CN" altLang="en-US" dirty="0"/>
              <a:t>接下来，步骤</a:t>
            </a:r>
            <a:r>
              <a:rPr lang="en-US" altLang="zh-CN" dirty="0"/>
              <a:t>b</a:t>
            </a:r>
            <a:r>
              <a:rPr lang="zh-CN" altLang="en-US" dirty="0"/>
              <a:t>利用了</a:t>
            </a:r>
          </a:p>
          <a:p>
            <a:endParaRPr lang="zh-CN" altLang="en-US" dirty="0"/>
          </a:p>
        </p:txBody>
      </p:sp>
      <p:sp>
        <p:nvSpPr>
          <p:cNvPr id="4" name="灯片编号占位符 3"/>
          <p:cNvSpPr>
            <a:spLocks noGrp="1"/>
          </p:cNvSpPr>
          <p:nvPr>
            <p:ph type="sldNum" sz="quarter" idx="5"/>
          </p:nvPr>
        </p:nvSpPr>
        <p:spPr/>
        <p:txBody>
          <a:bodyPr/>
          <a:lstStyle/>
          <a:p>
            <a:fld id="{87A48A1C-5608-430B-AE15-1C1ECB13D867}" type="slidenum">
              <a:rPr lang="zh-CN" altLang="en-US" smtClean="0"/>
              <a:t>8</a:t>
            </a:fld>
            <a:endParaRPr lang="zh-CN" altLang="en-US"/>
          </a:p>
        </p:txBody>
      </p:sp>
    </p:spTree>
    <p:extLst>
      <p:ext uri="{BB962C8B-B14F-4D97-AF65-F5344CB8AC3E}">
        <p14:creationId xmlns:p14="http://schemas.microsoft.com/office/powerpoint/2010/main" val="3019159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3DC4AE-7AE7-D6A8-F2A3-6AC8ADEF1FF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9DE0EE9A-DC4C-9DED-BE62-B015261AE4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FDBF81D-AD47-E558-1ABF-01E377DD285A}"/>
              </a:ext>
            </a:extLst>
          </p:cNvPr>
          <p:cNvSpPr>
            <a:spLocks noGrp="1"/>
          </p:cNvSpPr>
          <p:nvPr>
            <p:ph type="dt" sz="half" idx="10"/>
          </p:nvPr>
        </p:nvSpPr>
        <p:spPr/>
        <p:txBody>
          <a:bodyPr/>
          <a:lstStyle/>
          <a:p>
            <a:fld id="{93CEDB57-306F-4BF8-855C-6BB9E94FEEF8}"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7985A2D5-E521-3D42-9001-95D0990E5CD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50DCB3D-EB08-5E4E-AC19-FC2D884F4BB7}"/>
              </a:ext>
            </a:extLst>
          </p:cNvPr>
          <p:cNvSpPr>
            <a:spLocks noGrp="1"/>
          </p:cNvSpPr>
          <p:nvPr>
            <p:ph type="sldNum" sz="quarter" idx="12"/>
          </p:nvPr>
        </p:nvSpPr>
        <p:spPr/>
        <p:txBody>
          <a:bodyPr/>
          <a:lstStyle/>
          <a:p>
            <a:fld id="{A290DF1A-1B4B-4FE9-B9C1-10AC9C5D423D}" type="slidenum">
              <a:rPr lang="zh-CN" altLang="en-US" smtClean="0"/>
              <a:t>‹#›</a:t>
            </a:fld>
            <a:endParaRPr lang="zh-CN" altLang="en-US"/>
          </a:p>
        </p:txBody>
      </p:sp>
    </p:spTree>
    <p:extLst>
      <p:ext uri="{BB962C8B-B14F-4D97-AF65-F5344CB8AC3E}">
        <p14:creationId xmlns:p14="http://schemas.microsoft.com/office/powerpoint/2010/main" val="3236055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962124-625C-6B4A-75AE-471D6AB51E4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8AB044A-FF49-B210-61DC-8AEF79AB6DF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99BDBE8-6AF2-D9BD-D19F-F8620989929F}"/>
              </a:ext>
            </a:extLst>
          </p:cNvPr>
          <p:cNvSpPr>
            <a:spLocks noGrp="1"/>
          </p:cNvSpPr>
          <p:nvPr>
            <p:ph type="dt" sz="half" idx="10"/>
          </p:nvPr>
        </p:nvSpPr>
        <p:spPr/>
        <p:txBody>
          <a:bodyPr/>
          <a:lstStyle/>
          <a:p>
            <a:fld id="{ED9D6C37-0B08-4E9D-9BFF-22A9DB838BA2}"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77E16173-74F4-A279-D1F9-3BF2B6ACD8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F3AD97C-1770-295A-34C0-80874635CDDE}"/>
              </a:ext>
            </a:extLst>
          </p:cNvPr>
          <p:cNvSpPr>
            <a:spLocks noGrp="1"/>
          </p:cNvSpPr>
          <p:nvPr>
            <p:ph type="sldNum" sz="quarter" idx="12"/>
          </p:nvPr>
        </p:nvSpPr>
        <p:spPr/>
        <p:txBody>
          <a:bodyPr/>
          <a:lstStyle/>
          <a:p>
            <a:fld id="{A290DF1A-1B4B-4FE9-B9C1-10AC9C5D423D}" type="slidenum">
              <a:rPr lang="zh-CN" altLang="en-US" smtClean="0"/>
              <a:t>‹#›</a:t>
            </a:fld>
            <a:endParaRPr lang="zh-CN" altLang="en-US"/>
          </a:p>
        </p:txBody>
      </p:sp>
    </p:spTree>
    <p:extLst>
      <p:ext uri="{BB962C8B-B14F-4D97-AF65-F5344CB8AC3E}">
        <p14:creationId xmlns:p14="http://schemas.microsoft.com/office/powerpoint/2010/main" val="2807136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68F3BE-720D-A9F0-DC5E-FCD01323B0A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1555934-98AF-C112-99C2-1E94659B84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E37F6D9-7C06-51F1-A34C-1608AB11E8C0}"/>
              </a:ext>
            </a:extLst>
          </p:cNvPr>
          <p:cNvSpPr>
            <a:spLocks noGrp="1"/>
          </p:cNvSpPr>
          <p:nvPr>
            <p:ph type="dt" sz="half" idx="10"/>
          </p:nvPr>
        </p:nvSpPr>
        <p:spPr/>
        <p:txBody>
          <a:bodyPr/>
          <a:lstStyle/>
          <a:p>
            <a:fld id="{749E895B-5C60-484F-A915-687E04C39280}"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2F5AF90F-BA95-049D-FB0B-694068BC47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4BBF16B-03F0-5B1E-1B42-35C1457E1DEB}"/>
              </a:ext>
            </a:extLst>
          </p:cNvPr>
          <p:cNvSpPr>
            <a:spLocks noGrp="1"/>
          </p:cNvSpPr>
          <p:nvPr>
            <p:ph type="sldNum" sz="quarter" idx="12"/>
          </p:nvPr>
        </p:nvSpPr>
        <p:spPr/>
        <p:txBody>
          <a:bodyPr/>
          <a:lstStyle/>
          <a:p>
            <a:fld id="{A290DF1A-1B4B-4FE9-B9C1-10AC9C5D423D}" type="slidenum">
              <a:rPr lang="zh-CN" altLang="en-US" smtClean="0"/>
              <a:t>‹#›</a:t>
            </a:fld>
            <a:endParaRPr lang="zh-CN" altLang="en-US"/>
          </a:p>
        </p:txBody>
      </p:sp>
    </p:spTree>
    <p:extLst>
      <p:ext uri="{BB962C8B-B14F-4D97-AF65-F5344CB8AC3E}">
        <p14:creationId xmlns:p14="http://schemas.microsoft.com/office/powerpoint/2010/main" val="248417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8D8C90-F8A9-5A89-351E-FB83D04A7C4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FB552A4-FD43-413C-9E03-47B0999027E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B970A4E-31A6-4A01-12CD-CEF68F28E4F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BBEE25A-7770-38F0-7813-C1D56ADAEDFE}"/>
              </a:ext>
            </a:extLst>
          </p:cNvPr>
          <p:cNvSpPr>
            <a:spLocks noGrp="1"/>
          </p:cNvSpPr>
          <p:nvPr>
            <p:ph type="dt" sz="half" idx="10"/>
          </p:nvPr>
        </p:nvSpPr>
        <p:spPr/>
        <p:txBody>
          <a:bodyPr/>
          <a:lstStyle/>
          <a:p>
            <a:fld id="{2F62E948-6062-4D19-8552-2E047C64301E}" type="datetime1">
              <a:rPr lang="zh-CN" altLang="en-US" smtClean="0"/>
              <a:t>2023-06-01</a:t>
            </a:fld>
            <a:endParaRPr lang="zh-CN" altLang="en-US"/>
          </a:p>
        </p:txBody>
      </p:sp>
      <p:sp>
        <p:nvSpPr>
          <p:cNvPr id="6" name="页脚占位符 5">
            <a:extLst>
              <a:ext uri="{FF2B5EF4-FFF2-40B4-BE49-F238E27FC236}">
                <a16:creationId xmlns:a16="http://schemas.microsoft.com/office/drawing/2014/main" id="{3217FACC-FFD4-8E8E-95B1-36FA8101EC5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D2C4844-D21A-9885-4936-8E8D630FCBFE}"/>
              </a:ext>
            </a:extLst>
          </p:cNvPr>
          <p:cNvSpPr>
            <a:spLocks noGrp="1"/>
          </p:cNvSpPr>
          <p:nvPr>
            <p:ph type="sldNum" sz="quarter" idx="12"/>
          </p:nvPr>
        </p:nvSpPr>
        <p:spPr/>
        <p:txBody>
          <a:bodyPr/>
          <a:lstStyle/>
          <a:p>
            <a:fld id="{A290DF1A-1B4B-4FE9-B9C1-10AC9C5D423D}" type="slidenum">
              <a:rPr lang="zh-CN" altLang="en-US" smtClean="0"/>
              <a:t>‹#›</a:t>
            </a:fld>
            <a:endParaRPr lang="zh-CN" altLang="en-US"/>
          </a:p>
        </p:txBody>
      </p:sp>
    </p:spTree>
    <p:extLst>
      <p:ext uri="{BB962C8B-B14F-4D97-AF65-F5344CB8AC3E}">
        <p14:creationId xmlns:p14="http://schemas.microsoft.com/office/powerpoint/2010/main" val="1748477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0E4322-54FB-0323-725B-032F77E00DE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7BD5993-2F59-0CD9-7452-EAA80CA05E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6B3CD07-E8BC-69F6-7E28-DC201B5E421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6C55453-F2EC-21BB-A3F2-E38B1F96B0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6F34FA3-5A72-99E3-D50A-29D8A9E3643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7FC3B83D-0C78-8194-0456-BC681608B630}"/>
              </a:ext>
            </a:extLst>
          </p:cNvPr>
          <p:cNvSpPr>
            <a:spLocks noGrp="1"/>
          </p:cNvSpPr>
          <p:nvPr>
            <p:ph type="dt" sz="half" idx="10"/>
          </p:nvPr>
        </p:nvSpPr>
        <p:spPr/>
        <p:txBody>
          <a:bodyPr/>
          <a:lstStyle/>
          <a:p>
            <a:fld id="{171D1BD5-BE3D-4E49-B919-AA2D41AF0EEB}" type="datetime1">
              <a:rPr lang="zh-CN" altLang="en-US" smtClean="0"/>
              <a:t>2023-06-01</a:t>
            </a:fld>
            <a:endParaRPr lang="zh-CN" altLang="en-US"/>
          </a:p>
        </p:txBody>
      </p:sp>
      <p:sp>
        <p:nvSpPr>
          <p:cNvPr id="8" name="页脚占位符 7">
            <a:extLst>
              <a:ext uri="{FF2B5EF4-FFF2-40B4-BE49-F238E27FC236}">
                <a16:creationId xmlns:a16="http://schemas.microsoft.com/office/drawing/2014/main" id="{CF59C1C4-37F0-E528-FF75-77B1D546798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5CACCFF-6F0B-89F1-61BC-5AD53E798996}"/>
              </a:ext>
            </a:extLst>
          </p:cNvPr>
          <p:cNvSpPr>
            <a:spLocks noGrp="1"/>
          </p:cNvSpPr>
          <p:nvPr>
            <p:ph type="sldNum" sz="quarter" idx="12"/>
          </p:nvPr>
        </p:nvSpPr>
        <p:spPr/>
        <p:txBody>
          <a:bodyPr/>
          <a:lstStyle/>
          <a:p>
            <a:fld id="{A290DF1A-1B4B-4FE9-B9C1-10AC9C5D423D}" type="slidenum">
              <a:rPr lang="zh-CN" altLang="en-US" smtClean="0"/>
              <a:t>‹#›</a:t>
            </a:fld>
            <a:endParaRPr lang="zh-CN" altLang="en-US"/>
          </a:p>
        </p:txBody>
      </p:sp>
    </p:spTree>
    <p:extLst>
      <p:ext uri="{BB962C8B-B14F-4D97-AF65-F5344CB8AC3E}">
        <p14:creationId xmlns:p14="http://schemas.microsoft.com/office/powerpoint/2010/main" val="3825587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6D9B51-F20E-BA7D-BC18-9E1229FEDE2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AC6F32E-C08B-766B-22A9-E6ABC1A5D89C}"/>
              </a:ext>
            </a:extLst>
          </p:cNvPr>
          <p:cNvSpPr>
            <a:spLocks noGrp="1"/>
          </p:cNvSpPr>
          <p:nvPr>
            <p:ph type="dt" sz="half" idx="10"/>
          </p:nvPr>
        </p:nvSpPr>
        <p:spPr/>
        <p:txBody>
          <a:bodyPr/>
          <a:lstStyle/>
          <a:p>
            <a:fld id="{55482818-7087-41D2-AC89-4CEED541B8C5}" type="datetime1">
              <a:rPr lang="zh-CN" altLang="en-US" smtClean="0"/>
              <a:t>2023-06-01</a:t>
            </a:fld>
            <a:endParaRPr lang="zh-CN" altLang="en-US"/>
          </a:p>
        </p:txBody>
      </p:sp>
      <p:sp>
        <p:nvSpPr>
          <p:cNvPr id="4" name="页脚占位符 3">
            <a:extLst>
              <a:ext uri="{FF2B5EF4-FFF2-40B4-BE49-F238E27FC236}">
                <a16:creationId xmlns:a16="http://schemas.microsoft.com/office/drawing/2014/main" id="{5C0C7BC7-8508-3528-0D2C-D50F7154632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02EA27D-7A1E-7C8F-2095-F4BB9C0C7863}"/>
              </a:ext>
            </a:extLst>
          </p:cNvPr>
          <p:cNvSpPr>
            <a:spLocks noGrp="1"/>
          </p:cNvSpPr>
          <p:nvPr>
            <p:ph type="sldNum" sz="quarter" idx="12"/>
          </p:nvPr>
        </p:nvSpPr>
        <p:spPr/>
        <p:txBody>
          <a:bodyPr/>
          <a:lstStyle/>
          <a:p>
            <a:fld id="{A290DF1A-1B4B-4FE9-B9C1-10AC9C5D423D}" type="slidenum">
              <a:rPr lang="zh-CN" altLang="en-US" smtClean="0"/>
              <a:t>‹#›</a:t>
            </a:fld>
            <a:endParaRPr lang="zh-CN" altLang="en-US"/>
          </a:p>
        </p:txBody>
      </p:sp>
    </p:spTree>
    <p:extLst>
      <p:ext uri="{BB962C8B-B14F-4D97-AF65-F5344CB8AC3E}">
        <p14:creationId xmlns:p14="http://schemas.microsoft.com/office/powerpoint/2010/main" val="781746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5BDC400-B010-A07F-1F8C-EEEE0CEAB585}"/>
              </a:ext>
            </a:extLst>
          </p:cNvPr>
          <p:cNvSpPr>
            <a:spLocks noGrp="1"/>
          </p:cNvSpPr>
          <p:nvPr>
            <p:ph type="dt" sz="half" idx="10"/>
          </p:nvPr>
        </p:nvSpPr>
        <p:spPr/>
        <p:txBody>
          <a:bodyPr/>
          <a:lstStyle/>
          <a:p>
            <a:fld id="{885D4CC8-ED74-4CF0-B5D4-A6C0A9DC24FF}" type="datetime1">
              <a:rPr lang="zh-CN" altLang="en-US" smtClean="0"/>
              <a:t>2023-06-01</a:t>
            </a:fld>
            <a:endParaRPr lang="zh-CN" altLang="en-US"/>
          </a:p>
        </p:txBody>
      </p:sp>
      <p:sp>
        <p:nvSpPr>
          <p:cNvPr id="3" name="页脚占位符 2">
            <a:extLst>
              <a:ext uri="{FF2B5EF4-FFF2-40B4-BE49-F238E27FC236}">
                <a16:creationId xmlns:a16="http://schemas.microsoft.com/office/drawing/2014/main" id="{1FAB1265-1B16-5F4B-C1BF-99C96DA7391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9B50306-944A-CFF1-099E-87CB32D61764}"/>
              </a:ext>
            </a:extLst>
          </p:cNvPr>
          <p:cNvSpPr>
            <a:spLocks noGrp="1"/>
          </p:cNvSpPr>
          <p:nvPr>
            <p:ph type="sldNum" sz="quarter" idx="12"/>
          </p:nvPr>
        </p:nvSpPr>
        <p:spPr/>
        <p:txBody>
          <a:bodyPr/>
          <a:lstStyle/>
          <a:p>
            <a:fld id="{A290DF1A-1B4B-4FE9-B9C1-10AC9C5D423D}" type="slidenum">
              <a:rPr lang="zh-CN" altLang="en-US" smtClean="0"/>
              <a:t>‹#›</a:t>
            </a:fld>
            <a:endParaRPr lang="zh-CN" altLang="en-US"/>
          </a:p>
        </p:txBody>
      </p:sp>
    </p:spTree>
    <p:extLst>
      <p:ext uri="{BB962C8B-B14F-4D97-AF65-F5344CB8AC3E}">
        <p14:creationId xmlns:p14="http://schemas.microsoft.com/office/powerpoint/2010/main" val="392553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7B1360-FD3A-F13F-2E03-6A8164E4B27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A9D6CCE-7063-8713-ADDC-C0BC8A0F34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8E3456C-4DE5-C2B2-4834-6D9A24A18C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A1A5A80-CDA5-4609-5286-F5ECFB2DF6DC}"/>
              </a:ext>
            </a:extLst>
          </p:cNvPr>
          <p:cNvSpPr>
            <a:spLocks noGrp="1"/>
          </p:cNvSpPr>
          <p:nvPr>
            <p:ph type="dt" sz="half" idx="10"/>
          </p:nvPr>
        </p:nvSpPr>
        <p:spPr/>
        <p:txBody>
          <a:bodyPr/>
          <a:lstStyle/>
          <a:p>
            <a:fld id="{C9FE7FFF-0152-4632-983F-40AF2FF1314A}" type="datetime1">
              <a:rPr lang="zh-CN" altLang="en-US" smtClean="0"/>
              <a:t>2023-06-01</a:t>
            </a:fld>
            <a:endParaRPr lang="zh-CN" altLang="en-US"/>
          </a:p>
        </p:txBody>
      </p:sp>
      <p:sp>
        <p:nvSpPr>
          <p:cNvPr id="6" name="页脚占位符 5">
            <a:extLst>
              <a:ext uri="{FF2B5EF4-FFF2-40B4-BE49-F238E27FC236}">
                <a16:creationId xmlns:a16="http://schemas.microsoft.com/office/drawing/2014/main" id="{4F5CFC9D-59A6-05FC-97A4-634840B6CEB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E577AB8-AD39-B57F-8729-7A2E50F00E76}"/>
              </a:ext>
            </a:extLst>
          </p:cNvPr>
          <p:cNvSpPr>
            <a:spLocks noGrp="1"/>
          </p:cNvSpPr>
          <p:nvPr>
            <p:ph type="sldNum" sz="quarter" idx="12"/>
          </p:nvPr>
        </p:nvSpPr>
        <p:spPr/>
        <p:txBody>
          <a:bodyPr/>
          <a:lstStyle/>
          <a:p>
            <a:fld id="{A290DF1A-1B4B-4FE9-B9C1-10AC9C5D423D}" type="slidenum">
              <a:rPr lang="zh-CN" altLang="en-US" smtClean="0"/>
              <a:t>‹#›</a:t>
            </a:fld>
            <a:endParaRPr lang="zh-CN" altLang="en-US"/>
          </a:p>
        </p:txBody>
      </p:sp>
    </p:spTree>
    <p:extLst>
      <p:ext uri="{BB962C8B-B14F-4D97-AF65-F5344CB8AC3E}">
        <p14:creationId xmlns:p14="http://schemas.microsoft.com/office/powerpoint/2010/main" val="192858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FB63A7-02C1-A404-C7A7-47C87438F81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84AD441-81BE-56B3-E8A9-AB0CE3D318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82F3D5F-F13C-5F66-59CF-2832E13156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031D87C-EB4D-4BEA-0593-36AA12EC2E54}"/>
              </a:ext>
            </a:extLst>
          </p:cNvPr>
          <p:cNvSpPr>
            <a:spLocks noGrp="1"/>
          </p:cNvSpPr>
          <p:nvPr>
            <p:ph type="dt" sz="half" idx="10"/>
          </p:nvPr>
        </p:nvSpPr>
        <p:spPr/>
        <p:txBody>
          <a:bodyPr/>
          <a:lstStyle/>
          <a:p>
            <a:fld id="{723ACF5C-0F2C-486E-8DF2-6C6D1B2AD510}" type="datetime1">
              <a:rPr lang="zh-CN" altLang="en-US" smtClean="0"/>
              <a:t>2023-06-01</a:t>
            </a:fld>
            <a:endParaRPr lang="zh-CN" altLang="en-US"/>
          </a:p>
        </p:txBody>
      </p:sp>
      <p:sp>
        <p:nvSpPr>
          <p:cNvPr id="6" name="页脚占位符 5">
            <a:extLst>
              <a:ext uri="{FF2B5EF4-FFF2-40B4-BE49-F238E27FC236}">
                <a16:creationId xmlns:a16="http://schemas.microsoft.com/office/drawing/2014/main" id="{2C22ACB5-B98C-6FAF-D58A-5D61382D165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377B9F-17F1-3EE2-1416-C9DC3BB59320}"/>
              </a:ext>
            </a:extLst>
          </p:cNvPr>
          <p:cNvSpPr>
            <a:spLocks noGrp="1"/>
          </p:cNvSpPr>
          <p:nvPr>
            <p:ph type="sldNum" sz="quarter" idx="12"/>
          </p:nvPr>
        </p:nvSpPr>
        <p:spPr/>
        <p:txBody>
          <a:bodyPr/>
          <a:lstStyle/>
          <a:p>
            <a:fld id="{A290DF1A-1B4B-4FE9-B9C1-10AC9C5D423D}" type="slidenum">
              <a:rPr lang="zh-CN" altLang="en-US" smtClean="0"/>
              <a:t>‹#›</a:t>
            </a:fld>
            <a:endParaRPr lang="zh-CN" altLang="en-US"/>
          </a:p>
        </p:txBody>
      </p:sp>
    </p:spTree>
    <p:extLst>
      <p:ext uri="{BB962C8B-B14F-4D97-AF65-F5344CB8AC3E}">
        <p14:creationId xmlns:p14="http://schemas.microsoft.com/office/powerpoint/2010/main" val="369355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654565-F547-30FC-6033-D26F7BBFFE8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39E518-9C9C-2869-6054-FA16C68815B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8E5AAD0-54A0-3481-7F81-11CB48052FCA}"/>
              </a:ext>
            </a:extLst>
          </p:cNvPr>
          <p:cNvSpPr>
            <a:spLocks noGrp="1"/>
          </p:cNvSpPr>
          <p:nvPr>
            <p:ph type="dt" sz="half" idx="10"/>
          </p:nvPr>
        </p:nvSpPr>
        <p:spPr/>
        <p:txBody>
          <a:bodyPr/>
          <a:lstStyle/>
          <a:p>
            <a:fld id="{BF3689AE-CB93-4DF6-90F4-5B3BA10D4505}"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22AE2252-DAC3-8D4A-DFB7-338D356DF0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692408-1B85-35F5-C8CD-37B88986468B}"/>
              </a:ext>
            </a:extLst>
          </p:cNvPr>
          <p:cNvSpPr>
            <a:spLocks noGrp="1"/>
          </p:cNvSpPr>
          <p:nvPr>
            <p:ph type="sldNum" sz="quarter" idx="12"/>
          </p:nvPr>
        </p:nvSpPr>
        <p:spPr/>
        <p:txBody>
          <a:bodyPr/>
          <a:lstStyle/>
          <a:p>
            <a:fld id="{A290DF1A-1B4B-4FE9-B9C1-10AC9C5D423D}" type="slidenum">
              <a:rPr lang="zh-CN" altLang="en-US" smtClean="0"/>
              <a:t>‹#›</a:t>
            </a:fld>
            <a:endParaRPr lang="zh-CN" altLang="en-US"/>
          </a:p>
        </p:txBody>
      </p:sp>
    </p:spTree>
    <p:extLst>
      <p:ext uri="{BB962C8B-B14F-4D97-AF65-F5344CB8AC3E}">
        <p14:creationId xmlns:p14="http://schemas.microsoft.com/office/powerpoint/2010/main" val="1104156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F901A5-10CD-D39A-7871-A7D6594D9BE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2A448E7-4819-F96E-BE85-4FBD82D1414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5B35C9D-115E-5633-24C5-4C2C88DE983E}"/>
              </a:ext>
            </a:extLst>
          </p:cNvPr>
          <p:cNvSpPr>
            <a:spLocks noGrp="1"/>
          </p:cNvSpPr>
          <p:nvPr>
            <p:ph type="dt" sz="half" idx="10"/>
          </p:nvPr>
        </p:nvSpPr>
        <p:spPr/>
        <p:txBody>
          <a:bodyPr/>
          <a:lstStyle/>
          <a:p>
            <a:fld id="{2CF1E724-443A-4DDD-A845-E94B3568CB68}"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9877724D-9A2C-BEAA-FD4F-74D576B813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2A114A-1517-5EED-F207-1023FBF66976}"/>
              </a:ext>
            </a:extLst>
          </p:cNvPr>
          <p:cNvSpPr>
            <a:spLocks noGrp="1"/>
          </p:cNvSpPr>
          <p:nvPr>
            <p:ph type="sldNum" sz="quarter" idx="12"/>
          </p:nvPr>
        </p:nvSpPr>
        <p:spPr/>
        <p:txBody>
          <a:bodyPr/>
          <a:lstStyle/>
          <a:p>
            <a:fld id="{A290DF1A-1B4B-4FE9-B9C1-10AC9C5D423D}" type="slidenum">
              <a:rPr lang="zh-CN" altLang="en-US" smtClean="0"/>
              <a:t>‹#›</a:t>
            </a:fld>
            <a:endParaRPr lang="zh-CN" altLang="en-US"/>
          </a:p>
        </p:txBody>
      </p:sp>
    </p:spTree>
    <p:extLst>
      <p:ext uri="{BB962C8B-B14F-4D97-AF65-F5344CB8AC3E}">
        <p14:creationId xmlns:p14="http://schemas.microsoft.com/office/powerpoint/2010/main" val="38282443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F45EE-6B0E-6CB1-9A1A-D9C2E0E4600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D8378860-5C70-2FB1-36E8-C945400301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D3C3801-9B36-D394-53A6-8A62567A3CC8}"/>
              </a:ext>
            </a:extLst>
          </p:cNvPr>
          <p:cNvSpPr>
            <a:spLocks noGrp="1"/>
          </p:cNvSpPr>
          <p:nvPr>
            <p:ph type="dt" sz="half" idx="10"/>
          </p:nvPr>
        </p:nvSpPr>
        <p:spPr/>
        <p:txBody>
          <a:bodyPr/>
          <a:lstStyle>
            <a:lvl1pPr>
              <a:defRPr sz="1600">
                <a:solidFill>
                  <a:schemeClr val="bg1"/>
                </a:solidFill>
              </a:defRPr>
            </a:lvl1pPr>
          </a:lstStyle>
          <a:p>
            <a:fld id="{B9331BA4-3EE9-4FD5-8F9B-AD9F81DB7673}"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75D50731-2B30-7942-23A8-C4B8D2A8EF48}"/>
              </a:ext>
            </a:extLst>
          </p:cNvPr>
          <p:cNvSpPr>
            <a:spLocks noGrp="1"/>
          </p:cNvSpPr>
          <p:nvPr>
            <p:ph type="ftr" sz="quarter" idx="11"/>
          </p:nvPr>
        </p:nvSpPr>
        <p:spPr/>
        <p:txBody>
          <a:bodyPr/>
          <a:lstStyle>
            <a:lvl1pPr>
              <a:defRPr sz="1600">
                <a:solidFill>
                  <a:schemeClr val="bg1"/>
                </a:solidFill>
              </a:defRPr>
            </a:lvl1pPr>
          </a:lstStyle>
          <a:p>
            <a:endParaRPr lang="zh-CN" altLang="en-US" dirty="0"/>
          </a:p>
        </p:txBody>
      </p:sp>
      <p:sp>
        <p:nvSpPr>
          <p:cNvPr id="6" name="灯片编号占位符 5">
            <a:extLst>
              <a:ext uri="{FF2B5EF4-FFF2-40B4-BE49-F238E27FC236}">
                <a16:creationId xmlns:a16="http://schemas.microsoft.com/office/drawing/2014/main" id="{6BBA6F19-6113-1516-9A78-F2F3A16119AE}"/>
              </a:ext>
            </a:extLst>
          </p:cNvPr>
          <p:cNvSpPr>
            <a:spLocks noGrp="1"/>
          </p:cNvSpPr>
          <p:nvPr>
            <p:ph type="sldNum" sz="quarter" idx="12"/>
          </p:nvPr>
        </p:nvSpPr>
        <p:spPr/>
        <p:txBody>
          <a:bodyPr/>
          <a:lstStyle>
            <a:lvl1pPr>
              <a:defRPr sz="1600">
                <a:solidFill>
                  <a:schemeClr val="bg1"/>
                </a:solidFill>
              </a:defRPr>
            </a:lvl1pPr>
          </a:lstStyle>
          <a:p>
            <a:fld id="{101A9F4E-8665-4ACC-B682-573615CDA43F}" type="slidenum">
              <a:rPr lang="zh-CN" altLang="en-US" smtClean="0"/>
              <a:pPr/>
              <a:t>‹#›</a:t>
            </a:fld>
            <a:endParaRPr lang="zh-CN" altLang="en-US" dirty="0"/>
          </a:p>
        </p:txBody>
      </p:sp>
    </p:spTree>
    <p:extLst>
      <p:ext uri="{BB962C8B-B14F-4D97-AF65-F5344CB8AC3E}">
        <p14:creationId xmlns:p14="http://schemas.microsoft.com/office/powerpoint/2010/main" val="21397498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C3672B-E12A-ABCB-02A1-14960397FE8C}"/>
              </a:ext>
            </a:extLst>
          </p:cNvPr>
          <p:cNvSpPr>
            <a:spLocks noGrp="1"/>
          </p:cNvSpPr>
          <p:nvPr>
            <p:ph type="title"/>
          </p:nvPr>
        </p:nvSpPr>
        <p:spPr>
          <a:xfrm>
            <a:off x="766354" y="992035"/>
            <a:ext cx="6487886" cy="749679"/>
          </a:xfrm>
          <a:ln>
            <a:noFill/>
          </a:ln>
        </p:spPr>
        <p:txBody>
          <a:bodyPr>
            <a:noAutofit/>
          </a:bodyPr>
          <a:lstStyle>
            <a:lvl1pPr>
              <a:defRPr sz="3200"/>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EA5B6B15-FE64-4F45-9E7C-0640EEDDFCE1}"/>
              </a:ext>
            </a:extLst>
          </p:cNvPr>
          <p:cNvSpPr>
            <a:spLocks noGrp="1"/>
          </p:cNvSpPr>
          <p:nvPr>
            <p:ph idx="1"/>
          </p:nvPr>
        </p:nvSpPr>
        <p:spPr>
          <a:xfrm>
            <a:off x="766354" y="2155055"/>
            <a:ext cx="10587446" cy="3710910"/>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4E7F6531-FFA6-52F2-173D-D94162895FA6}"/>
              </a:ext>
            </a:extLst>
          </p:cNvPr>
          <p:cNvSpPr>
            <a:spLocks noGrp="1"/>
          </p:cNvSpPr>
          <p:nvPr>
            <p:ph type="dt" sz="half" idx="10"/>
          </p:nvPr>
        </p:nvSpPr>
        <p:spPr/>
        <p:txBody>
          <a:bodyPr/>
          <a:lstStyle>
            <a:lvl1pPr>
              <a:defRPr>
                <a:solidFill>
                  <a:schemeClr val="bg1"/>
                </a:solidFill>
              </a:defRPr>
            </a:lvl1pPr>
          </a:lstStyle>
          <a:p>
            <a:fld id="{93694476-F34E-4806-9632-D038CE1D3C45}"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8D086A0D-027C-4131-8B23-388D109DA84D}"/>
              </a:ext>
            </a:extLst>
          </p:cNvPr>
          <p:cNvSpPr>
            <a:spLocks noGrp="1"/>
          </p:cNvSpPr>
          <p:nvPr>
            <p:ph type="ftr" sz="quarter" idx="11"/>
          </p:nvPr>
        </p:nvSpPr>
        <p:spPr/>
        <p:txBody>
          <a:bodyPr/>
          <a:lstStyle>
            <a:lvl1pPr>
              <a:defRPr>
                <a:solidFill>
                  <a:schemeClr val="bg1"/>
                </a:solidFill>
              </a:defRPr>
            </a:lvl1pPr>
          </a:lstStyle>
          <a:p>
            <a:endParaRPr lang="zh-CN" altLang="en-US"/>
          </a:p>
        </p:txBody>
      </p:sp>
      <p:sp>
        <p:nvSpPr>
          <p:cNvPr id="6" name="灯片编号占位符 5">
            <a:extLst>
              <a:ext uri="{FF2B5EF4-FFF2-40B4-BE49-F238E27FC236}">
                <a16:creationId xmlns:a16="http://schemas.microsoft.com/office/drawing/2014/main" id="{A8E9BDBB-904E-10E3-F3B1-7CC84C6AF739}"/>
              </a:ext>
            </a:extLst>
          </p:cNvPr>
          <p:cNvSpPr>
            <a:spLocks noGrp="1"/>
          </p:cNvSpPr>
          <p:nvPr>
            <p:ph type="sldNum" sz="quarter" idx="12"/>
          </p:nvPr>
        </p:nvSpPr>
        <p:spPr/>
        <p:txBody>
          <a:bodyPr/>
          <a:lstStyle>
            <a:lvl1pPr>
              <a:defRPr>
                <a:solidFill>
                  <a:schemeClr val="bg1"/>
                </a:solidFill>
              </a:defRPr>
            </a:lvl1pPr>
          </a:lstStyle>
          <a:p>
            <a:fld id="{101A9F4E-8665-4ACC-B682-573615CDA43F}" type="slidenum">
              <a:rPr lang="zh-CN" altLang="en-US" smtClean="0"/>
              <a:pPr/>
              <a:t>‹#›</a:t>
            </a:fld>
            <a:endParaRPr lang="zh-CN" altLang="en-US"/>
          </a:p>
        </p:txBody>
      </p:sp>
    </p:spTree>
    <p:extLst>
      <p:ext uri="{BB962C8B-B14F-4D97-AF65-F5344CB8AC3E}">
        <p14:creationId xmlns:p14="http://schemas.microsoft.com/office/powerpoint/2010/main" val="3256294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39DA65-209C-9A2E-CF1C-10CB2D5100D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75BE3B1-223A-16A7-095F-C9B75D0A5D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F965740-2EAA-2960-F4CF-E60CE2827E0E}"/>
              </a:ext>
            </a:extLst>
          </p:cNvPr>
          <p:cNvSpPr>
            <a:spLocks noGrp="1"/>
          </p:cNvSpPr>
          <p:nvPr>
            <p:ph type="dt" sz="half" idx="10"/>
          </p:nvPr>
        </p:nvSpPr>
        <p:spPr/>
        <p:txBody>
          <a:bodyPr/>
          <a:lstStyle/>
          <a:p>
            <a:fld id="{0A49D46B-922E-4190-91F6-4EEDA298DB5F}"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8C7E115E-B38F-3197-D0F9-CF653EF6DF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449B48A-EFFC-916F-420A-1DC1902678BE}"/>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4246302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46F005-B1C1-130F-89C2-CCFA8AF9C27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4496B9E-E7C8-5590-8765-6193F86FEFC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E194B28-09EC-3DB6-C205-6C180AB0A13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82BE49B-7347-9BE9-1056-1C2B995F699F}"/>
              </a:ext>
            </a:extLst>
          </p:cNvPr>
          <p:cNvSpPr>
            <a:spLocks noGrp="1"/>
          </p:cNvSpPr>
          <p:nvPr>
            <p:ph type="dt" sz="half" idx="10"/>
          </p:nvPr>
        </p:nvSpPr>
        <p:spPr/>
        <p:txBody>
          <a:bodyPr/>
          <a:lstStyle/>
          <a:p>
            <a:fld id="{011A2ABE-1181-48E7-82A3-FC677A4A767E}" type="datetime1">
              <a:rPr lang="zh-CN" altLang="en-US" smtClean="0"/>
              <a:t>2023-06-01</a:t>
            </a:fld>
            <a:endParaRPr lang="zh-CN" altLang="en-US"/>
          </a:p>
        </p:txBody>
      </p:sp>
      <p:sp>
        <p:nvSpPr>
          <p:cNvPr id="6" name="页脚占位符 5">
            <a:extLst>
              <a:ext uri="{FF2B5EF4-FFF2-40B4-BE49-F238E27FC236}">
                <a16:creationId xmlns:a16="http://schemas.microsoft.com/office/drawing/2014/main" id="{47C46CF1-A6DD-91EF-44BA-C640689B31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E403AC0-4156-77EF-A828-5B18FC5C9988}"/>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916808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346987-1370-7C3F-510D-BE69B4D529F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FCD42A5-6687-B131-65E4-A6FCFF78B9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73C9D02-C55C-90B8-BE17-F4A510E86D6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CAA2DF9-1CA5-7189-970F-63FAAB5436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0A5434F-25CE-A3FB-72E5-37040366ABB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9A11ACD-2D4D-7663-4A3A-41BA745995B5}"/>
              </a:ext>
            </a:extLst>
          </p:cNvPr>
          <p:cNvSpPr>
            <a:spLocks noGrp="1"/>
          </p:cNvSpPr>
          <p:nvPr>
            <p:ph type="dt" sz="half" idx="10"/>
          </p:nvPr>
        </p:nvSpPr>
        <p:spPr/>
        <p:txBody>
          <a:bodyPr/>
          <a:lstStyle/>
          <a:p>
            <a:fld id="{3467A71D-8250-4E27-9955-D28177C07FD1}" type="datetime1">
              <a:rPr lang="zh-CN" altLang="en-US" smtClean="0"/>
              <a:t>2023-06-01</a:t>
            </a:fld>
            <a:endParaRPr lang="zh-CN" altLang="en-US"/>
          </a:p>
        </p:txBody>
      </p:sp>
      <p:sp>
        <p:nvSpPr>
          <p:cNvPr id="8" name="页脚占位符 7">
            <a:extLst>
              <a:ext uri="{FF2B5EF4-FFF2-40B4-BE49-F238E27FC236}">
                <a16:creationId xmlns:a16="http://schemas.microsoft.com/office/drawing/2014/main" id="{5BFA2D37-35CE-5C10-8D0D-D4B6D64947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960E776-E4A0-EA86-E668-16516A13C9F2}"/>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24416623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EEC7C-363D-BAAD-444D-D5827603731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CF4FDAF-D638-56CC-A43D-3F682C5E5A38}"/>
              </a:ext>
            </a:extLst>
          </p:cNvPr>
          <p:cNvSpPr>
            <a:spLocks noGrp="1"/>
          </p:cNvSpPr>
          <p:nvPr>
            <p:ph type="dt" sz="half" idx="10"/>
          </p:nvPr>
        </p:nvSpPr>
        <p:spPr/>
        <p:txBody>
          <a:bodyPr/>
          <a:lstStyle/>
          <a:p>
            <a:fld id="{5C886C86-73BB-4FA0-BB02-CCA69C300CD8}" type="datetime1">
              <a:rPr lang="zh-CN" altLang="en-US" smtClean="0"/>
              <a:t>2023-06-01</a:t>
            </a:fld>
            <a:endParaRPr lang="zh-CN" altLang="en-US"/>
          </a:p>
        </p:txBody>
      </p:sp>
      <p:sp>
        <p:nvSpPr>
          <p:cNvPr id="4" name="页脚占位符 3">
            <a:extLst>
              <a:ext uri="{FF2B5EF4-FFF2-40B4-BE49-F238E27FC236}">
                <a16:creationId xmlns:a16="http://schemas.microsoft.com/office/drawing/2014/main" id="{AB9DF4F0-1EAA-E6A7-C4DE-FCB29393C8F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CEEDBFA-E651-2780-E918-21FC44913538}"/>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9263415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FE71373-07F5-9C63-DE61-859BA01B4E15}"/>
              </a:ext>
            </a:extLst>
          </p:cNvPr>
          <p:cNvSpPr>
            <a:spLocks noGrp="1"/>
          </p:cNvSpPr>
          <p:nvPr>
            <p:ph type="dt" sz="half" idx="10"/>
          </p:nvPr>
        </p:nvSpPr>
        <p:spPr/>
        <p:txBody>
          <a:bodyPr/>
          <a:lstStyle/>
          <a:p>
            <a:fld id="{7FDB0297-1411-43DE-84AB-202F710C76CD}" type="datetime1">
              <a:rPr lang="zh-CN" altLang="en-US" smtClean="0"/>
              <a:t>2023-06-01</a:t>
            </a:fld>
            <a:endParaRPr lang="zh-CN" altLang="en-US"/>
          </a:p>
        </p:txBody>
      </p:sp>
      <p:sp>
        <p:nvSpPr>
          <p:cNvPr id="3" name="页脚占位符 2">
            <a:extLst>
              <a:ext uri="{FF2B5EF4-FFF2-40B4-BE49-F238E27FC236}">
                <a16:creationId xmlns:a16="http://schemas.microsoft.com/office/drawing/2014/main" id="{9141011A-7412-AD01-D7F9-834C01FD09F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E17EB46-9C04-0042-479C-C79F0C1EC399}"/>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41762079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3EF72C-1863-1E4A-7E30-2F3809F7586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8C6A6B3-98B1-B2B1-FDAC-227C05E49E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70E3D38-6D9D-20D0-B740-3B675F3AC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B491941-503D-0CC1-E491-3DB1AF18F149}"/>
              </a:ext>
            </a:extLst>
          </p:cNvPr>
          <p:cNvSpPr>
            <a:spLocks noGrp="1"/>
          </p:cNvSpPr>
          <p:nvPr>
            <p:ph type="dt" sz="half" idx="10"/>
          </p:nvPr>
        </p:nvSpPr>
        <p:spPr/>
        <p:txBody>
          <a:bodyPr/>
          <a:lstStyle/>
          <a:p>
            <a:fld id="{C4FE7DD1-3ABA-451D-B1CA-31F1C281E0DF}" type="datetime1">
              <a:rPr lang="zh-CN" altLang="en-US" smtClean="0"/>
              <a:t>2023-06-01</a:t>
            </a:fld>
            <a:endParaRPr lang="zh-CN" altLang="en-US"/>
          </a:p>
        </p:txBody>
      </p:sp>
      <p:sp>
        <p:nvSpPr>
          <p:cNvPr id="6" name="页脚占位符 5">
            <a:extLst>
              <a:ext uri="{FF2B5EF4-FFF2-40B4-BE49-F238E27FC236}">
                <a16:creationId xmlns:a16="http://schemas.microsoft.com/office/drawing/2014/main" id="{85932AA7-2463-5494-C582-1C41FA4023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CCB800D-17D4-56E1-7802-633D6C5C01EB}"/>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7117586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00E419-C220-3D92-E08F-028E395999F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9CC54AA-E17D-7AF2-841E-C234D00542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1BFFE65-F344-DEE3-A96B-6D7E97420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3151268-C1F1-5BE6-5402-768BC04E31D6}"/>
              </a:ext>
            </a:extLst>
          </p:cNvPr>
          <p:cNvSpPr>
            <a:spLocks noGrp="1"/>
          </p:cNvSpPr>
          <p:nvPr>
            <p:ph type="dt" sz="half" idx="10"/>
          </p:nvPr>
        </p:nvSpPr>
        <p:spPr/>
        <p:txBody>
          <a:bodyPr/>
          <a:lstStyle/>
          <a:p>
            <a:fld id="{6B76FACB-CCC1-4E97-92AD-FA1B3CC18391}" type="datetime1">
              <a:rPr lang="zh-CN" altLang="en-US" smtClean="0"/>
              <a:t>2023-06-01</a:t>
            </a:fld>
            <a:endParaRPr lang="zh-CN" altLang="en-US"/>
          </a:p>
        </p:txBody>
      </p:sp>
      <p:sp>
        <p:nvSpPr>
          <p:cNvPr id="6" name="页脚占位符 5">
            <a:extLst>
              <a:ext uri="{FF2B5EF4-FFF2-40B4-BE49-F238E27FC236}">
                <a16:creationId xmlns:a16="http://schemas.microsoft.com/office/drawing/2014/main" id="{4E982BCE-A28E-ED7D-A508-70B31EAD641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B6BCE5C-17C8-9324-1F72-E2B26157CED9}"/>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9761949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C99D9C-44B6-84B7-DF6F-6F9772C6F9B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0B7F737-4842-61FD-79E3-D78ECD8D0EC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DBF9DBE-3418-58CC-0D4D-780082F17ED9}"/>
              </a:ext>
            </a:extLst>
          </p:cNvPr>
          <p:cNvSpPr>
            <a:spLocks noGrp="1"/>
          </p:cNvSpPr>
          <p:nvPr>
            <p:ph type="dt" sz="half" idx="10"/>
          </p:nvPr>
        </p:nvSpPr>
        <p:spPr/>
        <p:txBody>
          <a:bodyPr/>
          <a:lstStyle/>
          <a:p>
            <a:fld id="{4F356D06-21EC-4666-B3A3-50B30DC3625E}"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DCA3A609-66EB-B9D3-6EB4-B2FE7FB93CB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E19ADCF-978B-A73B-2D64-13672E2A7FF2}"/>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20017551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ABFCB85-2B9B-0DEB-87F6-D35CD36C4C0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EBD105E-385B-66F7-17DA-EBEB38FFF39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EE73072-0D91-D0C1-47F1-AE1670C1D0BC}"/>
              </a:ext>
            </a:extLst>
          </p:cNvPr>
          <p:cNvSpPr>
            <a:spLocks noGrp="1"/>
          </p:cNvSpPr>
          <p:nvPr>
            <p:ph type="dt" sz="half" idx="10"/>
          </p:nvPr>
        </p:nvSpPr>
        <p:spPr/>
        <p:txBody>
          <a:bodyPr/>
          <a:lstStyle/>
          <a:p>
            <a:fld id="{5310A558-E61E-4277-943E-915126DA0BF8}"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FE378809-9295-12BC-8E14-7FEAB864A6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F5AA57C-BD75-32D9-30FB-2399B88BD28D}"/>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6046917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F45EE-6B0E-6CB1-9A1A-D9C2E0E4600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D8378860-5C70-2FB1-36E8-C945400301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D3C3801-9B36-D394-53A6-8A62567A3CC8}"/>
              </a:ext>
            </a:extLst>
          </p:cNvPr>
          <p:cNvSpPr>
            <a:spLocks noGrp="1"/>
          </p:cNvSpPr>
          <p:nvPr>
            <p:ph type="dt" sz="half" idx="10"/>
          </p:nvPr>
        </p:nvSpPr>
        <p:spPr/>
        <p:txBody>
          <a:bodyPr/>
          <a:lstStyle>
            <a:lvl1pPr>
              <a:defRPr sz="1600">
                <a:solidFill>
                  <a:schemeClr val="bg1"/>
                </a:solidFill>
              </a:defRPr>
            </a:lvl1pPr>
          </a:lstStyle>
          <a:p>
            <a:fld id="{A72D76EA-FCAC-473A-8A75-02CB21208D87}"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75D50731-2B30-7942-23A8-C4B8D2A8EF48}"/>
              </a:ext>
            </a:extLst>
          </p:cNvPr>
          <p:cNvSpPr>
            <a:spLocks noGrp="1"/>
          </p:cNvSpPr>
          <p:nvPr>
            <p:ph type="ftr" sz="quarter" idx="11"/>
          </p:nvPr>
        </p:nvSpPr>
        <p:spPr/>
        <p:txBody>
          <a:bodyPr/>
          <a:lstStyle>
            <a:lvl1pPr>
              <a:defRPr sz="1600">
                <a:solidFill>
                  <a:schemeClr val="bg1"/>
                </a:solidFill>
              </a:defRPr>
            </a:lvl1pPr>
          </a:lstStyle>
          <a:p>
            <a:endParaRPr lang="zh-CN" altLang="en-US" dirty="0"/>
          </a:p>
        </p:txBody>
      </p:sp>
      <p:sp>
        <p:nvSpPr>
          <p:cNvPr id="6" name="灯片编号占位符 5">
            <a:extLst>
              <a:ext uri="{FF2B5EF4-FFF2-40B4-BE49-F238E27FC236}">
                <a16:creationId xmlns:a16="http://schemas.microsoft.com/office/drawing/2014/main" id="{6BBA6F19-6113-1516-9A78-F2F3A16119AE}"/>
              </a:ext>
            </a:extLst>
          </p:cNvPr>
          <p:cNvSpPr>
            <a:spLocks noGrp="1"/>
          </p:cNvSpPr>
          <p:nvPr>
            <p:ph type="sldNum" sz="quarter" idx="12"/>
          </p:nvPr>
        </p:nvSpPr>
        <p:spPr/>
        <p:txBody>
          <a:bodyPr/>
          <a:lstStyle>
            <a:lvl1pPr>
              <a:defRPr sz="1600">
                <a:solidFill>
                  <a:schemeClr val="bg1"/>
                </a:solidFill>
              </a:defRPr>
            </a:lvl1pPr>
          </a:lstStyle>
          <a:p>
            <a:fld id="{101A9F4E-8665-4ACC-B682-573615CDA43F}" type="slidenum">
              <a:rPr lang="zh-CN" altLang="en-US" smtClean="0"/>
              <a:pPr/>
              <a:t>‹#›</a:t>
            </a:fld>
            <a:endParaRPr lang="zh-CN" altLang="en-US" dirty="0"/>
          </a:p>
        </p:txBody>
      </p:sp>
    </p:spTree>
    <p:extLst>
      <p:ext uri="{BB962C8B-B14F-4D97-AF65-F5344CB8AC3E}">
        <p14:creationId xmlns:p14="http://schemas.microsoft.com/office/powerpoint/2010/main" val="28001638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C3672B-E12A-ABCB-02A1-14960397FE8C}"/>
              </a:ext>
            </a:extLst>
          </p:cNvPr>
          <p:cNvSpPr>
            <a:spLocks noGrp="1"/>
          </p:cNvSpPr>
          <p:nvPr>
            <p:ph type="title"/>
          </p:nvPr>
        </p:nvSpPr>
        <p:spPr>
          <a:xfrm>
            <a:off x="766354" y="992035"/>
            <a:ext cx="6487886" cy="749679"/>
          </a:xfrm>
          <a:ln>
            <a:noFill/>
          </a:ln>
        </p:spPr>
        <p:txBody>
          <a:bodyPr>
            <a:noAutofit/>
          </a:bodyPr>
          <a:lstStyle>
            <a:lvl1pPr>
              <a:defRPr sz="3200"/>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EA5B6B15-FE64-4F45-9E7C-0640EEDDFCE1}"/>
              </a:ext>
            </a:extLst>
          </p:cNvPr>
          <p:cNvSpPr>
            <a:spLocks noGrp="1"/>
          </p:cNvSpPr>
          <p:nvPr>
            <p:ph idx="1"/>
          </p:nvPr>
        </p:nvSpPr>
        <p:spPr>
          <a:xfrm>
            <a:off x="766354" y="2155055"/>
            <a:ext cx="10587446" cy="3710910"/>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4E7F6531-FFA6-52F2-173D-D94162895FA6}"/>
              </a:ext>
            </a:extLst>
          </p:cNvPr>
          <p:cNvSpPr>
            <a:spLocks noGrp="1"/>
          </p:cNvSpPr>
          <p:nvPr>
            <p:ph type="dt" sz="half" idx="10"/>
          </p:nvPr>
        </p:nvSpPr>
        <p:spPr/>
        <p:txBody>
          <a:bodyPr/>
          <a:lstStyle>
            <a:lvl1pPr>
              <a:defRPr>
                <a:solidFill>
                  <a:schemeClr val="bg1"/>
                </a:solidFill>
              </a:defRPr>
            </a:lvl1pPr>
          </a:lstStyle>
          <a:p>
            <a:fld id="{E4CE00AC-10C3-49B8-ACAB-087653E7CE0C}"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8D086A0D-027C-4131-8B23-388D109DA84D}"/>
              </a:ext>
            </a:extLst>
          </p:cNvPr>
          <p:cNvSpPr>
            <a:spLocks noGrp="1"/>
          </p:cNvSpPr>
          <p:nvPr>
            <p:ph type="ftr" sz="quarter" idx="11"/>
          </p:nvPr>
        </p:nvSpPr>
        <p:spPr/>
        <p:txBody>
          <a:bodyPr/>
          <a:lstStyle>
            <a:lvl1pPr>
              <a:defRPr>
                <a:solidFill>
                  <a:schemeClr val="bg1"/>
                </a:solidFill>
              </a:defRPr>
            </a:lvl1pPr>
          </a:lstStyle>
          <a:p>
            <a:endParaRPr lang="zh-CN" altLang="en-US"/>
          </a:p>
        </p:txBody>
      </p:sp>
      <p:sp>
        <p:nvSpPr>
          <p:cNvPr id="6" name="灯片编号占位符 5">
            <a:extLst>
              <a:ext uri="{FF2B5EF4-FFF2-40B4-BE49-F238E27FC236}">
                <a16:creationId xmlns:a16="http://schemas.microsoft.com/office/drawing/2014/main" id="{A8E9BDBB-904E-10E3-F3B1-7CC84C6AF739}"/>
              </a:ext>
            </a:extLst>
          </p:cNvPr>
          <p:cNvSpPr>
            <a:spLocks noGrp="1"/>
          </p:cNvSpPr>
          <p:nvPr>
            <p:ph type="sldNum" sz="quarter" idx="12"/>
          </p:nvPr>
        </p:nvSpPr>
        <p:spPr/>
        <p:txBody>
          <a:bodyPr/>
          <a:lstStyle>
            <a:lvl1pPr>
              <a:defRPr>
                <a:solidFill>
                  <a:schemeClr val="bg1"/>
                </a:solidFill>
              </a:defRPr>
            </a:lvl1pPr>
          </a:lstStyle>
          <a:p>
            <a:fld id="{101A9F4E-8665-4ACC-B682-573615CDA43F}" type="slidenum">
              <a:rPr lang="zh-CN" altLang="en-US" smtClean="0"/>
              <a:pPr/>
              <a:t>‹#›</a:t>
            </a:fld>
            <a:endParaRPr lang="zh-CN" altLang="en-US"/>
          </a:p>
        </p:txBody>
      </p:sp>
    </p:spTree>
    <p:extLst>
      <p:ext uri="{BB962C8B-B14F-4D97-AF65-F5344CB8AC3E}">
        <p14:creationId xmlns:p14="http://schemas.microsoft.com/office/powerpoint/2010/main" val="37361858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39DA65-209C-9A2E-CF1C-10CB2D5100D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75BE3B1-223A-16A7-095F-C9B75D0A5D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F965740-2EAA-2960-F4CF-E60CE2827E0E}"/>
              </a:ext>
            </a:extLst>
          </p:cNvPr>
          <p:cNvSpPr>
            <a:spLocks noGrp="1"/>
          </p:cNvSpPr>
          <p:nvPr>
            <p:ph type="dt" sz="half" idx="10"/>
          </p:nvPr>
        </p:nvSpPr>
        <p:spPr/>
        <p:txBody>
          <a:bodyPr/>
          <a:lstStyle/>
          <a:p>
            <a:fld id="{CF2552E8-1CC1-48F4-8902-AABC8A168E9F}"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8C7E115E-B38F-3197-D0F9-CF653EF6DF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449B48A-EFFC-916F-420A-1DC1902678BE}"/>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434628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46F005-B1C1-130F-89C2-CCFA8AF9C27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4496B9E-E7C8-5590-8765-6193F86FEFC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E194B28-09EC-3DB6-C205-6C180AB0A13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82BE49B-7347-9BE9-1056-1C2B995F699F}"/>
              </a:ext>
            </a:extLst>
          </p:cNvPr>
          <p:cNvSpPr>
            <a:spLocks noGrp="1"/>
          </p:cNvSpPr>
          <p:nvPr>
            <p:ph type="dt" sz="half" idx="10"/>
          </p:nvPr>
        </p:nvSpPr>
        <p:spPr/>
        <p:txBody>
          <a:bodyPr/>
          <a:lstStyle/>
          <a:p>
            <a:fld id="{ED031B8F-2FC2-46CE-912F-722B58BCBF08}" type="datetime1">
              <a:rPr lang="zh-CN" altLang="en-US" smtClean="0"/>
              <a:t>2023-06-01</a:t>
            </a:fld>
            <a:endParaRPr lang="zh-CN" altLang="en-US"/>
          </a:p>
        </p:txBody>
      </p:sp>
      <p:sp>
        <p:nvSpPr>
          <p:cNvPr id="6" name="页脚占位符 5">
            <a:extLst>
              <a:ext uri="{FF2B5EF4-FFF2-40B4-BE49-F238E27FC236}">
                <a16:creationId xmlns:a16="http://schemas.microsoft.com/office/drawing/2014/main" id="{47C46CF1-A6DD-91EF-44BA-C640689B31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E403AC0-4156-77EF-A828-5B18FC5C9988}"/>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13344987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346987-1370-7C3F-510D-BE69B4D529F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FCD42A5-6687-B131-65E4-A6FCFF78B9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73C9D02-C55C-90B8-BE17-F4A510E86D6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CAA2DF9-1CA5-7189-970F-63FAAB5436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0A5434F-25CE-A3FB-72E5-37040366ABB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9A11ACD-2D4D-7663-4A3A-41BA745995B5}"/>
              </a:ext>
            </a:extLst>
          </p:cNvPr>
          <p:cNvSpPr>
            <a:spLocks noGrp="1"/>
          </p:cNvSpPr>
          <p:nvPr>
            <p:ph type="dt" sz="half" idx="10"/>
          </p:nvPr>
        </p:nvSpPr>
        <p:spPr/>
        <p:txBody>
          <a:bodyPr/>
          <a:lstStyle/>
          <a:p>
            <a:fld id="{113214A2-0FE0-4EDF-8640-4184743C8F56}" type="datetime1">
              <a:rPr lang="zh-CN" altLang="en-US" smtClean="0"/>
              <a:t>2023-06-01</a:t>
            </a:fld>
            <a:endParaRPr lang="zh-CN" altLang="en-US"/>
          </a:p>
        </p:txBody>
      </p:sp>
      <p:sp>
        <p:nvSpPr>
          <p:cNvPr id="8" name="页脚占位符 7">
            <a:extLst>
              <a:ext uri="{FF2B5EF4-FFF2-40B4-BE49-F238E27FC236}">
                <a16:creationId xmlns:a16="http://schemas.microsoft.com/office/drawing/2014/main" id="{5BFA2D37-35CE-5C10-8D0D-D4B6D64947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960E776-E4A0-EA86-E668-16516A13C9F2}"/>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7811457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EEC7C-363D-BAAD-444D-D5827603731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CF4FDAF-D638-56CC-A43D-3F682C5E5A38}"/>
              </a:ext>
            </a:extLst>
          </p:cNvPr>
          <p:cNvSpPr>
            <a:spLocks noGrp="1"/>
          </p:cNvSpPr>
          <p:nvPr>
            <p:ph type="dt" sz="half" idx="10"/>
          </p:nvPr>
        </p:nvSpPr>
        <p:spPr/>
        <p:txBody>
          <a:bodyPr/>
          <a:lstStyle/>
          <a:p>
            <a:fld id="{7208EA3B-4AF2-4721-925E-AB921B35D26A}" type="datetime1">
              <a:rPr lang="zh-CN" altLang="en-US" smtClean="0"/>
              <a:t>2023-06-01</a:t>
            </a:fld>
            <a:endParaRPr lang="zh-CN" altLang="en-US"/>
          </a:p>
        </p:txBody>
      </p:sp>
      <p:sp>
        <p:nvSpPr>
          <p:cNvPr id="4" name="页脚占位符 3">
            <a:extLst>
              <a:ext uri="{FF2B5EF4-FFF2-40B4-BE49-F238E27FC236}">
                <a16:creationId xmlns:a16="http://schemas.microsoft.com/office/drawing/2014/main" id="{AB9DF4F0-1EAA-E6A7-C4DE-FCB29393C8F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CEEDBFA-E651-2780-E918-21FC44913538}"/>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18227171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FE71373-07F5-9C63-DE61-859BA01B4E15}"/>
              </a:ext>
            </a:extLst>
          </p:cNvPr>
          <p:cNvSpPr>
            <a:spLocks noGrp="1"/>
          </p:cNvSpPr>
          <p:nvPr>
            <p:ph type="dt" sz="half" idx="10"/>
          </p:nvPr>
        </p:nvSpPr>
        <p:spPr/>
        <p:txBody>
          <a:bodyPr/>
          <a:lstStyle/>
          <a:p>
            <a:fld id="{0CB43B0A-9D51-45CB-92F9-DD82427BDD5B}" type="datetime1">
              <a:rPr lang="zh-CN" altLang="en-US" smtClean="0"/>
              <a:t>2023-06-01</a:t>
            </a:fld>
            <a:endParaRPr lang="zh-CN" altLang="en-US"/>
          </a:p>
        </p:txBody>
      </p:sp>
      <p:sp>
        <p:nvSpPr>
          <p:cNvPr id="3" name="页脚占位符 2">
            <a:extLst>
              <a:ext uri="{FF2B5EF4-FFF2-40B4-BE49-F238E27FC236}">
                <a16:creationId xmlns:a16="http://schemas.microsoft.com/office/drawing/2014/main" id="{9141011A-7412-AD01-D7F9-834C01FD09F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E17EB46-9C04-0042-479C-C79F0C1EC399}"/>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21487005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3EF72C-1863-1E4A-7E30-2F3809F7586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8C6A6B3-98B1-B2B1-FDAC-227C05E49E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70E3D38-6D9D-20D0-B740-3B675F3AC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B491941-503D-0CC1-E491-3DB1AF18F149}"/>
              </a:ext>
            </a:extLst>
          </p:cNvPr>
          <p:cNvSpPr>
            <a:spLocks noGrp="1"/>
          </p:cNvSpPr>
          <p:nvPr>
            <p:ph type="dt" sz="half" idx="10"/>
          </p:nvPr>
        </p:nvSpPr>
        <p:spPr/>
        <p:txBody>
          <a:bodyPr/>
          <a:lstStyle/>
          <a:p>
            <a:fld id="{E70C39F0-63D9-4472-859B-E16BDF87F8F2}" type="datetime1">
              <a:rPr lang="zh-CN" altLang="en-US" smtClean="0"/>
              <a:t>2023-06-01</a:t>
            </a:fld>
            <a:endParaRPr lang="zh-CN" altLang="en-US"/>
          </a:p>
        </p:txBody>
      </p:sp>
      <p:sp>
        <p:nvSpPr>
          <p:cNvPr id="6" name="页脚占位符 5">
            <a:extLst>
              <a:ext uri="{FF2B5EF4-FFF2-40B4-BE49-F238E27FC236}">
                <a16:creationId xmlns:a16="http://schemas.microsoft.com/office/drawing/2014/main" id="{85932AA7-2463-5494-C582-1C41FA4023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CCB800D-17D4-56E1-7802-633D6C5C01EB}"/>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9995574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00E419-C220-3D92-E08F-028E395999F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9CC54AA-E17D-7AF2-841E-C234D00542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1BFFE65-F344-DEE3-A96B-6D7E97420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3151268-C1F1-5BE6-5402-768BC04E31D6}"/>
              </a:ext>
            </a:extLst>
          </p:cNvPr>
          <p:cNvSpPr>
            <a:spLocks noGrp="1"/>
          </p:cNvSpPr>
          <p:nvPr>
            <p:ph type="dt" sz="half" idx="10"/>
          </p:nvPr>
        </p:nvSpPr>
        <p:spPr/>
        <p:txBody>
          <a:bodyPr/>
          <a:lstStyle/>
          <a:p>
            <a:fld id="{02F2C650-A5E4-4B1C-ACAF-8A108C977EC8}" type="datetime1">
              <a:rPr lang="zh-CN" altLang="en-US" smtClean="0"/>
              <a:t>2023-06-01</a:t>
            </a:fld>
            <a:endParaRPr lang="zh-CN" altLang="en-US"/>
          </a:p>
        </p:txBody>
      </p:sp>
      <p:sp>
        <p:nvSpPr>
          <p:cNvPr id="6" name="页脚占位符 5">
            <a:extLst>
              <a:ext uri="{FF2B5EF4-FFF2-40B4-BE49-F238E27FC236}">
                <a16:creationId xmlns:a16="http://schemas.microsoft.com/office/drawing/2014/main" id="{4E982BCE-A28E-ED7D-A508-70B31EAD641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B6BCE5C-17C8-9324-1F72-E2B26157CED9}"/>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1276453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C99D9C-44B6-84B7-DF6F-6F9772C6F9B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0B7F737-4842-61FD-79E3-D78ECD8D0EC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DBF9DBE-3418-58CC-0D4D-780082F17ED9}"/>
              </a:ext>
            </a:extLst>
          </p:cNvPr>
          <p:cNvSpPr>
            <a:spLocks noGrp="1"/>
          </p:cNvSpPr>
          <p:nvPr>
            <p:ph type="dt" sz="half" idx="10"/>
          </p:nvPr>
        </p:nvSpPr>
        <p:spPr/>
        <p:txBody>
          <a:bodyPr/>
          <a:lstStyle/>
          <a:p>
            <a:fld id="{C50A8B2F-4437-4E20-9F8B-A44F216093A3}"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DCA3A609-66EB-B9D3-6EB4-B2FE7FB93CB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E19ADCF-978B-A73B-2D64-13672E2A7FF2}"/>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14092471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ABFCB85-2B9B-0DEB-87F6-D35CD36C4C0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EBD105E-385B-66F7-17DA-EBEB38FFF39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EE73072-0D91-D0C1-47F1-AE1670C1D0BC}"/>
              </a:ext>
            </a:extLst>
          </p:cNvPr>
          <p:cNvSpPr>
            <a:spLocks noGrp="1"/>
          </p:cNvSpPr>
          <p:nvPr>
            <p:ph type="dt" sz="half" idx="10"/>
          </p:nvPr>
        </p:nvSpPr>
        <p:spPr/>
        <p:txBody>
          <a:bodyPr/>
          <a:lstStyle/>
          <a:p>
            <a:fld id="{2C684792-51C8-4709-9FDE-F34074363DF9}"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FE378809-9295-12BC-8E14-7FEAB864A6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F5AA57C-BD75-32D9-30FB-2399B88BD28D}"/>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24005796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F45EE-6B0E-6CB1-9A1A-D9C2E0E4600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a:extLst>
              <a:ext uri="{FF2B5EF4-FFF2-40B4-BE49-F238E27FC236}">
                <a16:creationId xmlns:a16="http://schemas.microsoft.com/office/drawing/2014/main" id="{D8378860-5C70-2FB1-36E8-C945400301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D3C3801-9B36-D394-53A6-8A62567A3CC8}"/>
              </a:ext>
            </a:extLst>
          </p:cNvPr>
          <p:cNvSpPr>
            <a:spLocks noGrp="1"/>
          </p:cNvSpPr>
          <p:nvPr>
            <p:ph type="dt" sz="half" idx="10"/>
          </p:nvPr>
        </p:nvSpPr>
        <p:spPr/>
        <p:txBody>
          <a:bodyPr/>
          <a:lstStyle>
            <a:lvl1pPr>
              <a:defRPr sz="1600">
                <a:solidFill>
                  <a:schemeClr val="bg1"/>
                </a:solidFill>
              </a:defRPr>
            </a:lvl1pPr>
          </a:lstStyle>
          <a:p>
            <a:fld id="{F245EF87-5731-4481-873F-5FDDAF4D38AF}"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75D50731-2B30-7942-23A8-C4B8D2A8EF48}"/>
              </a:ext>
            </a:extLst>
          </p:cNvPr>
          <p:cNvSpPr>
            <a:spLocks noGrp="1"/>
          </p:cNvSpPr>
          <p:nvPr>
            <p:ph type="ftr" sz="quarter" idx="11"/>
          </p:nvPr>
        </p:nvSpPr>
        <p:spPr/>
        <p:txBody>
          <a:bodyPr/>
          <a:lstStyle>
            <a:lvl1pPr>
              <a:defRPr sz="1600">
                <a:solidFill>
                  <a:schemeClr val="bg1"/>
                </a:solidFill>
              </a:defRPr>
            </a:lvl1pPr>
          </a:lstStyle>
          <a:p>
            <a:endParaRPr lang="zh-CN" altLang="en-US" dirty="0"/>
          </a:p>
        </p:txBody>
      </p:sp>
      <p:sp>
        <p:nvSpPr>
          <p:cNvPr id="6" name="灯片编号占位符 5">
            <a:extLst>
              <a:ext uri="{FF2B5EF4-FFF2-40B4-BE49-F238E27FC236}">
                <a16:creationId xmlns:a16="http://schemas.microsoft.com/office/drawing/2014/main" id="{6BBA6F19-6113-1516-9A78-F2F3A16119AE}"/>
              </a:ext>
            </a:extLst>
          </p:cNvPr>
          <p:cNvSpPr>
            <a:spLocks noGrp="1"/>
          </p:cNvSpPr>
          <p:nvPr>
            <p:ph type="sldNum" sz="quarter" idx="12"/>
          </p:nvPr>
        </p:nvSpPr>
        <p:spPr/>
        <p:txBody>
          <a:bodyPr/>
          <a:lstStyle>
            <a:lvl1pPr>
              <a:defRPr sz="1600">
                <a:solidFill>
                  <a:schemeClr val="bg1"/>
                </a:solidFill>
              </a:defRPr>
            </a:lvl1pPr>
          </a:lstStyle>
          <a:p>
            <a:fld id="{101A9F4E-8665-4ACC-B682-573615CDA43F}" type="slidenum">
              <a:rPr lang="zh-CN" altLang="en-US" smtClean="0"/>
              <a:pPr/>
              <a:t>‹#›</a:t>
            </a:fld>
            <a:endParaRPr lang="zh-CN" altLang="en-US" dirty="0"/>
          </a:p>
        </p:txBody>
      </p:sp>
    </p:spTree>
    <p:extLst>
      <p:ext uri="{BB962C8B-B14F-4D97-AF65-F5344CB8AC3E}">
        <p14:creationId xmlns:p14="http://schemas.microsoft.com/office/powerpoint/2010/main" val="29404376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C3672B-E12A-ABCB-02A1-14960397FE8C}"/>
              </a:ext>
            </a:extLst>
          </p:cNvPr>
          <p:cNvSpPr>
            <a:spLocks noGrp="1"/>
          </p:cNvSpPr>
          <p:nvPr>
            <p:ph type="title"/>
          </p:nvPr>
        </p:nvSpPr>
        <p:spPr>
          <a:xfrm>
            <a:off x="766354" y="992035"/>
            <a:ext cx="6487886" cy="749679"/>
          </a:xfrm>
          <a:ln>
            <a:noFill/>
          </a:ln>
        </p:spPr>
        <p:txBody>
          <a:bodyPr>
            <a:noAutofit/>
          </a:bodyPr>
          <a:lstStyle>
            <a:lvl1pPr>
              <a:defRPr sz="3200"/>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EA5B6B15-FE64-4F45-9E7C-0640EEDDFCE1}"/>
              </a:ext>
            </a:extLst>
          </p:cNvPr>
          <p:cNvSpPr>
            <a:spLocks noGrp="1"/>
          </p:cNvSpPr>
          <p:nvPr>
            <p:ph idx="1"/>
          </p:nvPr>
        </p:nvSpPr>
        <p:spPr>
          <a:xfrm>
            <a:off x="766354" y="2155055"/>
            <a:ext cx="10587446" cy="3710910"/>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4E7F6531-FFA6-52F2-173D-D94162895FA6}"/>
              </a:ext>
            </a:extLst>
          </p:cNvPr>
          <p:cNvSpPr>
            <a:spLocks noGrp="1"/>
          </p:cNvSpPr>
          <p:nvPr>
            <p:ph type="dt" sz="half" idx="10"/>
          </p:nvPr>
        </p:nvSpPr>
        <p:spPr/>
        <p:txBody>
          <a:bodyPr/>
          <a:lstStyle>
            <a:lvl1pPr>
              <a:defRPr>
                <a:solidFill>
                  <a:schemeClr val="bg1"/>
                </a:solidFill>
              </a:defRPr>
            </a:lvl1pPr>
          </a:lstStyle>
          <a:p>
            <a:fld id="{99BB882A-010F-439F-A1D3-DB07D954E763}"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8D086A0D-027C-4131-8B23-388D109DA84D}"/>
              </a:ext>
            </a:extLst>
          </p:cNvPr>
          <p:cNvSpPr>
            <a:spLocks noGrp="1"/>
          </p:cNvSpPr>
          <p:nvPr>
            <p:ph type="ftr" sz="quarter" idx="11"/>
          </p:nvPr>
        </p:nvSpPr>
        <p:spPr/>
        <p:txBody>
          <a:bodyPr/>
          <a:lstStyle>
            <a:lvl1pPr>
              <a:defRPr>
                <a:solidFill>
                  <a:schemeClr val="bg1"/>
                </a:solidFill>
              </a:defRPr>
            </a:lvl1pPr>
          </a:lstStyle>
          <a:p>
            <a:endParaRPr lang="zh-CN" altLang="en-US"/>
          </a:p>
        </p:txBody>
      </p:sp>
      <p:sp>
        <p:nvSpPr>
          <p:cNvPr id="6" name="灯片编号占位符 5">
            <a:extLst>
              <a:ext uri="{FF2B5EF4-FFF2-40B4-BE49-F238E27FC236}">
                <a16:creationId xmlns:a16="http://schemas.microsoft.com/office/drawing/2014/main" id="{A8E9BDBB-904E-10E3-F3B1-7CC84C6AF739}"/>
              </a:ext>
            </a:extLst>
          </p:cNvPr>
          <p:cNvSpPr>
            <a:spLocks noGrp="1"/>
          </p:cNvSpPr>
          <p:nvPr>
            <p:ph type="sldNum" sz="quarter" idx="12"/>
          </p:nvPr>
        </p:nvSpPr>
        <p:spPr/>
        <p:txBody>
          <a:bodyPr/>
          <a:lstStyle>
            <a:lvl1pPr>
              <a:defRPr>
                <a:solidFill>
                  <a:schemeClr val="bg1"/>
                </a:solidFill>
              </a:defRPr>
            </a:lvl1pPr>
          </a:lstStyle>
          <a:p>
            <a:fld id="{101A9F4E-8665-4ACC-B682-573615CDA43F}" type="slidenum">
              <a:rPr lang="zh-CN" altLang="en-US" smtClean="0"/>
              <a:pPr/>
              <a:t>‹#›</a:t>
            </a:fld>
            <a:endParaRPr lang="zh-CN" altLang="en-US"/>
          </a:p>
        </p:txBody>
      </p:sp>
    </p:spTree>
    <p:extLst>
      <p:ext uri="{BB962C8B-B14F-4D97-AF65-F5344CB8AC3E}">
        <p14:creationId xmlns:p14="http://schemas.microsoft.com/office/powerpoint/2010/main" val="20963817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39DA65-209C-9A2E-CF1C-10CB2D5100D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75BE3B1-223A-16A7-095F-C9B75D0A5D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F965740-2EAA-2960-F4CF-E60CE2827E0E}"/>
              </a:ext>
            </a:extLst>
          </p:cNvPr>
          <p:cNvSpPr>
            <a:spLocks noGrp="1"/>
          </p:cNvSpPr>
          <p:nvPr>
            <p:ph type="dt" sz="half" idx="10"/>
          </p:nvPr>
        </p:nvSpPr>
        <p:spPr/>
        <p:txBody>
          <a:bodyPr/>
          <a:lstStyle/>
          <a:p>
            <a:fld id="{530D202B-2F72-4FF8-81FE-3469EEE966F1}"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8C7E115E-B38F-3197-D0F9-CF653EF6DF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449B48A-EFFC-916F-420A-1DC1902678BE}"/>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18667827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46F005-B1C1-130F-89C2-CCFA8AF9C27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4496B9E-E7C8-5590-8765-6193F86FEFC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E194B28-09EC-3DB6-C205-6C180AB0A13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82BE49B-7347-9BE9-1056-1C2B995F699F}"/>
              </a:ext>
            </a:extLst>
          </p:cNvPr>
          <p:cNvSpPr>
            <a:spLocks noGrp="1"/>
          </p:cNvSpPr>
          <p:nvPr>
            <p:ph type="dt" sz="half" idx="10"/>
          </p:nvPr>
        </p:nvSpPr>
        <p:spPr/>
        <p:txBody>
          <a:bodyPr/>
          <a:lstStyle/>
          <a:p>
            <a:fld id="{987BCBF8-E591-433B-927D-41241227C587}" type="datetime1">
              <a:rPr lang="zh-CN" altLang="en-US" smtClean="0"/>
              <a:t>2023-06-01</a:t>
            </a:fld>
            <a:endParaRPr lang="zh-CN" altLang="en-US"/>
          </a:p>
        </p:txBody>
      </p:sp>
      <p:sp>
        <p:nvSpPr>
          <p:cNvPr id="6" name="页脚占位符 5">
            <a:extLst>
              <a:ext uri="{FF2B5EF4-FFF2-40B4-BE49-F238E27FC236}">
                <a16:creationId xmlns:a16="http://schemas.microsoft.com/office/drawing/2014/main" id="{47C46CF1-A6DD-91EF-44BA-C640689B31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E403AC0-4156-77EF-A828-5B18FC5C9988}"/>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31190419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346987-1370-7C3F-510D-BE69B4D529F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FCD42A5-6687-B131-65E4-A6FCFF78B9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73C9D02-C55C-90B8-BE17-F4A510E86D6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CAA2DF9-1CA5-7189-970F-63FAAB5436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0A5434F-25CE-A3FB-72E5-37040366ABB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9A11ACD-2D4D-7663-4A3A-41BA745995B5}"/>
              </a:ext>
            </a:extLst>
          </p:cNvPr>
          <p:cNvSpPr>
            <a:spLocks noGrp="1"/>
          </p:cNvSpPr>
          <p:nvPr>
            <p:ph type="dt" sz="half" idx="10"/>
          </p:nvPr>
        </p:nvSpPr>
        <p:spPr/>
        <p:txBody>
          <a:bodyPr/>
          <a:lstStyle/>
          <a:p>
            <a:fld id="{118DED2C-7313-4E70-A4BA-3D52F1FD4078}" type="datetime1">
              <a:rPr lang="zh-CN" altLang="en-US" smtClean="0"/>
              <a:t>2023-06-01</a:t>
            </a:fld>
            <a:endParaRPr lang="zh-CN" altLang="en-US"/>
          </a:p>
        </p:txBody>
      </p:sp>
      <p:sp>
        <p:nvSpPr>
          <p:cNvPr id="8" name="页脚占位符 7">
            <a:extLst>
              <a:ext uri="{FF2B5EF4-FFF2-40B4-BE49-F238E27FC236}">
                <a16:creationId xmlns:a16="http://schemas.microsoft.com/office/drawing/2014/main" id="{5BFA2D37-35CE-5C10-8D0D-D4B6D64947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960E776-E4A0-EA86-E668-16516A13C9F2}"/>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17840309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DEEC7C-363D-BAAD-444D-D5827603731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CF4FDAF-D638-56CC-A43D-3F682C5E5A38}"/>
              </a:ext>
            </a:extLst>
          </p:cNvPr>
          <p:cNvSpPr>
            <a:spLocks noGrp="1"/>
          </p:cNvSpPr>
          <p:nvPr>
            <p:ph type="dt" sz="half" idx="10"/>
          </p:nvPr>
        </p:nvSpPr>
        <p:spPr/>
        <p:txBody>
          <a:bodyPr/>
          <a:lstStyle/>
          <a:p>
            <a:fld id="{16D6B56E-C7CF-442C-ADAD-17FE0B565EC4}" type="datetime1">
              <a:rPr lang="zh-CN" altLang="en-US" smtClean="0"/>
              <a:t>2023-06-01</a:t>
            </a:fld>
            <a:endParaRPr lang="zh-CN" altLang="en-US"/>
          </a:p>
        </p:txBody>
      </p:sp>
      <p:sp>
        <p:nvSpPr>
          <p:cNvPr id="4" name="页脚占位符 3">
            <a:extLst>
              <a:ext uri="{FF2B5EF4-FFF2-40B4-BE49-F238E27FC236}">
                <a16:creationId xmlns:a16="http://schemas.microsoft.com/office/drawing/2014/main" id="{AB9DF4F0-1EAA-E6A7-C4DE-FCB29393C8F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CEEDBFA-E651-2780-E918-21FC44913538}"/>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6373465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FE71373-07F5-9C63-DE61-859BA01B4E15}"/>
              </a:ext>
            </a:extLst>
          </p:cNvPr>
          <p:cNvSpPr>
            <a:spLocks noGrp="1"/>
          </p:cNvSpPr>
          <p:nvPr>
            <p:ph type="dt" sz="half" idx="10"/>
          </p:nvPr>
        </p:nvSpPr>
        <p:spPr/>
        <p:txBody>
          <a:bodyPr/>
          <a:lstStyle/>
          <a:p>
            <a:fld id="{99E01347-A854-4AB2-8B92-93CAFE9B2E8F}" type="datetime1">
              <a:rPr lang="zh-CN" altLang="en-US" smtClean="0"/>
              <a:t>2023-06-01</a:t>
            </a:fld>
            <a:endParaRPr lang="zh-CN" altLang="en-US"/>
          </a:p>
        </p:txBody>
      </p:sp>
      <p:sp>
        <p:nvSpPr>
          <p:cNvPr id="3" name="页脚占位符 2">
            <a:extLst>
              <a:ext uri="{FF2B5EF4-FFF2-40B4-BE49-F238E27FC236}">
                <a16:creationId xmlns:a16="http://schemas.microsoft.com/office/drawing/2014/main" id="{9141011A-7412-AD01-D7F9-834C01FD09F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E17EB46-9C04-0042-479C-C79F0C1EC399}"/>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3050986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3EF72C-1863-1E4A-7E30-2F3809F7586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8C6A6B3-98B1-B2B1-FDAC-227C05E49E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70E3D38-6D9D-20D0-B740-3B675F3AC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B491941-503D-0CC1-E491-3DB1AF18F149}"/>
              </a:ext>
            </a:extLst>
          </p:cNvPr>
          <p:cNvSpPr>
            <a:spLocks noGrp="1"/>
          </p:cNvSpPr>
          <p:nvPr>
            <p:ph type="dt" sz="half" idx="10"/>
          </p:nvPr>
        </p:nvSpPr>
        <p:spPr/>
        <p:txBody>
          <a:bodyPr/>
          <a:lstStyle/>
          <a:p>
            <a:fld id="{E53A198C-D13D-4658-A903-DF855C411F54}" type="datetime1">
              <a:rPr lang="zh-CN" altLang="en-US" smtClean="0"/>
              <a:t>2023-06-01</a:t>
            </a:fld>
            <a:endParaRPr lang="zh-CN" altLang="en-US"/>
          </a:p>
        </p:txBody>
      </p:sp>
      <p:sp>
        <p:nvSpPr>
          <p:cNvPr id="6" name="页脚占位符 5">
            <a:extLst>
              <a:ext uri="{FF2B5EF4-FFF2-40B4-BE49-F238E27FC236}">
                <a16:creationId xmlns:a16="http://schemas.microsoft.com/office/drawing/2014/main" id="{85932AA7-2463-5494-C582-1C41FA4023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CCB800D-17D4-56E1-7802-633D6C5C01EB}"/>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39404131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00E419-C220-3D92-E08F-028E395999F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9CC54AA-E17D-7AF2-841E-C234D00542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1BFFE65-F344-DEE3-A96B-6D7E97420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3151268-C1F1-5BE6-5402-768BC04E31D6}"/>
              </a:ext>
            </a:extLst>
          </p:cNvPr>
          <p:cNvSpPr>
            <a:spLocks noGrp="1"/>
          </p:cNvSpPr>
          <p:nvPr>
            <p:ph type="dt" sz="half" idx="10"/>
          </p:nvPr>
        </p:nvSpPr>
        <p:spPr/>
        <p:txBody>
          <a:bodyPr/>
          <a:lstStyle/>
          <a:p>
            <a:fld id="{4A1EAD0A-FC64-4529-9668-7E7B94EC860B}" type="datetime1">
              <a:rPr lang="zh-CN" altLang="en-US" smtClean="0"/>
              <a:t>2023-06-01</a:t>
            </a:fld>
            <a:endParaRPr lang="zh-CN" altLang="en-US"/>
          </a:p>
        </p:txBody>
      </p:sp>
      <p:sp>
        <p:nvSpPr>
          <p:cNvPr id="6" name="页脚占位符 5">
            <a:extLst>
              <a:ext uri="{FF2B5EF4-FFF2-40B4-BE49-F238E27FC236}">
                <a16:creationId xmlns:a16="http://schemas.microsoft.com/office/drawing/2014/main" id="{4E982BCE-A28E-ED7D-A508-70B31EAD641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B6BCE5C-17C8-9324-1F72-E2B26157CED9}"/>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203738992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C99D9C-44B6-84B7-DF6F-6F9772C6F9B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0B7F737-4842-61FD-79E3-D78ECD8D0EC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DBF9DBE-3418-58CC-0D4D-780082F17ED9}"/>
              </a:ext>
            </a:extLst>
          </p:cNvPr>
          <p:cNvSpPr>
            <a:spLocks noGrp="1"/>
          </p:cNvSpPr>
          <p:nvPr>
            <p:ph type="dt" sz="half" idx="10"/>
          </p:nvPr>
        </p:nvSpPr>
        <p:spPr/>
        <p:txBody>
          <a:bodyPr/>
          <a:lstStyle/>
          <a:p>
            <a:fld id="{4D8DC78F-C255-4653-A5FD-094613A4584B}"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DCA3A609-66EB-B9D3-6EB4-B2FE7FB93CB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E19ADCF-978B-A73B-2D64-13672E2A7FF2}"/>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3469356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ABFCB85-2B9B-0DEB-87F6-D35CD36C4C0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EBD105E-385B-66F7-17DA-EBEB38FFF39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EE73072-0D91-D0C1-47F1-AE1670C1D0BC}"/>
              </a:ext>
            </a:extLst>
          </p:cNvPr>
          <p:cNvSpPr>
            <a:spLocks noGrp="1"/>
          </p:cNvSpPr>
          <p:nvPr>
            <p:ph type="dt" sz="half" idx="10"/>
          </p:nvPr>
        </p:nvSpPr>
        <p:spPr/>
        <p:txBody>
          <a:bodyPr/>
          <a:lstStyle/>
          <a:p>
            <a:fld id="{EA416337-5ECC-4694-8461-67F4C1AC7925}"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FE378809-9295-12BC-8E14-7FEAB864A6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F5AA57C-BD75-32D9-30FB-2399B88BD28D}"/>
              </a:ext>
            </a:extLst>
          </p:cNvPr>
          <p:cNvSpPr>
            <a:spLocks noGrp="1"/>
          </p:cNvSpPr>
          <p:nvPr>
            <p:ph type="sldNum" sz="quarter" idx="12"/>
          </p:nvPr>
        </p:nvSpPr>
        <p:spPr/>
        <p:txBody>
          <a:bodyPr/>
          <a:lstStyle/>
          <a:p>
            <a:fld id="{101A9F4E-8665-4ACC-B682-573615CDA43F}" type="slidenum">
              <a:rPr lang="zh-CN" altLang="en-US" smtClean="0"/>
              <a:t>‹#›</a:t>
            </a:fld>
            <a:endParaRPr lang="zh-CN" altLang="en-US"/>
          </a:p>
        </p:txBody>
      </p:sp>
    </p:spTree>
    <p:extLst>
      <p:ext uri="{BB962C8B-B14F-4D97-AF65-F5344CB8AC3E}">
        <p14:creationId xmlns:p14="http://schemas.microsoft.com/office/powerpoint/2010/main" val="776961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5444435E-8CD2-934D-89C4-7D1E98CB638D}"/>
              </a:ext>
            </a:extLst>
          </p:cNvPr>
          <p:cNvSpPr/>
          <p:nvPr userDrawn="1"/>
        </p:nvSpPr>
        <p:spPr>
          <a:xfrm>
            <a:off x="0" y="6217920"/>
            <a:ext cx="12192000" cy="640080"/>
          </a:xfrm>
          <a:prstGeom prst="rect">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标题占位符 1">
            <a:extLst>
              <a:ext uri="{FF2B5EF4-FFF2-40B4-BE49-F238E27FC236}">
                <a16:creationId xmlns:a16="http://schemas.microsoft.com/office/drawing/2014/main" id="{80E68E73-6139-77C3-9CA5-837A67C79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95B135E-AEAF-8E7D-762D-8B6B68F8B25B}"/>
              </a:ext>
            </a:extLst>
          </p:cNvPr>
          <p:cNvSpPr>
            <a:spLocks noGrp="1"/>
          </p:cNvSpPr>
          <p:nvPr>
            <p:ph type="body" idx="1"/>
          </p:nvPr>
        </p:nvSpPr>
        <p:spPr>
          <a:xfrm>
            <a:off x="838200" y="2403565"/>
            <a:ext cx="10515600" cy="377339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8DA5681-4104-628F-7630-7C2537FA40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b="0">
                <a:solidFill>
                  <a:schemeClr val="bg1"/>
                </a:solidFill>
                <a:latin typeface="Times New Roman" panose="02020603050405020304" pitchFamily="18" charset="0"/>
                <a:ea typeface="楷体" panose="02010609060101010101" pitchFamily="49" charset="-122"/>
                <a:cs typeface="Times New Roman" panose="02020603050405020304" pitchFamily="18" charset="0"/>
              </a:defRPr>
            </a:lvl1pPr>
          </a:lstStyle>
          <a:p>
            <a:fld id="{52DC79E0-E795-4797-AC9F-37D620F9FACB}" type="datetime1">
              <a:rPr lang="zh-CN" altLang="en-US" smtClean="0"/>
              <a:pPr/>
              <a:t>2023-06-01</a:t>
            </a:fld>
            <a:endParaRPr lang="zh-CN" altLang="en-US"/>
          </a:p>
        </p:txBody>
      </p:sp>
      <p:sp>
        <p:nvSpPr>
          <p:cNvPr id="5" name="页脚占位符 4">
            <a:extLst>
              <a:ext uri="{FF2B5EF4-FFF2-40B4-BE49-F238E27FC236}">
                <a16:creationId xmlns:a16="http://schemas.microsoft.com/office/drawing/2014/main" id="{E93B6794-CFBF-61E4-116C-1926A29490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ea typeface="楷体" panose="02010609060101010101" pitchFamily="49" charset="-122"/>
                <a:cs typeface="Times New Roman" panose="02020603050405020304" pitchFamily="18" charset="0"/>
              </a:defRPr>
            </a:lvl1pPr>
          </a:lstStyle>
          <a:p>
            <a:endParaRPr lang="zh-CN" altLang="en-US"/>
          </a:p>
        </p:txBody>
      </p:sp>
      <p:sp>
        <p:nvSpPr>
          <p:cNvPr id="6" name="灯片编号占位符 5">
            <a:extLst>
              <a:ext uri="{FF2B5EF4-FFF2-40B4-BE49-F238E27FC236}">
                <a16:creationId xmlns:a16="http://schemas.microsoft.com/office/drawing/2014/main" id="{4C7C55A9-CE53-8E14-B057-E06AA52042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b="0">
                <a:solidFill>
                  <a:schemeClr val="bg1"/>
                </a:solidFill>
                <a:latin typeface="Times New Roman" panose="02020603050405020304" pitchFamily="18" charset="0"/>
                <a:ea typeface="楷体" panose="02010609060101010101" pitchFamily="49" charset="-122"/>
                <a:cs typeface="Times New Roman" panose="02020603050405020304" pitchFamily="18" charset="0"/>
              </a:defRPr>
            </a:lvl1pPr>
          </a:lstStyle>
          <a:p>
            <a:fld id="{A290DF1A-1B4B-4FE9-B9C1-10AC9C5D423D}" type="slidenum">
              <a:rPr lang="zh-CN" altLang="en-US" smtClean="0"/>
              <a:pPr/>
              <a:t>‹#›</a:t>
            </a:fld>
            <a:endParaRPr lang="zh-CN" altLang="en-US"/>
          </a:p>
        </p:txBody>
      </p:sp>
      <p:pic>
        <p:nvPicPr>
          <p:cNvPr id="7" name="Picture 6">
            <a:extLst>
              <a:ext uri="{FF2B5EF4-FFF2-40B4-BE49-F238E27FC236}">
                <a16:creationId xmlns:a16="http://schemas.microsoft.com/office/drawing/2014/main" id="{EA5263C8-35B2-4724-F751-6761FA4BECE9}"/>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9248503" y="228600"/>
            <a:ext cx="2769324" cy="676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7435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B5E343E1-360D-8EEE-7D33-8C4E88556C16}"/>
              </a:ext>
            </a:extLst>
          </p:cNvPr>
          <p:cNvSpPr/>
          <p:nvPr userDrawn="1"/>
        </p:nvSpPr>
        <p:spPr>
          <a:xfrm>
            <a:off x="0" y="6217920"/>
            <a:ext cx="12192000" cy="640080"/>
          </a:xfrm>
          <a:prstGeom prst="rect">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标题占位符 1">
            <a:extLst>
              <a:ext uri="{FF2B5EF4-FFF2-40B4-BE49-F238E27FC236}">
                <a16:creationId xmlns:a16="http://schemas.microsoft.com/office/drawing/2014/main" id="{135928C4-B217-F3E3-A748-F502A5D9A46E}"/>
              </a:ext>
            </a:extLst>
          </p:cNvPr>
          <p:cNvSpPr>
            <a:spLocks noGrp="1"/>
          </p:cNvSpPr>
          <p:nvPr>
            <p:ph type="title"/>
          </p:nvPr>
        </p:nvSpPr>
        <p:spPr>
          <a:xfrm>
            <a:off x="838200" y="1103907"/>
            <a:ext cx="6999514" cy="933899"/>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26DA8F9-DF75-0015-A1DC-C0DFBA7AA501}"/>
              </a:ext>
            </a:extLst>
          </p:cNvPr>
          <p:cNvSpPr>
            <a:spLocks noGrp="1"/>
          </p:cNvSpPr>
          <p:nvPr>
            <p:ph type="body" idx="1"/>
          </p:nvPr>
        </p:nvSpPr>
        <p:spPr>
          <a:xfrm>
            <a:off x="838200" y="2366554"/>
            <a:ext cx="10515600" cy="338753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A767F03-89B2-E2E9-AFBA-FB1D267959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bg1"/>
                </a:solidFill>
              </a:defRPr>
            </a:lvl1pPr>
          </a:lstStyle>
          <a:p>
            <a:fld id="{0776EED4-D777-4390-B911-FA13E0EBF382}"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EB8C498B-C89E-42B3-9DC6-6FC26F8BFA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bg1"/>
                </a:solidFill>
              </a:defRPr>
            </a:lvl1pPr>
          </a:lstStyle>
          <a:p>
            <a:endParaRPr lang="zh-CN" altLang="en-US" dirty="0"/>
          </a:p>
        </p:txBody>
      </p:sp>
      <p:sp>
        <p:nvSpPr>
          <p:cNvPr id="6" name="灯片编号占位符 5">
            <a:extLst>
              <a:ext uri="{FF2B5EF4-FFF2-40B4-BE49-F238E27FC236}">
                <a16:creationId xmlns:a16="http://schemas.microsoft.com/office/drawing/2014/main" id="{2E047CFF-8B80-63BA-DA0C-82620C9E78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bg1"/>
                </a:solidFill>
              </a:defRPr>
            </a:lvl1pPr>
          </a:lstStyle>
          <a:p>
            <a:fld id="{101A9F4E-8665-4ACC-B682-573615CDA43F}" type="slidenum">
              <a:rPr lang="zh-CN" altLang="en-US" smtClean="0"/>
              <a:pPr/>
              <a:t>‹#›</a:t>
            </a:fld>
            <a:endParaRPr lang="zh-CN" altLang="en-US"/>
          </a:p>
        </p:txBody>
      </p:sp>
      <p:pic>
        <p:nvPicPr>
          <p:cNvPr id="7" name="Picture 6">
            <a:extLst>
              <a:ext uri="{FF2B5EF4-FFF2-40B4-BE49-F238E27FC236}">
                <a16:creationId xmlns:a16="http://schemas.microsoft.com/office/drawing/2014/main" id="{255F0F65-ED31-5AAC-1667-83DCF37F9117}"/>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65464" y="160033"/>
            <a:ext cx="2769324" cy="676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4852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B5E343E1-360D-8EEE-7D33-8C4E88556C16}"/>
              </a:ext>
            </a:extLst>
          </p:cNvPr>
          <p:cNvSpPr/>
          <p:nvPr userDrawn="1"/>
        </p:nvSpPr>
        <p:spPr>
          <a:xfrm>
            <a:off x="0" y="6217920"/>
            <a:ext cx="12192000" cy="640080"/>
          </a:xfrm>
          <a:prstGeom prst="rect">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标题占位符 1">
            <a:extLst>
              <a:ext uri="{FF2B5EF4-FFF2-40B4-BE49-F238E27FC236}">
                <a16:creationId xmlns:a16="http://schemas.microsoft.com/office/drawing/2014/main" id="{135928C4-B217-F3E3-A748-F502A5D9A46E}"/>
              </a:ext>
            </a:extLst>
          </p:cNvPr>
          <p:cNvSpPr>
            <a:spLocks noGrp="1"/>
          </p:cNvSpPr>
          <p:nvPr>
            <p:ph type="title"/>
          </p:nvPr>
        </p:nvSpPr>
        <p:spPr>
          <a:xfrm>
            <a:off x="838200" y="1103907"/>
            <a:ext cx="6999514" cy="933899"/>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26DA8F9-DF75-0015-A1DC-C0DFBA7AA501}"/>
              </a:ext>
            </a:extLst>
          </p:cNvPr>
          <p:cNvSpPr>
            <a:spLocks noGrp="1"/>
          </p:cNvSpPr>
          <p:nvPr>
            <p:ph type="body" idx="1"/>
          </p:nvPr>
        </p:nvSpPr>
        <p:spPr>
          <a:xfrm>
            <a:off x="838200" y="2366554"/>
            <a:ext cx="10515600" cy="338753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A767F03-89B2-E2E9-AFBA-FB1D267959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bg1"/>
                </a:solidFill>
              </a:defRPr>
            </a:lvl1pPr>
          </a:lstStyle>
          <a:p>
            <a:fld id="{63B52F51-09FB-4EF2-B829-57D93BA32498}"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EB8C498B-C89E-42B3-9DC6-6FC26F8BFA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bg1"/>
                </a:solidFill>
              </a:defRPr>
            </a:lvl1pPr>
          </a:lstStyle>
          <a:p>
            <a:endParaRPr lang="zh-CN" altLang="en-US" dirty="0"/>
          </a:p>
        </p:txBody>
      </p:sp>
      <p:sp>
        <p:nvSpPr>
          <p:cNvPr id="6" name="灯片编号占位符 5">
            <a:extLst>
              <a:ext uri="{FF2B5EF4-FFF2-40B4-BE49-F238E27FC236}">
                <a16:creationId xmlns:a16="http://schemas.microsoft.com/office/drawing/2014/main" id="{2E047CFF-8B80-63BA-DA0C-82620C9E78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bg1"/>
                </a:solidFill>
              </a:defRPr>
            </a:lvl1pPr>
          </a:lstStyle>
          <a:p>
            <a:fld id="{101A9F4E-8665-4ACC-B682-573615CDA43F}" type="slidenum">
              <a:rPr lang="zh-CN" altLang="en-US" smtClean="0"/>
              <a:pPr/>
              <a:t>‹#›</a:t>
            </a:fld>
            <a:endParaRPr lang="zh-CN" altLang="en-US"/>
          </a:p>
        </p:txBody>
      </p:sp>
      <p:pic>
        <p:nvPicPr>
          <p:cNvPr id="7" name="Picture 6">
            <a:extLst>
              <a:ext uri="{FF2B5EF4-FFF2-40B4-BE49-F238E27FC236}">
                <a16:creationId xmlns:a16="http://schemas.microsoft.com/office/drawing/2014/main" id="{255F0F65-ED31-5AAC-1667-83DCF37F9117}"/>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65464" y="160033"/>
            <a:ext cx="2769324" cy="676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28522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B5E343E1-360D-8EEE-7D33-8C4E88556C16}"/>
              </a:ext>
            </a:extLst>
          </p:cNvPr>
          <p:cNvSpPr/>
          <p:nvPr userDrawn="1"/>
        </p:nvSpPr>
        <p:spPr>
          <a:xfrm>
            <a:off x="0" y="6217920"/>
            <a:ext cx="12192000" cy="640080"/>
          </a:xfrm>
          <a:prstGeom prst="rect">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标题占位符 1">
            <a:extLst>
              <a:ext uri="{FF2B5EF4-FFF2-40B4-BE49-F238E27FC236}">
                <a16:creationId xmlns:a16="http://schemas.microsoft.com/office/drawing/2014/main" id="{135928C4-B217-F3E3-A748-F502A5D9A46E}"/>
              </a:ext>
            </a:extLst>
          </p:cNvPr>
          <p:cNvSpPr>
            <a:spLocks noGrp="1"/>
          </p:cNvSpPr>
          <p:nvPr>
            <p:ph type="title"/>
          </p:nvPr>
        </p:nvSpPr>
        <p:spPr>
          <a:xfrm>
            <a:off x="838200" y="1103907"/>
            <a:ext cx="6999514" cy="933899"/>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26DA8F9-DF75-0015-A1DC-C0DFBA7AA501}"/>
              </a:ext>
            </a:extLst>
          </p:cNvPr>
          <p:cNvSpPr>
            <a:spLocks noGrp="1"/>
          </p:cNvSpPr>
          <p:nvPr>
            <p:ph type="body" idx="1"/>
          </p:nvPr>
        </p:nvSpPr>
        <p:spPr>
          <a:xfrm>
            <a:off x="838200" y="2366554"/>
            <a:ext cx="10515600" cy="338753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A767F03-89B2-E2E9-AFBA-FB1D267959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bg1"/>
                </a:solidFill>
              </a:defRPr>
            </a:lvl1pPr>
          </a:lstStyle>
          <a:p>
            <a:fld id="{E4911B06-C849-4461-80E0-8067EB353D99}" type="datetime1">
              <a:rPr lang="zh-CN" altLang="en-US" smtClean="0"/>
              <a:t>2023-06-01</a:t>
            </a:fld>
            <a:endParaRPr lang="zh-CN" altLang="en-US"/>
          </a:p>
        </p:txBody>
      </p:sp>
      <p:sp>
        <p:nvSpPr>
          <p:cNvPr id="5" name="页脚占位符 4">
            <a:extLst>
              <a:ext uri="{FF2B5EF4-FFF2-40B4-BE49-F238E27FC236}">
                <a16:creationId xmlns:a16="http://schemas.microsoft.com/office/drawing/2014/main" id="{EB8C498B-C89E-42B3-9DC6-6FC26F8BFA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bg1"/>
                </a:solidFill>
              </a:defRPr>
            </a:lvl1pPr>
          </a:lstStyle>
          <a:p>
            <a:endParaRPr lang="zh-CN" altLang="en-US" dirty="0"/>
          </a:p>
        </p:txBody>
      </p:sp>
      <p:sp>
        <p:nvSpPr>
          <p:cNvPr id="6" name="灯片编号占位符 5">
            <a:extLst>
              <a:ext uri="{FF2B5EF4-FFF2-40B4-BE49-F238E27FC236}">
                <a16:creationId xmlns:a16="http://schemas.microsoft.com/office/drawing/2014/main" id="{2E047CFF-8B80-63BA-DA0C-82620C9E78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bg1"/>
                </a:solidFill>
              </a:defRPr>
            </a:lvl1pPr>
          </a:lstStyle>
          <a:p>
            <a:fld id="{101A9F4E-8665-4ACC-B682-573615CDA43F}" type="slidenum">
              <a:rPr lang="zh-CN" altLang="en-US" smtClean="0"/>
              <a:pPr/>
              <a:t>‹#›</a:t>
            </a:fld>
            <a:endParaRPr lang="zh-CN" altLang="en-US"/>
          </a:p>
        </p:txBody>
      </p:sp>
      <p:pic>
        <p:nvPicPr>
          <p:cNvPr id="7" name="Picture 6">
            <a:extLst>
              <a:ext uri="{FF2B5EF4-FFF2-40B4-BE49-F238E27FC236}">
                <a16:creationId xmlns:a16="http://schemas.microsoft.com/office/drawing/2014/main" id="{255F0F65-ED31-5AAC-1667-83DCF37F9117}"/>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65464" y="160033"/>
            <a:ext cx="2769324" cy="676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63717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1.bin"/><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8.png"/><Relationship Id="rId7" Type="http://schemas.openxmlformats.org/officeDocument/2006/relationships/image" Target="../media/image10.w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9.wmf"/><Relationship Id="rId4" Type="http://schemas.openxmlformats.org/officeDocument/2006/relationships/oleObject" Target="../embeddings/oleObject4.bin"/><Relationship Id="rId9" Type="http://schemas.openxmlformats.org/officeDocument/2006/relationships/image" Target="../media/image11.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8.bin"/><Relationship Id="rId4" Type="http://schemas.openxmlformats.org/officeDocument/2006/relationships/image" Target="../media/image12.wmf"/></Relationships>
</file>

<file path=ppt/slides/_rels/slide9.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5.bin"/><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19.wmf"/><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6.wmf"/><Relationship Id="rId11" Type="http://schemas.openxmlformats.org/officeDocument/2006/relationships/oleObject" Target="../embeddings/oleObject14.bin"/><Relationship Id="rId5" Type="http://schemas.openxmlformats.org/officeDocument/2006/relationships/oleObject" Target="../embeddings/oleObject11.bin"/><Relationship Id="rId15" Type="http://schemas.openxmlformats.org/officeDocument/2006/relationships/oleObject" Target="../embeddings/oleObject16.bin"/><Relationship Id="rId10" Type="http://schemas.openxmlformats.org/officeDocument/2006/relationships/image" Target="../media/image18.wmf"/><Relationship Id="rId4" Type="http://schemas.openxmlformats.org/officeDocument/2006/relationships/image" Target="../media/image6.wmf"/><Relationship Id="rId9" Type="http://schemas.openxmlformats.org/officeDocument/2006/relationships/oleObject" Target="../embeddings/oleObject13.bin"/><Relationship Id="rId14" Type="http://schemas.openxmlformats.org/officeDocument/2006/relationships/image" Target="../media/image20.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21.wmf"/><Relationship Id="rId7" Type="http://schemas.openxmlformats.org/officeDocument/2006/relationships/image" Target="../media/image23.wmf"/><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5" Type="http://schemas.openxmlformats.org/officeDocument/2006/relationships/image" Target="../media/image22.wmf"/><Relationship Id="rId4" Type="http://schemas.openxmlformats.org/officeDocument/2006/relationships/oleObject" Target="../embeddings/oleObject18.bin"/><Relationship Id="rId9" Type="http://schemas.openxmlformats.org/officeDocument/2006/relationships/image" Target="../media/image24.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22.bin"/><Relationship Id="rId4" Type="http://schemas.openxmlformats.org/officeDocument/2006/relationships/image" Target="../media/image25.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27.wmf"/><Relationship Id="rId7" Type="http://schemas.openxmlformats.org/officeDocument/2006/relationships/image" Target="../media/image26.wmf"/><Relationship Id="rId2"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oleObject" Target="../embeddings/oleObject25.bin"/><Relationship Id="rId11" Type="http://schemas.openxmlformats.org/officeDocument/2006/relationships/image" Target="../media/image30.wmf"/><Relationship Id="rId5" Type="http://schemas.openxmlformats.org/officeDocument/2006/relationships/image" Target="../media/image28.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29.wmf"/></Relationships>
</file>

<file path=ppt/slides/_rels/slide14.xml.rels><?xml version="1.0" encoding="UTF-8" standalone="yes"?>
<Relationships xmlns="http://schemas.openxmlformats.org/package/2006/relationships"><Relationship Id="rId3" Type="http://schemas.openxmlformats.org/officeDocument/2006/relationships/image" Target="../media/image31.wmf"/><Relationship Id="rId7" Type="http://schemas.openxmlformats.org/officeDocument/2006/relationships/image" Target="../media/image30.wmf"/><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27.bin"/><Relationship Id="rId5" Type="http://schemas.openxmlformats.org/officeDocument/2006/relationships/image" Target="../media/image32.wmf"/><Relationship Id="rId4" Type="http://schemas.openxmlformats.org/officeDocument/2006/relationships/oleObject" Target="../embeddings/oleObject29.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image" Target="../media/image31.wmf"/><Relationship Id="rId7" Type="http://schemas.openxmlformats.org/officeDocument/2006/relationships/image" Target="../media/image34.wmf"/><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31.bin"/><Relationship Id="rId5" Type="http://schemas.openxmlformats.org/officeDocument/2006/relationships/image" Target="../media/image33.wmf"/><Relationship Id="rId4" Type="http://schemas.openxmlformats.org/officeDocument/2006/relationships/oleObject" Target="../embeddings/oleObject30.bin"/><Relationship Id="rId9" Type="http://schemas.openxmlformats.org/officeDocument/2006/relationships/image" Target="../media/image35.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6.bin"/><Relationship Id="rId13" Type="http://schemas.openxmlformats.org/officeDocument/2006/relationships/image" Target="../media/image40.wmf"/><Relationship Id="rId3" Type="http://schemas.openxmlformats.org/officeDocument/2006/relationships/image" Target="../media/image33.wmf"/><Relationship Id="rId7" Type="http://schemas.openxmlformats.org/officeDocument/2006/relationships/image" Target="../media/image37.wmf"/><Relationship Id="rId12" Type="http://schemas.openxmlformats.org/officeDocument/2006/relationships/oleObject" Target="../embeddings/oleObject38.bin"/><Relationship Id="rId2" Type="http://schemas.openxmlformats.org/officeDocument/2006/relationships/oleObject" Target="../embeddings/oleObject33.bin"/><Relationship Id="rId1" Type="http://schemas.openxmlformats.org/officeDocument/2006/relationships/slideLayout" Target="../slideLayouts/slideLayout2.xml"/><Relationship Id="rId6" Type="http://schemas.openxmlformats.org/officeDocument/2006/relationships/oleObject" Target="../embeddings/oleObject35.bin"/><Relationship Id="rId11" Type="http://schemas.openxmlformats.org/officeDocument/2006/relationships/image" Target="../media/image39.wmf"/><Relationship Id="rId5" Type="http://schemas.openxmlformats.org/officeDocument/2006/relationships/image" Target="../media/image36.wmf"/><Relationship Id="rId15" Type="http://schemas.openxmlformats.org/officeDocument/2006/relationships/image" Target="../media/image41.wmf"/><Relationship Id="rId10" Type="http://schemas.openxmlformats.org/officeDocument/2006/relationships/oleObject" Target="../embeddings/oleObject37.bin"/><Relationship Id="rId4" Type="http://schemas.openxmlformats.org/officeDocument/2006/relationships/oleObject" Target="../embeddings/oleObject34.bin"/><Relationship Id="rId9" Type="http://schemas.openxmlformats.org/officeDocument/2006/relationships/image" Target="../media/image38.wmf"/><Relationship Id="rId14" Type="http://schemas.openxmlformats.org/officeDocument/2006/relationships/oleObject" Target="../embeddings/oleObject39.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47.wmf"/><Relationship Id="rId3" Type="http://schemas.openxmlformats.org/officeDocument/2006/relationships/image" Target="../media/image42.wmf"/><Relationship Id="rId7" Type="http://schemas.openxmlformats.org/officeDocument/2006/relationships/image" Target="../media/image44.wmf"/><Relationship Id="rId12" Type="http://schemas.openxmlformats.org/officeDocument/2006/relationships/oleObject" Target="../embeddings/oleObject45.bin"/><Relationship Id="rId17" Type="http://schemas.openxmlformats.org/officeDocument/2006/relationships/image" Target="../media/image49.wmf"/><Relationship Id="rId2" Type="http://schemas.openxmlformats.org/officeDocument/2006/relationships/oleObject" Target="../embeddings/oleObject40.bin"/><Relationship Id="rId16"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oleObject" Target="../embeddings/oleObject42.bin"/><Relationship Id="rId11" Type="http://schemas.openxmlformats.org/officeDocument/2006/relationships/image" Target="../media/image46.wmf"/><Relationship Id="rId5" Type="http://schemas.openxmlformats.org/officeDocument/2006/relationships/image" Target="../media/image43.wmf"/><Relationship Id="rId15" Type="http://schemas.openxmlformats.org/officeDocument/2006/relationships/image" Target="../media/image48.w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45.wmf"/><Relationship Id="rId14" Type="http://schemas.openxmlformats.org/officeDocument/2006/relationships/oleObject" Target="../embeddings/oleObject46.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A6662D-FB78-9A9E-0F4A-81EEE71E2315}"/>
              </a:ext>
            </a:extLst>
          </p:cNvPr>
          <p:cNvSpPr>
            <a:spLocks noGrp="1"/>
          </p:cNvSpPr>
          <p:nvPr>
            <p:ph type="ctrTitle"/>
          </p:nvPr>
        </p:nvSpPr>
        <p:spPr>
          <a:xfrm>
            <a:off x="1409700" y="2119771"/>
            <a:ext cx="9372600" cy="2387600"/>
          </a:xfrm>
        </p:spPr>
        <p:txBody>
          <a:bodyPr>
            <a:noAutofit/>
          </a:bodyPr>
          <a:lstStyle/>
          <a:p>
            <a:r>
              <a:rPr lang="zh-CN" altLang="en-US" sz="4800" b="1" dirty="0">
                <a:latin typeface="Times New Roman" panose="02020603050405020304" pitchFamily="18" charset="0"/>
                <a:cs typeface="Times New Roman" panose="02020603050405020304" pitchFamily="18" charset="0"/>
              </a:rPr>
              <a:t>基于分布鲁棒优化的</a:t>
            </a:r>
            <a:br>
              <a:rPr lang="en-US" altLang="zh-CN" sz="4800" b="1" dirty="0">
                <a:latin typeface="Times New Roman" panose="02020603050405020304" pitchFamily="18" charset="0"/>
                <a:cs typeface="Times New Roman" panose="02020603050405020304" pitchFamily="18" charset="0"/>
              </a:rPr>
            </a:br>
            <a:r>
              <a:rPr lang="en-US" altLang="zh-CN" sz="4800" b="1" dirty="0">
                <a:latin typeface="Times New Roman" panose="02020603050405020304" pitchFamily="18" charset="0"/>
                <a:cs typeface="Times New Roman" panose="02020603050405020304" pitchFamily="18" charset="0"/>
              </a:rPr>
              <a:t>AUC</a:t>
            </a:r>
            <a:r>
              <a:rPr lang="zh-CN" altLang="en-US" sz="4800" b="1" dirty="0">
                <a:latin typeface="Times New Roman" panose="02020603050405020304" pitchFamily="18" charset="0"/>
                <a:cs typeface="Times New Roman" panose="02020603050405020304" pitchFamily="18" charset="0"/>
              </a:rPr>
              <a:t>最大化研究</a:t>
            </a:r>
            <a:br>
              <a:rPr lang="en-US" altLang="zh-CN" sz="4800" b="1" dirty="0">
                <a:latin typeface="Times New Roman" panose="02020603050405020304" pitchFamily="18" charset="0"/>
                <a:cs typeface="Times New Roman" panose="02020603050405020304" pitchFamily="18" charset="0"/>
              </a:rPr>
            </a:br>
            <a:br>
              <a:rPr lang="en-US" altLang="zh-CN" sz="4800" b="1" dirty="0">
                <a:latin typeface="Times New Roman" panose="02020603050405020304" pitchFamily="18" charset="0"/>
                <a:cs typeface="Times New Roman" panose="02020603050405020304" pitchFamily="18" charset="0"/>
              </a:rPr>
            </a:br>
            <a:endParaRPr lang="zh-CN" altLang="en-US" sz="4800" b="1"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13FF9223-2B9B-19AE-96FC-5B8B18561606}"/>
              </a:ext>
            </a:extLst>
          </p:cNvPr>
          <p:cNvSpPr>
            <a:spLocks noGrp="1"/>
          </p:cNvSpPr>
          <p:nvPr>
            <p:ph type="subTitle" idx="1"/>
          </p:nvPr>
        </p:nvSpPr>
        <p:spPr>
          <a:xfrm>
            <a:off x="1524000" y="3822318"/>
            <a:ext cx="9144000" cy="1655762"/>
          </a:xfrm>
        </p:spPr>
        <p:txBody>
          <a:bodyPr>
            <a:normAutofit/>
          </a:bodyPr>
          <a:lstStyle/>
          <a:p>
            <a:r>
              <a:rPr lang="en-US" altLang="zh-CN" sz="2800" dirty="0">
                <a:latin typeface="Times New Roman" panose="02020603050405020304" pitchFamily="18" charset="0"/>
                <a:cs typeface="Times New Roman" panose="02020603050405020304" pitchFamily="18" charset="0"/>
              </a:rPr>
              <a:t>2023.6.2</a:t>
            </a:r>
          </a:p>
          <a:p>
            <a:r>
              <a:rPr lang="zh-CN" altLang="en-US" sz="2800" dirty="0">
                <a:latin typeface="Times New Roman" panose="02020603050405020304" pitchFamily="18" charset="0"/>
                <a:cs typeface="Times New Roman" panose="02020603050405020304" pitchFamily="18" charset="0"/>
              </a:rPr>
              <a:t>答辩人：李斐然</a:t>
            </a:r>
            <a:endParaRPr lang="en-US" altLang="zh-CN" sz="2800" dirty="0">
              <a:latin typeface="Times New Roman" panose="02020603050405020304" pitchFamily="18" charset="0"/>
              <a:cs typeface="Times New Roman" panose="02020603050405020304" pitchFamily="18" charset="0"/>
            </a:endParaRPr>
          </a:p>
          <a:p>
            <a:r>
              <a:rPr lang="zh-CN" altLang="en-US" sz="2800" dirty="0">
                <a:latin typeface="Times New Roman" panose="02020603050405020304" pitchFamily="18" charset="0"/>
                <a:cs typeface="Times New Roman" panose="02020603050405020304" pitchFamily="18" charset="0"/>
              </a:rPr>
              <a:t>指导老师：邵志文</a:t>
            </a:r>
          </a:p>
        </p:txBody>
      </p:sp>
    </p:spTree>
    <p:extLst>
      <p:ext uri="{BB962C8B-B14F-4D97-AF65-F5344CB8AC3E}">
        <p14:creationId xmlns:p14="http://schemas.microsoft.com/office/powerpoint/2010/main" val="274333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61FC53F-A654-B0AD-BDC2-2BA608974529}"/>
              </a:ext>
            </a:extLst>
          </p:cNvPr>
          <p:cNvSpPr>
            <a:spLocks noGrp="1"/>
          </p:cNvSpPr>
          <p:nvPr>
            <p:ph idx="1"/>
          </p:nvPr>
        </p:nvSpPr>
        <p:spPr>
          <a:xfrm>
            <a:off x="687371" y="1347568"/>
            <a:ext cx="10515600" cy="3773397"/>
          </a:xfrm>
        </p:spPr>
        <p:txBody>
          <a:bodyPr>
            <a:noAutofit/>
          </a:bodyPr>
          <a:lstStyle/>
          <a:p>
            <a:pPr marL="0" indent="0">
              <a:lnSpc>
                <a:spcPct val="150000"/>
              </a:lnSpc>
              <a:buNone/>
            </a:pPr>
            <a:r>
              <a:rPr lang="en-US" altLang="zh-CN" sz="3200" b="1" dirty="0">
                <a:latin typeface="Times New Roman" panose="02020603050405020304" pitchFamily="18" charset="0"/>
                <a:cs typeface="Times New Roman" panose="02020603050405020304" pitchFamily="18" charset="0"/>
              </a:rPr>
              <a:t>1 </a:t>
            </a:r>
            <a:r>
              <a:rPr lang="zh-CN" altLang="en-US" sz="3200" b="1" dirty="0">
                <a:latin typeface="Times New Roman" panose="02020603050405020304" pitchFamily="18" charset="0"/>
                <a:cs typeface="Times New Roman" panose="02020603050405020304" pitchFamily="18" charset="0"/>
              </a:rPr>
              <a:t>选题背景</a:t>
            </a:r>
            <a:endParaRPr lang="en-US" altLang="zh-CN" sz="3200" b="1" dirty="0">
              <a:latin typeface="Times New Roman" panose="02020603050405020304" pitchFamily="18" charset="0"/>
              <a:cs typeface="Times New Roman" panose="02020603050405020304" pitchFamily="18" charset="0"/>
            </a:endParaRPr>
          </a:p>
          <a:p>
            <a:pPr marL="0" indent="0">
              <a:lnSpc>
                <a:spcPct val="150000"/>
              </a:lnSpc>
              <a:buNone/>
            </a:pPr>
            <a:r>
              <a:rPr lang="en-US" altLang="zh-CN" sz="3200" b="1" dirty="0">
                <a:latin typeface="Times New Roman" panose="02020603050405020304" pitchFamily="18" charset="0"/>
                <a:cs typeface="Times New Roman" panose="02020603050405020304" pitchFamily="18" charset="0"/>
              </a:rPr>
              <a:t>2 </a:t>
            </a:r>
            <a:r>
              <a:rPr lang="zh-CN" altLang="en-US" sz="3200" b="1" dirty="0">
                <a:latin typeface="Times New Roman" panose="02020603050405020304" pitchFamily="18" charset="0"/>
                <a:cs typeface="Times New Roman" panose="02020603050405020304" pitchFamily="18" charset="0"/>
              </a:rPr>
              <a:t>理论基础与国内外研究现状</a:t>
            </a:r>
            <a:endParaRPr lang="en-US" altLang="zh-CN" sz="3200" b="1" dirty="0">
              <a:latin typeface="Times New Roman" panose="02020603050405020304" pitchFamily="18" charset="0"/>
              <a:cs typeface="Times New Roman" panose="02020603050405020304" pitchFamily="18" charset="0"/>
            </a:endParaRPr>
          </a:p>
          <a:p>
            <a:pPr marL="0" indent="0">
              <a:lnSpc>
                <a:spcPct val="150000"/>
              </a:lnSpc>
              <a:buNone/>
            </a:pPr>
            <a:r>
              <a:rPr lang="en-US" altLang="zh-CN" sz="3200" b="1" dirty="0">
                <a:latin typeface="Times New Roman" panose="02020603050405020304" pitchFamily="18" charset="0"/>
                <a:cs typeface="Times New Roman" panose="02020603050405020304" pitchFamily="18" charset="0"/>
              </a:rPr>
              <a:t>3 </a:t>
            </a:r>
            <a:r>
              <a:rPr lang="zh-CN" altLang="en-US" sz="3200" b="1" dirty="0">
                <a:latin typeface="Times New Roman" panose="02020603050405020304" pitchFamily="18" charset="0"/>
                <a:cs typeface="Times New Roman" panose="02020603050405020304" pitchFamily="18" charset="0"/>
              </a:rPr>
              <a:t>研究思路与内容</a:t>
            </a:r>
            <a:endParaRPr lang="en-US" altLang="zh-CN" sz="3200" b="1" dirty="0">
              <a:latin typeface="Times New Roman" panose="02020603050405020304" pitchFamily="18" charset="0"/>
              <a:cs typeface="Times New Roman" panose="02020603050405020304" pitchFamily="18" charset="0"/>
            </a:endParaRPr>
          </a:p>
          <a:p>
            <a:pPr marL="0" indent="0">
              <a:lnSpc>
                <a:spcPct val="150000"/>
              </a:lnSpc>
              <a:buNone/>
            </a:pPr>
            <a:r>
              <a:rPr lang="en-US" altLang="zh-CN" sz="3200" b="1" dirty="0">
                <a:latin typeface="Times New Roman" panose="02020603050405020304" pitchFamily="18" charset="0"/>
                <a:cs typeface="Times New Roman" panose="02020603050405020304" pitchFamily="18" charset="0"/>
              </a:rPr>
              <a:t>4 </a:t>
            </a:r>
            <a:r>
              <a:rPr lang="zh-CN" altLang="en-US" sz="3200" b="1" dirty="0">
                <a:latin typeface="Times New Roman" panose="02020603050405020304" pitchFamily="18" charset="0"/>
                <a:cs typeface="Times New Roman" panose="02020603050405020304" pitchFamily="18" charset="0"/>
              </a:rPr>
              <a:t>实验结果</a:t>
            </a:r>
            <a:endParaRPr lang="en-US" altLang="zh-CN" sz="3200" b="1" dirty="0">
              <a:latin typeface="Times New Roman" panose="02020603050405020304" pitchFamily="18" charset="0"/>
              <a:cs typeface="Times New Roman" panose="02020603050405020304" pitchFamily="18" charset="0"/>
            </a:endParaRPr>
          </a:p>
          <a:p>
            <a:pPr marL="0" indent="0">
              <a:lnSpc>
                <a:spcPct val="150000"/>
              </a:lnSpc>
              <a:buNone/>
            </a:pPr>
            <a:r>
              <a:rPr lang="en-US" altLang="zh-CN" sz="3200" b="1" dirty="0">
                <a:latin typeface="Times New Roman" panose="02020603050405020304" pitchFamily="18" charset="0"/>
                <a:cs typeface="Times New Roman" panose="02020603050405020304" pitchFamily="18" charset="0"/>
              </a:rPr>
              <a:t>5 </a:t>
            </a:r>
            <a:r>
              <a:rPr lang="zh-CN" altLang="en-US" sz="3200" b="1" dirty="0">
                <a:latin typeface="Times New Roman" panose="02020603050405020304" pitchFamily="18" charset="0"/>
                <a:cs typeface="Times New Roman" panose="02020603050405020304" pitchFamily="18" charset="0"/>
              </a:rPr>
              <a:t>总结与展望</a:t>
            </a:r>
          </a:p>
        </p:txBody>
      </p:sp>
      <p:sp>
        <p:nvSpPr>
          <p:cNvPr id="5" name="灯片编号占位符 4">
            <a:extLst>
              <a:ext uri="{FF2B5EF4-FFF2-40B4-BE49-F238E27FC236}">
                <a16:creationId xmlns:a16="http://schemas.microsoft.com/office/drawing/2014/main" id="{0A62E927-1001-437D-D027-A8771496A723}"/>
              </a:ext>
            </a:extLst>
          </p:cNvPr>
          <p:cNvSpPr>
            <a:spLocks noGrp="1"/>
          </p:cNvSpPr>
          <p:nvPr>
            <p:ph type="sldNum" sz="quarter" idx="12"/>
          </p:nvPr>
        </p:nvSpPr>
        <p:spPr/>
        <p:txBody>
          <a:bodyPr/>
          <a:lstStyle/>
          <a:p>
            <a:fld id="{A290DF1A-1B4B-4FE9-B9C1-10AC9C5D423D}" type="slidenum">
              <a:rPr lang="zh-CN" altLang="en-US" smtClean="0">
                <a:latin typeface="Times New Roman" panose="02020603050405020304" pitchFamily="18" charset="0"/>
                <a:cs typeface="Times New Roman" panose="02020603050405020304" pitchFamily="18" charset="0"/>
              </a:rPr>
              <a:t>2</a:t>
            </a:fld>
            <a:endParaRPr lang="zh-CN" altLang="en-US" dirty="0">
              <a:latin typeface="Times New Roman" panose="02020603050405020304" pitchFamily="18" charset="0"/>
              <a:cs typeface="Times New Roman" panose="02020603050405020304" pitchFamily="18" charset="0"/>
            </a:endParaRPr>
          </a:p>
        </p:txBody>
      </p:sp>
      <p:sp>
        <p:nvSpPr>
          <p:cNvPr id="6" name="标题 1">
            <a:extLst>
              <a:ext uri="{FF2B5EF4-FFF2-40B4-BE49-F238E27FC236}">
                <a16:creationId xmlns:a16="http://schemas.microsoft.com/office/drawing/2014/main" id="{EB335996-DF7D-A5E7-44E0-CB7F8CC2A133}"/>
              </a:ext>
            </a:extLst>
          </p:cNvPr>
          <p:cNvSpPr txBox="1">
            <a:spLocks/>
          </p:cNvSpPr>
          <p:nvPr/>
        </p:nvSpPr>
        <p:spPr>
          <a:xfrm>
            <a:off x="602530" y="136525"/>
            <a:ext cx="10515600" cy="10297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a:latin typeface="楷体" panose="02010609060101010101" pitchFamily="49" charset="-122"/>
                <a:ea typeface="楷体" panose="02010609060101010101" pitchFamily="49" charset="-122"/>
              </a:rPr>
              <a:t>目录</a:t>
            </a:r>
          </a:p>
        </p:txBody>
      </p:sp>
      <p:cxnSp>
        <p:nvCxnSpPr>
          <p:cNvPr id="7" name="直接连接符 6">
            <a:extLst>
              <a:ext uri="{FF2B5EF4-FFF2-40B4-BE49-F238E27FC236}">
                <a16:creationId xmlns:a16="http://schemas.microsoft.com/office/drawing/2014/main" id="{CEF49A28-F46A-1AAB-6E77-8D2FB4AFE7A7}"/>
              </a:ext>
            </a:extLst>
          </p:cNvPr>
          <p:cNvCxnSpPr>
            <a:cxnSpLocks/>
          </p:cNvCxnSpPr>
          <p:nvPr/>
        </p:nvCxnSpPr>
        <p:spPr>
          <a:xfrm>
            <a:off x="687371" y="1033254"/>
            <a:ext cx="2752627" cy="0"/>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35404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A6662D-FB78-9A9E-0F4A-81EEE71E2315}"/>
              </a:ext>
            </a:extLst>
          </p:cNvPr>
          <p:cNvSpPr>
            <a:spLocks noGrp="1"/>
          </p:cNvSpPr>
          <p:nvPr>
            <p:ph type="ctrTitle"/>
          </p:nvPr>
        </p:nvSpPr>
        <p:spPr>
          <a:xfrm>
            <a:off x="418781" y="2053531"/>
            <a:ext cx="10787422" cy="1170640"/>
          </a:xfrm>
        </p:spPr>
        <p:txBody>
          <a:bodyPr>
            <a:normAutofit/>
          </a:bodyPr>
          <a:lstStyle/>
          <a:p>
            <a:r>
              <a:rPr lang="en-US" altLang="zh-CN" sz="5400" b="1" dirty="0"/>
              <a:t>1     </a:t>
            </a:r>
            <a:r>
              <a:rPr lang="zh-CN" altLang="en-US" sz="5400" b="1" dirty="0"/>
              <a:t>选题背景</a:t>
            </a:r>
          </a:p>
        </p:txBody>
      </p:sp>
      <p:sp>
        <p:nvSpPr>
          <p:cNvPr id="4" name="灯片编号占位符 3">
            <a:extLst>
              <a:ext uri="{FF2B5EF4-FFF2-40B4-BE49-F238E27FC236}">
                <a16:creationId xmlns:a16="http://schemas.microsoft.com/office/drawing/2014/main" id="{B35D4A2F-1955-46D8-2A12-84F29DF3C15A}"/>
              </a:ext>
            </a:extLst>
          </p:cNvPr>
          <p:cNvSpPr>
            <a:spLocks noGrp="1"/>
          </p:cNvSpPr>
          <p:nvPr>
            <p:ph type="sldNum" sz="quarter" idx="12"/>
          </p:nvPr>
        </p:nvSpPr>
        <p:spPr/>
        <p:txBody>
          <a:bodyPr/>
          <a:lstStyle/>
          <a:p>
            <a:fld id="{A290DF1A-1B4B-4FE9-B9C1-10AC9C5D423D}" type="slidenum">
              <a:rPr lang="zh-CN" altLang="en-US" smtClean="0"/>
              <a:t>3</a:t>
            </a:fld>
            <a:endParaRPr lang="zh-CN" altLang="en-US" dirty="0"/>
          </a:p>
        </p:txBody>
      </p:sp>
      <p:cxnSp>
        <p:nvCxnSpPr>
          <p:cNvPr id="6" name="直接连接符 5">
            <a:extLst>
              <a:ext uri="{FF2B5EF4-FFF2-40B4-BE49-F238E27FC236}">
                <a16:creationId xmlns:a16="http://schemas.microsoft.com/office/drawing/2014/main" id="{DA9F57C7-B2D9-2A50-EA79-94A6208B6F25}"/>
              </a:ext>
            </a:extLst>
          </p:cNvPr>
          <p:cNvCxnSpPr>
            <a:cxnSpLocks/>
          </p:cNvCxnSpPr>
          <p:nvPr/>
        </p:nvCxnSpPr>
        <p:spPr>
          <a:xfrm>
            <a:off x="3444142" y="3477207"/>
            <a:ext cx="4953409" cy="0"/>
          </a:xfrm>
          <a:prstGeom prst="line">
            <a:avLst/>
          </a:prstGeom>
          <a:ln w="12700"/>
        </p:spPr>
        <p:style>
          <a:lnRef idx="1">
            <a:schemeClr val="dk1"/>
          </a:lnRef>
          <a:fillRef idx="0">
            <a:schemeClr val="dk1"/>
          </a:fillRef>
          <a:effectRef idx="0">
            <a:schemeClr val="dk1"/>
          </a:effectRef>
          <a:fontRef idx="minor">
            <a:schemeClr val="tx1"/>
          </a:fontRef>
        </p:style>
      </p:cxnSp>
      <p:sp>
        <p:nvSpPr>
          <p:cNvPr id="7" name="文本框 6">
            <a:extLst>
              <a:ext uri="{FF2B5EF4-FFF2-40B4-BE49-F238E27FC236}">
                <a16:creationId xmlns:a16="http://schemas.microsoft.com/office/drawing/2014/main" id="{480638CF-D243-8C68-6102-87DB1823837E}"/>
              </a:ext>
            </a:extLst>
          </p:cNvPr>
          <p:cNvSpPr txBox="1"/>
          <p:nvPr/>
        </p:nvSpPr>
        <p:spPr>
          <a:xfrm>
            <a:off x="4699535" y="3595218"/>
            <a:ext cx="858591" cy="461665"/>
          </a:xfrm>
          <a:prstGeom prst="rect">
            <a:avLst/>
          </a:prstGeom>
          <a:noFill/>
        </p:spPr>
        <p:txBody>
          <a:bodyPr wrap="square" rtlCol="0">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AUC</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8" name="文本框 7">
            <a:extLst>
              <a:ext uri="{FF2B5EF4-FFF2-40B4-BE49-F238E27FC236}">
                <a16:creationId xmlns:a16="http://schemas.microsoft.com/office/drawing/2014/main" id="{841B753B-2A51-8687-B432-29682F18BB55}"/>
              </a:ext>
            </a:extLst>
          </p:cNvPr>
          <p:cNvSpPr txBox="1"/>
          <p:nvPr/>
        </p:nvSpPr>
        <p:spPr>
          <a:xfrm>
            <a:off x="6024158" y="3595218"/>
            <a:ext cx="2759232"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分布鲁棒优化</a:t>
            </a:r>
          </a:p>
        </p:txBody>
      </p:sp>
      <p:cxnSp>
        <p:nvCxnSpPr>
          <p:cNvPr id="10" name="直接连接符 9">
            <a:extLst>
              <a:ext uri="{FF2B5EF4-FFF2-40B4-BE49-F238E27FC236}">
                <a16:creationId xmlns:a16="http://schemas.microsoft.com/office/drawing/2014/main" id="{D3962D51-6D7B-864D-4784-EEEAE70BF1B8}"/>
              </a:ext>
            </a:extLst>
          </p:cNvPr>
          <p:cNvCxnSpPr>
            <a:cxnSpLocks/>
          </p:cNvCxnSpPr>
          <p:nvPr/>
        </p:nvCxnSpPr>
        <p:spPr>
          <a:xfrm>
            <a:off x="5828043" y="3646832"/>
            <a:ext cx="0" cy="358435"/>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09090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821AF8C-7C17-3E76-BFFB-30FDEE7D9644}"/>
              </a:ext>
            </a:extLst>
          </p:cNvPr>
          <p:cNvSpPr>
            <a:spLocks noGrp="1"/>
          </p:cNvSpPr>
          <p:nvPr>
            <p:ph idx="1"/>
          </p:nvPr>
        </p:nvSpPr>
        <p:spPr>
          <a:xfrm>
            <a:off x="838200" y="1212313"/>
            <a:ext cx="10515600" cy="4351338"/>
          </a:xfrm>
        </p:spPr>
        <p:txBody>
          <a:bodyPr/>
          <a:lstStyle/>
          <a:p>
            <a:pPr>
              <a:buFont typeface="Wingdings" panose="05000000000000000000" pitchFamily="2" charset="2"/>
              <a:buChar char="Ø"/>
            </a:pPr>
            <a:r>
              <a:rPr lang="zh-CN" altLang="en-US" sz="3200" dirty="0"/>
              <a:t> 长尾分布</a:t>
            </a:r>
            <a:endParaRPr lang="en-US" altLang="zh-CN" sz="3200" dirty="0"/>
          </a:p>
          <a:p>
            <a:pPr marL="0" indent="0">
              <a:buNone/>
            </a:pPr>
            <a:r>
              <a:rPr lang="zh-CN" altLang="en-US" sz="2400" dirty="0"/>
              <a:t>传统机器学习算法通过最小化错误率训练模型，对类别分布敏感</a:t>
            </a:r>
            <a:endParaRPr lang="en-US" altLang="zh-CN" sz="2400" dirty="0"/>
          </a:p>
          <a:p>
            <a:pPr marL="0" indent="0">
              <a:buNone/>
            </a:pPr>
            <a:endParaRPr lang="zh-CN" altLang="en-US" dirty="0"/>
          </a:p>
        </p:txBody>
      </p:sp>
      <p:graphicFrame>
        <p:nvGraphicFramePr>
          <p:cNvPr id="4" name="对象 3">
            <a:extLst>
              <a:ext uri="{FF2B5EF4-FFF2-40B4-BE49-F238E27FC236}">
                <a16:creationId xmlns:a16="http://schemas.microsoft.com/office/drawing/2014/main" id="{70AB229A-4616-8975-55D4-D804E7934431}"/>
              </a:ext>
            </a:extLst>
          </p:cNvPr>
          <p:cNvGraphicFramePr>
            <a:graphicFrameLocks noChangeAspect="1"/>
          </p:cNvGraphicFramePr>
          <p:nvPr>
            <p:extLst>
              <p:ext uri="{D42A27DB-BD31-4B8C-83A1-F6EECF244321}">
                <p14:modId xmlns:p14="http://schemas.microsoft.com/office/powerpoint/2010/main" val="3722615277"/>
              </p:ext>
            </p:extLst>
          </p:nvPr>
        </p:nvGraphicFramePr>
        <p:xfrm>
          <a:off x="1558438" y="2238296"/>
          <a:ext cx="2714270" cy="878782"/>
        </p:xfrm>
        <a:graphic>
          <a:graphicData uri="http://schemas.openxmlformats.org/presentationml/2006/ole">
            <mc:AlternateContent xmlns:mc="http://schemas.openxmlformats.org/markup-compatibility/2006">
              <mc:Choice xmlns:v="urn:schemas-microsoft-com:vml" Requires="v">
                <p:oleObj name="AxMath" r:id="rId3" imgW="994680" imgH="322560" progId="Equation.AxMath">
                  <p:embed/>
                </p:oleObj>
              </mc:Choice>
              <mc:Fallback>
                <p:oleObj name="AxMath" r:id="rId3" imgW="994680" imgH="322560" progId="Equation.AxMath">
                  <p:embed/>
                  <p:pic>
                    <p:nvPicPr>
                      <p:cNvPr id="4" name="对象 3">
                        <a:extLst>
                          <a:ext uri="{FF2B5EF4-FFF2-40B4-BE49-F238E27FC236}">
                            <a16:creationId xmlns:a16="http://schemas.microsoft.com/office/drawing/2014/main" id="{70AB229A-4616-8975-55D4-D804E7934431}"/>
                          </a:ext>
                        </a:extLst>
                      </p:cNvPr>
                      <p:cNvPicPr/>
                      <p:nvPr/>
                    </p:nvPicPr>
                    <p:blipFill>
                      <a:blip r:embed="rId4"/>
                      <a:stretch>
                        <a:fillRect/>
                      </a:stretch>
                    </p:blipFill>
                    <p:spPr>
                      <a:xfrm>
                        <a:off x="1558438" y="2238296"/>
                        <a:ext cx="2714270" cy="878782"/>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1B1AD812-D4B3-D431-097B-2E62FA55CDCB}"/>
              </a:ext>
            </a:extLst>
          </p:cNvPr>
          <p:cNvGraphicFramePr>
            <a:graphicFrameLocks noChangeAspect="1"/>
          </p:cNvGraphicFramePr>
          <p:nvPr>
            <p:extLst>
              <p:ext uri="{D42A27DB-BD31-4B8C-83A1-F6EECF244321}">
                <p14:modId xmlns:p14="http://schemas.microsoft.com/office/powerpoint/2010/main" val="1307009928"/>
              </p:ext>
            </p:extLst>
          </p:nvPr>
        </p:nvGraphicFramePr>
        <p:xfrm>
          <a:off x="6078351" y="2227536"/>
          <a:ext cx="2700172" cy="940198"/>
        </p:xfrm>
        <a:graphic>
          <a:graphicData uri="http://schemas.openxmlformats.org/presentationml/2006/ole">
            <mc:AlternateContent xmlns:mc="http://schemas.openxmlformats.org/markup-compatibility/2006">
              <mc:Choice xmlns:v="urn:schemas-microsoft-com:vml" Requires="v">
                <p:oleObj name="AxMath" r:id="rId5" imgW="926280" imgH="322560" progId="Equation.AxMath">
                  <p:embed/>
                </p:oleObj>
              </mc:Choice>
              <mc:Fallback>
                <p:oleObj name="AxMath" r:id="rId5" imgW="926280" imgH="322560" progId="Equation.AxMath">
                  <p:embed/>
                  <p:pic>
                    <p:nvPicPr>
                      <p:cNvPr id="5" name="对象 4">
                        <a:extLst>
                          <a:ext uri="{FF2B5EF4-FFF2-40B4-BE49-F238E27FC236}">
                            <a16:creationId xmlns:a16="http://schemas.microsoft.com/office/drawing/2014/main" id="{1B1AD812-D4B3-D431-097B-2E62FA55CDCB}"/>
                          </a:ext>
                        </a:extLst>
                      </p:cNvPr>
                      <p:cNvPicPr/>
                      <p:nvPr/>
                    </p:nvPicPr>
                    <p:blipFill>
                      <a:blip r:embed="rId6"/>
                      <a:stretch>
                        <a:fillRect/>
                      </a:stretch>
                    </p:blipFill>
                    <p:spPr>
                      <a:xfrm>
                        <a:off x="6078351" y="2227536"/>
                        <a:ext cx="2700172" cy="940198"/>
                      </a:xfrm>
                      <a:prstGeom prst="rect">
                        <a:avLst/>
                      </a:prstGeom>
                    </p:spPr>
                  </p:pic>
                </p:oleObj>
              </mc:Fallback>
            </mc:AlternateContent>
          </a:graphicData>
        </a:graphic>
      </p:graphicFrame>
      <p:sp>
        <p:nvSpPr>
          <p:cNvPr id="6" name="箭头: 右 5">
            <a:extLst>
              <a:ext uri="{FF2B5EF4-FFF2-40B4-BE49-F238E27FC236}">
                <a16:creationId xmlns:a16="http://schemas.microsoft.com/office/drawing/2014/main" id="{B8A81536-9916-2331-E624-63D4CD9C87FF}"/>
              </a:ext>
            </a:extLst>
          </p:cNvPr>
          <p:cNvSpPr/>
          <p:nvPr/>
        </p:nvSpPr>
        <p:spPr>
          <a:xfrm>
            <a:off x="4649755" y="2568519"/>
            <a:ext cx="1293845" cy="213049"/>
          </a:xfrm>
          <a:prstGeom prst="rightArrow">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sz="2000"/>
          </a:p>
        </p:txBody>
      </p:sp>
      <p:sp>
        <p:nvSpPr>
          <p:cNvPr id="7" name="AutoShape 2">
            <a:extLst>
              <a:ext uri="{FF2B5EF4-FFF2-40B4-BE49-F238E27FC236}">
                <a16:creationId xmlns:a16="http://schemas.microsoft.com/office/drawing/2014/main" id="{61431451-EA99-E6A5-3E6C-966E375BAD4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0" name="AutoShape 4">
            <a:extLst>
              <a:ext uri="{FF2B5EF4-FFF2-40B4-BE49-F238E27FC236}">
                <a16:creationId xmlns:a16="http://schemas.microsoft.com/office/drawing/2014/main" id="{7E5CDDCB-7EC5-82F2-8321-3827AC7A6FD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1" name="AutoShape 6">
            <a:extLst>
              <a:ext uri="{FF2B5EF4-FFF2-40B4-BE49-F238E27FC236}">
                <a16:creationId xmlns:a16="http://schemas.microsoft.com/office/drawing/2014/main" id="{5B5BBB5F-60F1-7F9F-501B-345974E16E9F}"/>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2" name="AutoShape 8">
            <a:extLst>
              <a:ext uri="{FF2B5EF4-FFF2-40B4-BE49-F238E27FC236}">
                <a16:creationId xmlns:a16="http://schemas.microsoft.com/office/drawing/2014/main" id="{0F662691-20CE-087C-9ECA-648DF317F8F3}"/>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p>
        </p:txBody>
      </p:sp>
      <p:pic>
        <p:nvPicPr>
          <p:cNvPr id="18" name="图片 17">
            <a:extLst>
              <a:ext uri="{FF2B5EF4-FFF2-40B4-BE49-F238E27FC236}">
                <a16:creationId xmlns:a16="http://schemas.microsoft.com/office/drawing/2014/main" id="{D00E9727-F4C9-5C80-B6E4-988EF938C6E4}"/>
              </a:ext>
            </a:extLst>
          </p:cNvPr>
          <p:cNvPicPr>
            <a:picLocks noChangeAspect="1"/>
          </p:cNvPicPr>
          <p:nvPr/>
        </p:nvPicPr>
        <p:blipFill>
          <a:blip r:embed="rId7"/>
          <a:stretch>
            <a:fillRect/>
          </a:stretch>
        </p:blipFill>
        <p:spPr>
          <a:xfrm>
            <a:off x="5363967" y="3152749"/>
            <a:ext cx="5501786" cy="2435686"/>
          </a:xfrm>
          <a:prstGeom prst="rect">
            <a:avLst/>
          </a:prstGeom>
        </p:spPr>
      </p:pic>
      <p:sp>
        <p:nvSpPr>
          <p:cNvPr id="13" name="标题 1">
            <a:extLst>
              <a:ext uri="{FF2B5EF4-FFF2-40B4-BE49-F238E27FC236}">
                <a16:creationId xmlns:a16="http://schemas.microsoft.com/office/drawing/2014/main" id="{B21C3D3C-EC0C-7F7B-2C1D-835A1AF05DF2}"/>
              </a:ext>
            </a:extLst>
          </p:cNvPr>
          <p:cNvSpPr txBox="1">
            <a:spLocks/>
          </p:cNvSpPr>
          <p:nvPr/>
        </p:nvSpPr>
        <p:spPr>
          <a:xfrm>
            <a:off x="553822" y="128460"/>
            <a:ext cx="3518555" cy="10297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Times New Roman" panose="02020603050405020304" pitchFamily="18" charset="0"/>
                <a:ea typeface="楷体" panose="02010609060101010101" pitchFamily="49" charset="-122"/>
                <a:cs typeface="Times New Roman" panose="02020603050405020304" pitchFamily="18" charset="0"/>
              </a:rPr>
              <a:t>选题背景</a:t>
            </a:r>
            <a:r>
              <a:rPr lang="en-US" altLang="zh-CN" sz="4000" b="1" dirty="0">
                <a:latin typeface="Times New Roman" panose="02020603050405020304" pitchFamily="18" charset="0"/>
                <a:ea typeface="楷体" panose="02010609060101010101" pitchFamily="49" charset="-122"/>
                <a:cs typeface="Times New Roman" panose="02020603050405020304" pitchFamily="18" charset="0"/>
              </a:rPr>
              <a:t>-AUC</a:t>
            </a:r>
            <a:endParaRPr lang="zh-CN" altLang="en-US" sz="40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4" name="直接连接符 13">
            <a:extLst>
              <a:ext uri="{FF2B5EF4-FFF2-40B4-BE49-F238E27FC236}">
                <a16:creationId xmlns:a16="http://schemas.microsoft.com/office/drawing/2014/main" id="{025382B8-E8F5-DC9C-CCCD-3755FEF03999}"/>
              </a:ext>
            </a:extLst>
          </p:cNvPr>
          <p:cNvCxnSpPr>
            <a:cxnSpLocks/>
          </p:cNvCxnSpPr>
          <p:nvPr/>
        </p:nvCxnSpPr>
        <p:spPr>
          <a:xfrm>
            <a:off x="706222" y="982186"/>
            <a:ext cx="2752627" cy="0"/>
          </a:xfrm>
          <a:prstGeom prst="line">
            <a:avLst/>
          </a:prstGeom>
          <a:ln w="28575"/>
        </p:spPr>
        <p:style>
          <a:lnRef idx="1">
            <a:schemeClr val="dk1"/>
          </a:lnRef>
          <a:fillRef idx="0">
            <a:schemeClr val="dk1"/>
          </a:fillRef>
          <a:effectRef idx="0">
            <a:schemeClr val="dk1"/>
          </a:effectRef>
          <a:fontRef idx="minor">
            <a:schemeClr val="tx1"/>
          </a:fontRef>
        </p:style>
      </p:cxnSp>
      <p:sp>
        <p:nvSpPr>
          <p:cNvPr id="17" name="灯片编号占位符 16">
            <a:extLst>
              <a:ext uri="{FF2B5EF4-FFF2-40B4-BE49-F238E27FC236}">
                <a16:creationId xmlns:a16="http://schemas.microsoft.com/office/drawing/2014/main" id="{4EE0FB29-D0F4-8717-9321-E61B75876030}"/>
              </a:ext>
            </a:extLst>
          </p:cNvPr>
          <p:cNvSpPr>
            <a:spLocks noGrp="1"/>
          </p:cNvSpPr>
          <p:nvPr>
            <p:ph type="sldNum" sz="quarter" idx="12"/>
          </p:nvPr>
        </p:nvSpPr>
        <p:spPr/>
        <p:txBody>
          <a:bodyPr/>
          <a:lstStyle/>
          <a:p>
            <a:fld id="{A290DF1A-1B4B-4FE9-B9C1-10AC9C5D423D}" type="slidenum">
              <a:rPr lang="zh-CN" altLang="en-US" smtClean="0">
                <a:latin typeface="Times New Roman" panose="02020603050405020304" pitchFamily="18" charset="0"/>
                <a:cs typeface="Times New Roman" panose="02020603050405020304" pitchFamily="18" charset="0"/>
              </a:rPr>
              <a:t>4</a:t>
            </a:fld>
            <a:endParaRPr lang="zh-CN" altLang="en-US" dirty="0">
              <a:latin typeface="Times New Roman" panose="02020603050405020304" pitchFamily="18" charset="0"/>
              <a:cs typeface="Times New Roman" panose="02020603050405020304" pitchFamily="18" charset="0"/>
            </a:endParaRPr>
          </a:p>
        </p:txBody>
      </p:sp>
      <p:pic>
        <p:nvPicPr>
          <p:cNvPr id="2" name="图片 1" descr="形状&#10;&#10;描述已自动生成">
            <a:extLst>
              <a:ext uri="{FF2B5EF4-FFF2-40B4-BE49-F238E27FC236}">
                <a16:creationId xmlns:a16="http://schemas.microsoft.com/office/drawing/2014/main" id="{7D6D1DAB-5142-A953-6C7A-CC4EB6E6BF50}"/>
              </a:ext>
            </a:extLst>
          </p:cNvPr>
          <p:cNvPicPr>
            <a:picLocks noChangeAspect="1"/>
          </p:cNvPicPr>
          <p:nvPr/>
        </p:nvPicPr>
        <p:blipFill rotWithShape="1">
          <a:blip r:embed="rId8">
            <a:extLst>
              <a:ext uri="{28A0092B-C50C-407E-A947-70E740481C1C}">
                <a14:useLocalDpi xmlns:a14="http://schemas.microsoft.com/office/drawing/2010/main" val="0"/>
              </a:ext>
            </a:extLst>
          </a:blip>
          <a:srcRect l="7519" t="10311" r="6461"/>
          <a:stretch/>
        </p:blipFill>
        <p:spPr>
          <a:xfrm>
            <a:off x="1173843" y="3195323"/>
            <a:ext cx="3535438" cy="2764678"/>
          </a:xfrm>
          <a:prstGeom prst="rect">
            <a:avLst/>
          </a:prstGeom>
        </p:spPr>
      </p:pic>
    </p:spTree>
    <p:extLst>
      <p:ext uri="{BB962C8B-B14F-4D97-AF65-F5344CB8AC3E}">
        <p14:creationId xmlns:p14="http://schemas.microsoft.com/office/powerpoint/2010/main" val="1552113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343129-CB85-96E3-6B1F-737D6ECA2707}"/>
              </a:ext>
            </a:extLst>
          </p:cNvPr>
          <p:cNvSpPr>
            <a:spLocks noGrp="1"/>
          </p:cNvSpPr>
          <p:nvPr>
            <p:ph type="title"/>
          </p:nvPr>
        </p:nvSpPr>
        <p:spPr>
          <a:xfrm>
            <a:off x="556179" y="203376"/>
            <a:ext cx="3931153" cy="937268"/>
          </a:xfrm>
        </p:spPr>
        <p:txBody>
          <a:bodyPr>
            <a:noAutofit/>
          </a:bodyPr>
          <a:lstStyle/>
          <a:p>
            <a:r>
              <a:rPr lang="zh-CN" altLang="en-US" sz="4000" b="1" dirty="0">
                <a:latin typeface="Times New Roman" panose="02020603050405020304" pitchFamily="18" charset="0"/>
                <a:cs typeface="Times New Roman" panose="02020603050405020304" pitchFamily="18" charset="0"/>
              </a:rPr>
              <a:t>选题背景 </a:t>
            </a:r>
            <a:r>
              <a:rPr lang="en-US" altLang="zh-CN" sz="4000" b="1" dirty="0">
                <a:latin typeface="Times New Roman" panose="02020603050405020304" pitchFamily="18" charset="0"/>
                <a:cs typeface="Times New Roman" panose="02020603050405020304" pitchFamily="18" charset="0"/>
              </a:rPr>
              <a:t>– AUC</a:t>
            </a:r>
            <a:endParaRPr lang="zh-CN" altLang="en-US" sz="4000" dirty="0">
              <a:latin typeface="Times New Roman" panose="02020603050405020304" pitchFamily="18" charset="0"/>
              <a:cs typeface="Times New Roman" panose="02020603050405020304" pitchFamily="18" charset="0"/>
            </a:endParaRPr>
          </a:p>
        </p:txBody>
      </p:sp>
      <p:sp>
        <p:nvSpPr>
          <p:cNvPr id="3" name="内容占位符 2">
            <a:extLst>
              <a:ext uri="{FF2B5EF4-FFF2-40B4-BE49-F238E27FC236}">
                <a16:creationId xmlns:a16="http://schemas.microsoft.com/office/drawing/2014/main" id="{B8E93215-86E6-7544-0C51-B79B2F43BA67}"/>
              </a:ext>
            </a:extLst>
          </p:cNvPr>
          <p:cNvSpPr>
            <a:spLocks noGrp="1"/>
          </p:cNvSpPr>
          <p:nvPr>
            <p:ph idx="1"/>
          </p:nvPr>
        </p:nvSpPr>
        <p:spPr/>
        <p:txBody>
          <a:bodyPr>
            <a:normAutofit/>
          </a:bodyPr>
          <a:lstStyle/>
          <a:p>
            <a:r>
              <a:rPr lang="en-US" altLang="zh-CN" sz="3200" dirty="0"/>
              <a:t>ROC</a:t>
            </a:r>
            <a:r>
              <a:rPr lang="zh-CN" altLang="en-US" sz="3200" dirty="0"/>
              <a:t>与</a:t>
            </a:r>
            <a:r>
              <a:rPr lang="en-US" altLang="zh-CN" sz="3200" dirty="0"/>
              <a:t>AUC</a:t>
            </a:r>
            <a:endParaRPr lang="zh-CN" altLang="en-US" sz="3200" dirty="0"/>
          </a:p>
        </p:txBody>
      </p:sp>
      <p:graphicFrame>
        <p:nvGraphicFramePr>
          <p:cNvPr id="10" name="对象 9">
            <a:extLst>
              <a:ext uri="{FF2B5EF4-FFF2-40B4-BE49-F238E27FC236}">
                <a16:creationId xmlns:a16="http://schemas.microsoft.com/office/drawing/2014/main" id="{7BFD87FC-0D7D-0384-C0D2-C4DE99DB5064}"/>
              </a:ext>
            </a:extLst>
          </p:cNvPr>
          <p:cNvGraphicFramePr>
            <a:graphicFrameLocks noChangeAspect="1"/>
          </p:cNvGraphicFramePr>
          <p:nvPr>
            <p:extLst>
              <p:ext uri="{D42A27DB-BD31-4B8C-83A1-F6EECF244321}">
                <p14:modId xmlns:p14="http://schemas.microsoft.com/office/powerpoint/2010/main" val="2876435022"/>
              </p:ext>
            </p:extLst>
          </p:nvPr>
        </p:nvGraphicFramePr>
        <p:xfrm>
          <a:off x="6450894" y="4439826"/>
          <a:ext cx="4536524" cy="1049454"/>
        </p:xfrm>
        <a:graphic>
          <a:graphicData uri="http://schemas.openxmlformats.org/presentationml/2006/ole">
            <mc:AlternateContent xmlns:mc="http://schemas.openxmlformats.org/markup-compatibility/2006">
              <mc:Choice xmlns:v="urn:schemas-microsoft-com:vml" Requires="v">
                <p:oleObj name="AxMath" r:id="rId3" imgW="1297080" imgH="299880" progId="Equation.AxMath">
                  <p:embed/>
                </p:oleObj>
              </mc:Choice>
              <mc:Fallback>
                <p:oleObj name="AxMath" r:id="rId3" imgW="1297080" imgH="299880" progId="Equation.AxMath">
                  <p:embed/>
                  <p:pic>
                    <p:nvPicPr>
                      <p:cNvPr id="10" name="对象 9">
                        <a:extLst>
                          <a:ext uri="{FF2B5EF4-FFF2-40B4-BE49-F238E27FC236}">
                            <a16:creationId xmlns:a16="http://schemas.microsoft.com/office/drawing/2014/main" id="{7BFD87FC-0D7D-0384-C0D2-C4DE99DB5064}"/>
                          </a:ext>
                        </a:extLst>
                      </p:cNvPr>
                      <p:cNvPicPr/>
                      <p:nvPr/>
                    </p:nvPicPr>
                    <p:blipFill>
                      <a:blip r:embed="rId4"/>
                      <a:stretch>
                        <a:fillRect/>
                      </a:stretch>
                    </p:blipFill>
                    <p:spPr>
                      <a:xfrm>
                        <a:off x="6450894" y="4439826"/>
                        <a:ext cx="4536524" cy="1049454"/>
                      </a:xfrm>
                      <a:prstGeom prst="rect">
                        <a:avLst/>
                      </a:prstGeom>
                    </p:spPr>
                  </p:pic>
                </p:oleObj>
              </mc:Fallback>
            </mc:AlternateContent>
          </a:graphicData>
        </a:graphic>
      </p:graphicFrame>
      <p:cxnSp>
        <p:nvCxnSpPr>
          <p:cNvPr id="4" name="直接连接符 3">
            <a:extLst>
              <a:ext uri="{FF2B5EF4-FFF2-40B4-BE49-F238E27FC236}">
                <a16:creationId xmlns:a16="http://schemas.microsoft.com/office/drawing/2014/main" id="{4935BCA7-CB9D-53EE-A3B8-E43456E92351}"/>
              </a:ext>
            </a:extLst>
          </p:cNvPr>
          <p:cNvCxnSpPr>
            <a:cxnSpLocks/>
          </p:cNvCxnSpPr>
          <p:nvPr/>
        </p:nvCxnSpPr>
        <p:spPr>
          <a:xfrm>
            <a:off x="781638" y="1038747"/>
            <a:ext cx="3392429" cy="0"/>
          </a:xfrm>
          <a:prstGeom prst="line">
            <a:avLst/>
          </a:prstGeom>
          <a:ln w="28575"/>
        </p:spPr>
        <p:style>
          <a:lnRef idx="1">
            <a:schemeClr val="dk1"/>
          </a:lnRef>
          <a:fillRef idx="0">
            <a:schemeClr val="dk1"/>
          </a:fillRef>
          <a:effectRef idx="0">
            <a:schemeClr val="dk1"/>
          </a:effectRef>
          <a:fontRef idx="minor">
            <a:schemeClr val="tx1"/>
          </a:fontRef>
        </p:style>
      </p:cxnSp>
      <p:sp>
        <p:nvSpPr>
          <p:cNvPr id="7" name="灯片编号占位符 6">
            <a:extLst>
              <a:ext uri="{FF2B5EF4-FFF2-40B4-BE49-F238E27FC236}">
                <a16:creationId xmlns:a16="http://schemas.microsoft.com/office/drawing/2014/main" id="{53FABC3B-FD45-A65E-3C54-18E9F4895F57}"/>
              </a:ext>
            </a:extLst>
          </p:cNvPr>
          <p:cNvSpPr>
            <a:spLocks noGrp="1"/>
          </p:cNvSpPr>
          <p:nvPr>
            <p:ph type="sldNum" sz="quarter" idx="12"/>
          </p:nvPr>
        </p:nvSpPr>
        <p:spPr/>
        <p:txBody>
          <a:bodyPr/>
          <a:lstStyle/>
          <a:p>
            <a:fld id="{A290DF1A-1B4B-4FE9-B9C1-10AC9C5D423D}" type="slidenum">
              <a:rPr lang="zh-CN" altLang="en-US" smtClean="0">
                <a:latin typeface="Times New Roman" panose="02020603050405020304" pitchFamily="18" charset="0"/>
                <a:cs typeface="Times New Roman" panose="02020603050405020304" pitchFamily="18" charset="0"/>
              </a:rPr>
              <a:t>5</a:t>
            </a:fld>
            <a:endParaRPr lang="zh-CN" altLang="en-US"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71DFA4FC-BC81-69E5-2215-884C58856860}"/>
              </a:ext>
            </a:extLst>
          </p:cNvPr>
          <p:cNvSpPr txBox="1"/>
          <p:nvPr/>
        </p:nvSpPr>
        <p:spPr>
          <a:xfrm>
            <a:off x="6298494" y="3737218"/>
            <a:ext cx="5639506" cy="523220"/>
          </a:xfrm>
          <a:prstGeom prst="rect">
            <a:avLst/>
          </a:prstGeom>
          <a:noFill/>
        </p:spPr>
        <p:txBody>
          <a:bodyPr wrap="square" rtlCol="0">
            <a:spAutoFit/>
          </a:bodyPr>
          <a:lstStyle/>
          <a:p>
            <a:r>
              <a:rPr lang="en-US" altLang="zh-CN" sz="2800" dirty="0">
                <a:latin typeface="Times New Roman" panose="02020603050405020304" pitchFamily="18" charset="0"/>
                <a:cs typeface="Times New Roman" panose="02020603050405020304" pitchFamily="18" charset="0"/>
              </a:rPr>
              <a:t>AUC</a:t>
            </a:r>
            <a:r>
              <a:rPr lang="zh-CN" altLang="en-US" sz="2800"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A</a:t>
            </a:r>
            <a:r>
              <a:rPr lang="en-US" altLang="zh-CN" sz="2800" dirty="0">
                <a:latin typeface="Times New Roman" panose="02020603050405020304" pitchFamily="18" charset="0"/>
                <a:cs typeface="Times New Roman" panose="02020603050405020304" pitchFamily="18" charset="0"/>
              </a:rPr>
              <a:t>rea </a:t>
            </a:r>
            <a:r>
              <a:rPr lang="en-US" altLang="zh-CN" sz="2800" b="1" dirty="0">
                <a:latin typeface="Times New Roman" panose="02020603050405020304" pitchFamily="18" charset="0"/>
                <a:cs typeface="Times New Roman" panose="02020603050405020304" pitchFamily="18" charset="0"/>
              </a:rPr>
              <a:t>U</a:t>
            </a:r>
            <a:r>
              <a:rPr lang="en-US" altLang="zh-CN" sz="2800" dirty="0">
                <a:latin typeface="Times New Roman" panose="02020603050405020304" pitchFamily="18" charset="0"/>
                <a:cs typeface="Times New Roman" panose="02020603050405020304" pitchFamily="18" charset="0"/>
              </a:rPr>
              <a:t>nder the (ROC) </a:t>
            </a:r>
            <a:r>
              <a:rPr lang="en-US" altLang="zh-CN" sz="2800" b="1" dirty="0">
                <a:latin typeface="Times New Roman" panose="02020603050405020304" pitchFamily="18" charset="0"/>
                <a:cs typeface="Times New Roman" panose="02020603050405020304" pitchFamily="18" charset="0"/>
              </a:rPr>
              <a:t>C</a:t>
            </a:r>
            <a:r>
              <a:rPr lang="en-US" altLang="zh-CN" sz="2800" dirty="0">
                <a:latin typeface="Times New Roman" panose="02020603050405020304" pitchFamily="18" charset="0"/>
                <a:cs typeface="Times New Roman" panose="02020603050405020304" pitchFamily="18" charset="0"/>
              </a:rPr>
              <a:t>urve</a:t>
            </a:r>
            <a:endParaRPr lang="zh-CN" altLang="en-US" sz="28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CD837C38-1F73-D047-9817-0D55E389EB3C}"/>
              </a:ext>
            </a:extLst>
          </p:cNvPr>
          <p:cNvSpPr txBox="1"/>
          <p:nvPr/>
        </p:nvSpPr>
        <p:spPr>
          <a:xfrm>
            <a:off x="838201" y="1554068"/>
            <a:ext cx="7397620" cy="523220"/>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AUC</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考虑了不同阈值</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下的性能，对数据分布</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不敏感</a:t>
            </a:r>
            <a:endParaRPr lang="zh-CN" altLang="en-US" sz="2000" b="1"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14" name="组合 13">
            <a:extLst>
              <a:ext uri="{FF2B5EF4-FFF2-40B4-BE49-F238E27FC236}">
                <a16:creationId xmlns:a16="http://schemas.microsoft.com/office/drawing/2014/main" id="{698B7513-D8C1-0595-52B0-D46B170A9862}"/>
              </a:ext>
            </a:extLst>
          </p:cNvPr>
          <p:cNvGrpSpPr/>
          <p:nvPr/>
        </p:nvGrpSpPr>
        <p:grpSpPr>
          <a:xfrm>
            <a:off x="781638" y="3104734"/>
            <a:ext cx="5227773" cy="2591025"/>
            <a:chOff x="838200" y="2960801"/>
            <a:chExt cx="5227773" cy="2591025"/>
          </a:xfrm>
        </p:grpSpPr>
        <p:pic>
          <p:nvPicPr>
            <p:cNvPr id="5" name="图片 4">
              <a:extLst>
                <a:ext uri="{FF2B5EF4-FFF2-40B4-BE49-F238E27FC236}">
                  <a16:creationId xmlns:a16="http://schemas.microsoft.com/office/drawing/2014/main" id="{297CFE5A-974F-F13E-715B-386C866FA7BF}"/>
                </a:ext>
              </a:extLst>
            </p:cNvPr>
            <p:cNvPicPr>
              <a:picLocks noChangeAspect="1"/>
            </p:cNvPicPr>
            <p:nvPr/>
          </p:nvPicPr>
          <p:blipFill>
            <a:blip r:embed="rId5"/>
            <a:stretch>
              <a:fillRect/>
            </a:stretch>
          </p:blipFill>
          <p:spPr>
            <a:xfrm>
              <a:off x="838200" y="2960801"/>
              <a:ext cx="5227773" cy="2591025"/>
            </a:xfrm>
            <a:prstGeom prst="rect">
              <a:avLst/>
            </a:prstGeom>
          </p:spPr>
        </p:pic>
        <p:sp>
          <p:nvSpPr>
            <p:cNvPr id="9" name="椭圆 8">
              <a:extLst>
                <a:ext uri="{FF2B5EF4-FFF2-40B4-BE49-F238E27FC236}">
                  <a16:creationId xmlns:a16="http://schemas.microsoft.com/office/drawing/2014/main" id="{B0ABD1AE-7F84-2A85-68E9-094B4A11738B}"/>
                </a:ext>
              </a:extLst>
            </p:cNvPr>
            <p:cNvSpPr/>
            <p:nvPr/>
          </p:nvSpPr>
          <p:spPr>
            <a:xfrm>
              <a:off x="3066661" y="3122644"/>
              <a:ext cx="180000" cy="180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1" name="椭圆 10">
              <a:extLst>
                <a:ext uri="{FF2B5EF4-FFF2-40B4-BE49-F238E27FC236}">
                  <a16:creationId xmlns:a16="http://schemas.microsoft.com/office/drawing/2014/main" id="{5F349843-A785-AB21-8961-05E1A3FDA8A7}"/>
                </a:ext>
              </a:extLst>
            </p:cNvPr>
            <p:cNvSpPr/>
            <p:nvPr/>
          </p:nvSpPr>
          <p:spPr>
            <a:xfrm>
              <a:off x="1166326" y="3122644"/>
              <a:ext cx="180000" cy="180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2" name="椭圆 11">
              <a:extLst>
                <a:ext uri="{FF2B5EF4-FFF2-40B4-BE49-F238E27FC236}">
                  <a16:creationId xmlns:a16="http://schemas.microsoft.com/office/drawing/2014/main" id="{7683674C-850D-5256-EE57-83A2D4C7F347}"/>
                </a:ext>
              </a:extLst>
            </p:cNvPr>
            <p:cNvSpPr/>
            <p:nvPr/>
          </p:nvSpPr>
          <p:spPr>
            <a:xfrm>
              <a:off x="1166326" y="4730620"/>
              <a:ext cx="180000" cy="18000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spTree>
    <p:extLst>
      <p:ext uri="{BB962C8B-B14F-4D97-AF65-F5344CB8AC3E}">
        <p14:creationId xmlns:p14="http://schemas.microsoft.com/office/powerpoint/2010/main" val="1227973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06B7B250-57E1-0EA7-AA50-5069697779A8}"/>
                  </a:ext>
                </a:extLst>
              </p:cNvPr>
              <p:cNvSpPr>
                <a:spLocks noGrp="1"/>
              </p:cNvSpPr>
              <p:nvPr>
                <p:ph idx="1"/>
              </p:nvPr>
            </p:nvSpPr>
            <p:spPr>
              <a:xfrm>
                <a:off x="393570" y="1249062"/>
                <a:ext cx="10860833" cy="4444546"/>
              </a:xfrm>
            </p:spPr>
            <p:txBody>
              <a:bodyPr>
                <a:normAutofit/>
              </a:bodyPr>
              <a:lstStyle/>
              <a:p>
                <a:pPr>
                  <a:buFont typeface="Wingdings" panose="05000000000000000000" pitchFamily="2" charset="2"/>
                  <a:buChar char="Ø"/>
                </a:pPr>
                <a:r>
                  <a:rPr lang="zh-CN" altLang="en-US" sz="3200" dirty="0">
                    <a:latin typeface="Times New Roman" panose="02020603050405020304" pitchFamily="18" charset="0"/>
                    <a:cs typeface="Times New Roman" panose="02020603050405020304" pitchFamily="18" charset="0"/>
                  </a:rPr>
                  <a:t>常见的经验风险最小化</a:t>
                </a:r>
                <a:r>
                  <a:rPr lang="en-US" altLang="zh-CN" sz="3200" dirty="0">
                    <a:latin typeface="Times New Roman" panose="02020603050405020304" pitchFamily="18" charset="0"/>
                    <a:cs typeface="Times New Roman" panose="02020603050405020304" pitchFamily="18" charset="0"/>
                  </a:rPr>
                  <a:t>ERM (Empirical Risk Minimization)</a:t>
                </a:r>
              </a:p>
              <a:p>
                <a:pPr marL="0" indent="0">
                  <a:buNone/>
                </a:pPr>
                <a:endParaRPr lang="en-US" altLang="zh-CN" dirty="0">
                  <a:latin typeface="Times New Roman" panose="02020603050405020304" pitchFamily="18" charset="0"/>
                  <a:cs typeface="Times New Roman" panose="02020603050405020304" pitchFamily="18" charset="0"/>
                </a:endParaRPr>
              </a:p>
              <a:p>
                <a:pPr marL="0" indent="0">
                  <a:buNone/>
                </a:pPr>
                <a:endParaRPr lang="en-US" altLang="zh-CN" dirty="0">
                  <a:latin typeface="Times New Roman" panose="02020603050405020304" pitchFamily="18" charset="0"/>
                  <a:cs typeface="Times New Roman" panose="02020603050405020304" pitchFamily="18" charset="0"/>
                </a:endParaRPr>
              </a:p>
              <a:p>
                <a:pPr marL="0" indent="0">
                  <a:buNone/>
                </a:pPr>
                <a:r>
                  <a:rPr lang="zh-CN" altLang="en-US" sz="2400" dirty="0">
                    <a:latin typeface="Times New Roman" panose="02020603050405020304" pitchFamily="18" charset="0"/>
                    <a:cs typeface="Times New Roman" panose="02020603050405020304" pitchFamily="18" charset="0"/>
                  </a:rPr>
                  <a:t>现实问题中，       往往是不可知的。当训练集和测试集的分布不一致时，模型性能会大幅下降。</a:t>
                </a:r>
                <a:endParaRPr lang="en-US" altLang="zh-CN" sz="2400" dirty="0"/>
              </a:p>
              <a:p>
                <a:pPr marL="0" indent="0">
                  <a:buNone/>
                </a:pPr>
                <a:endParaRPr lang="en-US" altLang="zh-C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3200" dirty="0">
                    <a:latin typeface="Times New Roman" panose="02020603050405020304" pitchFamily="18" charset="0"/>
                    <a:cs typeface="Times New Roman" panose="02020603050405020304" pitchFamily="18" charset="0"/>
                  </a:rPr>
                  <a:t>分布鲁棒优化</a:t>
                </a:r>
                <a:r>
                  <a:rPr lang="en-US" altLang="zh-CN" sz="3200" dirty="0">
                    <a:latin typeface="Times New Roman" panose="02020603050405020304" pitchFamily="18" charset="0"/>
                    <a:cs typeface="Times New Roman" panose="02020603050405020304" pitchFamily="18" charset="0"/>
                  </a:rPr>
                  <a:t>DRO (Distributionally Robust Optimization</a:t>
                </a:r>
                <a:r>
                  <a:rPr lang="en-US" altLang="zh-CN" dirty="0">
                    <a:latin typeface="Times New Roman" panose="02020603050405020304" pitchFamily="18" charset="0"/>
                    <a:cs typeface="Times New Roman" panose="02020603050405020304" pitchFamily="18" charset="0"/>
                  </a:rPr>
                  <a:t>)</a:t>
                </a:r>
              </a:p>
              <a:p>
                <a:pPr marL="0" indent="0">
                  <a:buNone/>
                </a:pPr>
                <a:r>
                  <a:rPr lang="zh-CN" altLang="en-US" sz="2400" dirty="0">
                    <a:latin typeface="Times New Roman" panose="02020603050405020304" pitchFamily="18" charset="0"/>
                    <a:cs typeface="Times New Roman" panose="02020603050405020304" pitchFamily="18" charset="0"/>
                  </a:rPr>
                  <a:t>根据已知数据</a:t>
                </a:r>
                <a14:m>
                  <m:oMath xmlns:m="http://schemas.openxmlformats.org/officeDocument/2006/math">
                    <m:sSub>
                      <m:sSubPr>
                        <m:ctrlPr>
                          <a:rPr lang="en-US" altLang="zh-CN" sz="2400" b="0" i="1" smtClean="0">
                            <a:latin typeface="Cambria Math" panose="02040503050406030204" pitchFamily="18" charset="0"/>
                            <a:cs typeface="Times New Roman" panose="02020603050405020304" pitchFamily="18" charset="0"/>
                          </a:rPr>
                        </m:ctrlPr>
                      </m:sSubPr>
                      <m:e>
                        <m:r>
                          <a:rPr lang="en-US" altLang="zh-CN" sz="2400" b="0" i="1" smtClean="0">
                            <a:latin typeface="Cambria Math" panose="02040503050406030204" pitchFamily="18" charset="0"/>
                            <a:cs typeface="Times New Roman" panose="02020603050405020304" pitchFamily="18" charset="0"/>
                          </a:rPr>
                          <m:t>𝑃</m:t>
                        </m:r>
                      </m:e>
                      <m:sub>
                        <m:r>
                          <a:rPr lang="en-US" altLang="zh-CN" sz="2400" b="0" i="1" smtClean="0">
                            <a:latin typeface="Cambria Math" panose="02040503050406030204" pitchFamily="18" charset="0"/>
                            <a:cs typeface="Times New Roman" panose="02020603050405020304" pitchFamily="18" charset="0"/>
                          </a:rPr>
                          <m:t>𝑛</m:t>
                        </m:r>
                      </m:sub>
                    </m:sSub>
                  </m:oMath>
                </a14:m>
                <a:r>
                  <a:rPr lang="zh-CN" altLang="en-US" sz="2400" dirty="0">
                    <a:latin typeface="Times New Roman" panose="02020603050405020304" pitchFamily="18" charset="0"/>
                    <a:cs typeface="Times New Roman" panose="02020603050405020304" pitchFamily="18" charset="0"/>
                  </a:rPr>
                  <a:t>，构造一个更大的可能数据分布集合</a:t>
                </a:r>
                <a:r>
                  <a:rPr lang="en-US" altLang="zh-CN" sz="2400"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，用</a:t>
                </a:r>
                <a:r>
                  <a:rPr lang="zh-CN" altLang="en-US" sz="2400" b="1" dirty="0">
                    <a:latin typeface="Times New Roman" panose="02020603050405020304" pitchFamily="18" charset="0"/>
                    <a:cs typeface="Times New Roman" panose="02020603050405020304" pitchFamily="18" charset="0"/>
                  </a:rPr>
                  <a:t>最坏情况</a:t>
                </a:r>
                <a:r>
                  <a:rPr lang="zh-CN" altLang="en-US" sz="2400" dirty="0">
                    <a:latin typeface="Times New Roman" panose="02020603050405020304" pitchFamily="18" charset="0"/>
                    <a:cs typeface="Times New Roman" panose="02020603050405020304" pitchFamily="18" charset="0"/>
                  </a:rPr>
                  <a:t>下的风险代替</a:t>
                </a:r>
                <a:r>
                  <a:rPr lang="en-US" altLang="zh-CN" sz="2400" dirty="0">
                    <a:latin typeface="Times New Roman" panose="02020603050405020304" pitchFamily="18" charset="0"/>
                    <a:cs typeface="Times New Roman" panose="02020603050405020304" pitchFamily="18" charset="0"/>
                  </a:rPr>
                  <a:t>ERM</a:t>
                </a:r>
                <a:r>
                  <a:rPr lang="zh-CN" altLang="en-US" sz="2400" dirty="0">
                    <a:latin typeface="Times New Roman" panose="02020603050405020304" pitchFamily="18" charset="0"/>
                    <a:cs typeface="Times New Roman" panose="02020603050405020304" pitchFamily="18" charset="0"/>
                  </a:rPr>
                  <a:t>中的单一分布风险</a:t>
                </a:r>
              </a:p>
            </p:txBody>
          </p:sp>
        </mc:Choice>
        <mc:Fallback>
          <p:sp>
            <p:nvSpPr>
              <p:cNvPr id="3" name="内容占位符 2">
                <a:extLst>
                  <a:ext uri="{FF2B5EF4-FFF2-40B4-BE49-F238E27FC236}">
                    <a16:creationId xmlns:a16="http://schemas.microsoft.com/office/drawing/2014/main" id="{06B7B250-57E1-0EA7-AA50-5069697779A8}"/>
                  </a:ext>
                </a:extLst>
              </p:cNvPr>
              <p:cNvSpPr>
                <a:spLocks noGrp="1" noRot="1" noChangeAspect="1" noMove="1" noResize="1" noEditPoints="1" noAdjustHandles="1" noChangeArrowheads="1" noChangeShapeType="1" noTextEdit="1"/>
              </p:cNvSpPr>
              <p:nvPr>
                <p:ph idx="1"/>
              </p:nvPr>
            </p:nvSpPr>
            <p:spPr>
              <a:xfrm>
                <a:off x="393570" y="1249062"/>
                <a:ext cx="10860833" cy="4444546"/>
              </a:xfrm>
              <a:blipFill>
                <a:blip r:embed="rId3"/>
                <a:stretch>
                  <a:fillRect l="-1291" t="-3429" r="-561"/>
                </a:stretch>
              </a:blipFill>
            </p:spPr>
            <p:txBody>
              <a:bodyPr/>
              <a:lstStyle/>
              <a:p>
                <a:r>
                  <a:rPr lang="zh-CN" altLang="en-US">
                    <a:noFill/>
                  </a:rPr>
                  <a:t> </a:t>
                </a:r>
              </a:p>
            </p:txBody>
          </p:sp>
        </mc:Fallback>
      </mc:AlternateContent>
      <p:graphicFrame>
        <p:nvGraphicFramePr>
          <p:cNvPr id="5" name="对象 4">
            <a:extLst>
              <a:ext uri="{FF2B5EF4-FFF2-40B4-BE49-F238E27FC236}">
                <a16:creationId xmlns:a16="http://schemas.microsoft.com/office/drawing/2014/main" id="{C1E15539-5976-26FA-83DB-40B75354F7F9}"/>
              </a:ext>
            </a:extLst>
          </p:cNvPr>
          <p:cNvGraphicFramePr>
            <a:graphicFrameLocks noChangeAspect="1"/>
          </p:cNvGraphicFramePr>
          <p:nvPr>
            <p:extLst>
              <p:ext uri="{D42A27DB-BD31-4B8C-83A1-F6EECF244321}">
                <p14:modId xmlns:p14="http://schemas.microsoft.com/office/powerpoint/2010/main" val="90070435"/>
              </p:ext>
            </p:extLst>
          </p:nvPr>
        </p:nvGraphicFramePr>
        <p:xfrm>
          <a:off x="3741134" y="1900319"/>
          <a:ext cx="3443344" cy="713150"/>
        </p:xfrm>
        <a:graphic>
          <a:graphicData uri="http://schemas.openxmlformats.org/presentationml/2006/ole">
            <mc:AlternateContent xmlns:mc="http://schemas.openxmlformats.org/markup-compatibility/2006">
              <mc:Choice xmlns:v="urn:schemas-microsoft-com:vml" Requires="v">
                <p:oleObj name="AxMath" r:id="rId4" imgW="1026360" imgH="212400" progId="Equation.AxMath">
                  <p:embed/>
                </p:oleObj>
              </mc:Choice>
              <mc:Fallback>
                <p:oleObj name="AxMath" r:id="rId4" imgW="1026360" imgH="212400" progId="Equation.AxMath">
                  <p:embed/>
                  <p:pic>
                    <p:nvPicPr>
                      <p:cNvPr id="5" name="对象 4">
                        <a:extLst>
                          <a:ext uri="{FF2B5EF4-FFF2-40B4-BE49-F238E27FC236}">
                            <a16:creationId xmlns:a16="http://schemas.microsoft.com/office/drawing/2014/main" id="{C1E15539-5976-26FA-83DB-40B75354F7F9}"/>
                          </a:ext>
                        </a:extLst>
                      </p:cNvPr>
                      <p:cNvPicPr/>
                      <p:nvPr/>
                    </p:nvPicPr>
                    <p:blipFill>
                      <a:blip r:embed="rId5"/>
                      <a:stretch>
                        <a:fillRect/>
                      </a:stretch>
                    </p:blipFill>
                    <p:spPr>
                      <a:xfrm>
                        <a:off x="3741134" y="1900319"/>
                        <a:ext cx="3443344" cy="71315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8F24305A-A711-ACA0-7C0F-3B1B4C42B0BE}"/>
              </a:ext>
            </a:extLst>
          </p:cNvPr>
          <p:cNvGraphicFramePr>
            <a:graphicFrameLocks noChangeAspect="1"/>
          </p:cNvGraphicFramePr>
          <p:nvPr>
            <p:extLst>
              <p:ext uri="{D42A27DB-BD31-4B8C-83A1-F6EECF244321}">
                <p14:modId xmlns:p14="http://schemas.microsoft.com/office/powerpoint/2010/main" val="699866877"/>
              </p:ext>
            </p:extLst>
          </p:nvPr>
        </p:nvGraphicFramePr>
        <p:xfrm>
          <a:off x="2351897" y="2853419"/>
          <a:ext cx="513897" cy="389316"/>
        </p:xfrm>
        <a:graphic>
          <a:graphicData uri="http://schemas.openxmlformats.org/presentationml/2006/ole">
            <mc:AlternateContent xmlns:mc="http://schemas.openxmlformats.org/markup-compatibility/2006">
              <mc:Choice xmlns:v="urn:schemas-microsoft-com:vml" Requires="v">
                <p:oleObj name="AxMath" r:id="rId6" imgW="209880" imgH="159480" progId="Equation.AxMath">
                  <p:embed/>
                </p:oleObj>
              </mc:Choice>
              <mc:Fallback>
                <p:oleObj name="AxMath" r:id="rId6" imgW="209880" imgH="159480" progId="Equation.AxMath">
                  <p:embed/>
                  <p:pic>
                    <p:nvPicPr>
                      <p:cNvPr id="6" name="对象 5">
                        <a:extLst>
                          <a:ext uri="{FF2B5EF4-FFF2-40B4-BE49-F238E27FC236}">
                            <a16:creationId xmlns:a16="http://schemas.microsoft.com/office/drawing/2014/main" id="{8F24305A-A711-ACA0-7C0F-3B1B4C42B0BE}"/>
                          </a:ext>
                        </a:extLst>
                      </p:cNvPr>
                      <p:cNvPicPr/>
                      <p:nvPr/>
                    </p:nvPicPr>
                    <p:blipFill>
                      <a:blip r:embed="rId7"/>
                      <a:stretch>
                        <a:fillRect/>
                      </a:stretch>
                    </p:blipFill>
                    <p:spPr>
                      <a:xfrm>
                        <a:off x="2351897" y="2853419"/>
                        <a:ext cx="513897" cy="389316"/>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FACEE015-5D92-7CB2-875D-4D59456AB147}"/>
              </a:ext>
            </a:extLst>
          </p:cNvPr>
          <p:cNvGraphicFramePr>
            <a:graphicFrameLocks noChangeAspect="1"/>
          </p:cNvGraphicFramePr>
          <p:nvPr>
            <p:extLst>
              <p:ext uri="{D42A27DB-BD31-4B8C-83A1-F6EECF244321}">
                <p14:modId xmlns:p14="http://schemas.microsoft.com/office/powerpoint/2010/main" val="1545839733"/>
              </p:ext>
            </p:extLst>
          </p:nvPr>
        </p:nvGraphicFramePr>
        <p:xfrm>
          <a:off x="3641364" y="5350509"/>
          <a:ext cx="4029436" cy="775886"/>
        </p:xfrm>
        <a:graphic>
          <a:graphicData uri="http://schemas.openxmlformats.org/presentationml/2006/ole">
            <mc:AlternateContent xmlns:mc="http://schemas.openxmlformats.org/markup-compatibility/2006">
              <mc:Choice xmlns:v="urn:schemas-microsoft-com:vml" Requires="v">
                <p:oleObj name="AxMath" r:id="rId8" imgW="1236600" imgH="238320" progId="Equation.AxMath">
                  <p:embed/>
                </p:oleObj>
              </mc:Choice>
              <mc:Fallback>
                <p:oleObj name="AxMath" r:id="rId8" imgW="1236600" imgH="238320" progId="Equation.AxMath">
                  <p:embed/>
                  <p:pic>
                    <p:nvPicPr>
                      <p:cNvPr id="7" name="对象 6">
                        <a:extLst>
                          <a:ext uri="{FF2B5EF4-FFF2-40B4-BE49-F238E27FC236}">
                            <a16:creationId xmlns:a16="http://schemas.microsoft.com/office/drawing/2014/main" id="{FACEE015-5D92-7CB2-875D-4D59456AB147}"/>
                          </a:ext>
                        </a:extLst>
                      </p:cNvPr>
                      <p:cNvPicPr/>
                      <p:nvPr/>
                    </p:nvPicPr>
                    <p:blipFill>
                      <a:blip r:embed="rId9"/>
                      <a:stretch>
                        <a:fillRect/>
                      </a:stretch>
                    </p:blipFill>
                    <p:spPr>
                      <a:xfrm>
                        <a:off x="3641364" y="5350509"/>
                        <a:ext cx="4029436" cy="775886"/>
                      </a:xfrm>
                      <a:prstGeom prst="rect">
                        <a:avLst/>
                      </a:prstGeom>
                    </p:spPr>
                  </p:pic>
                </p:oleObj>
              </mc:Fallback>
            </mc:AlternateContent>
          </a:graphicData>
        </a:graphic>
      </p:graphicFrame>
      <p:sp>
        <p:nvSpPr>
          <p:cNvPr id="2" name="标题 1">
            <a:extLst>
              <a:ext uri="{FF2B5EF4-FFF2-40B4-BE49-F238E27FC236}">
                <a16:creationId xmlns:a16="http://schemas.microsoft.com/office/drawing/2014/main" id="{5F55FA81-CC91-A78B-3483-DA5309A3CBD3}"/>
              </a:ext>
            </a:extLst>
          </p:cNvPr>
          <p:cNvSpPr txBox="1">
            <a:spLocks/>
          </p:cNvSpPr>
          <p:nvPr/>
        </p:nvSpPr>
        <p:spPr>
          <a:xfrm>
            <a:off x="346435" y="174499"/>
            <a:ext cx="5631032" cy="10297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dirty="0">
                <a:latin typeface="楷体" panose="02010609060101010101" pitchFamily="49" charset="-122"/>
                <a:ea typeface="楷体" panose="02010609060101010101" pitchFamily="49" charset="-122"/>
              </a:rPr>
              <a:t>选题背景</a:t>
            </a:r>
            <a:r>
              <a:rPr lang="en-US" altLang="zh-CN" sz="4000" b="1" dirty="0">
                <a:latin typeface="楷体" panose="02010609060101010101" pitchFamily="49" charset="-122"/>
                <a:ea typeface="楷体" panose="02010609060101010101" pitchFamily="49" charset="-122"/>
              </a:rPr>
              <a:t>-</a:t>
            </a:r>
            <a:r>
              <a:rPr lang="zh-CN" altLang="en-US" sz="4000" b="1" dirty="0">
                <a:latin typeface="楷体" panose="02010609060101010101" pitchFamily="49" charset="-122"/>
                <a:ea typeface="楷体" panose="02010609060101010101" pitchFamily="49" charset="-122"/>
              </a:rPr>
              <a:t>分布鲁棒优化</a:t>
            </a:r>
          </a:p>
        </p:txBody>
      </p:sp>
      <p:cxnSp>
        <p:nvCxnSpPr>
          <p:cNvPr id="10" name="直接连接符 9">
            <a:extLst>
              <a:ext uri="{FF2B5EF4-FFF2-40B4-BE49-F238E27FC236}">
                <a16:creationId xmlns:a16="http://schemas.microsoft.com/office/drawing/2014/main" id="{B274C722-4225-9D49-7AA8-402AAAD7E730}"/>
              </a:ext>
            </a:extLst>
          </p:cNvPr>
          <p:cNvCxnSpPr>
            <a:cxnSpLocks/>
          </p:cNvCxnSpPr>
          <p:nvPr/>
        </p:nvCxnSpPr>
        <p:spPr>
          <a:xfrm>
            <a:off x="478237" y="1029873"/>
            <a:ext cx="5338363" cy="0"/>
          </a:xfrm>
          <a:prstGeom prst="line">
            <a:avLst/>
          </a:prstGeom>
          <a:ln w="28575"/>
        </p:spPr>
        <p:style>
          <a:lnRef idx="1">
            <a:schemeClr val="dk1"/>
          </a:lnRef>
          <a:fillRef idx="0">
            <a:schemeClr val="dk1"/>
          </a:fillRef>
          <a:effectRef idx="0">
            <a:schemeClr val="dk1"/>
          </a:effectRef>
          <a:fontRef idx="minor">
            <a:schemeClr val="tx1"/>
          </a:fontRef>
        </p:style>
      </p:cxnSp>
      <p:sp>
        <p:nvSpPr>
          <p:cNvPr id="13" name="灯片编号占位符 12">
            <a:extLst>
              <a:ext uri="{FF2B5EF4-FFF2-40B4-BE49-F238E27FC236}">
                <a16:creationId xmlns:a16="http://schemas.microsoft.com/office/drawing/2014/main" id="{C72C5AA4-5C4F-85CC-7090-DA6441A24B76}"/>
              </a:ext>
            </a:extLst>
          </p:cNvPr>
          <p:cNvSpPr>
            <a:spLocks noGrp="1"/>
          </p:cNvSpPr>
          <p:nvPr>
            <p:ph type="sldNum" sz="quarter" idx="12"/>
          </p:nvPr>
        </p:nvSpPr>
        <p:spPr/>
        <p:txBody>
          <a:bodyPr/>
          <a:lstStyle/>
          <a:p>
            <a:fld id="{A290DF1A-1B4B-4FE9-B9C1-10AC9C5D423D}" type="slidenum">
              <a:rPr lang="zh-CN" altLang="en-US" smtClean="0">
                <a:latin typeface="Times New Roman" panose="02020603050405020304" pitchFamily="18" charset="0"/>
                <a:cs typeface="Times New Roman" panose="02020603050405020304" pitchFamily="18" charset="0"/>
              </a:rPr>
              <a:t>6</a:t>
            </a:fld>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043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A6662D-FB78-9A9E-0F4A-81EEE71E2315}"/>
              </a:ext>
            </a:extLst>
          </p:cNvPr>
          <p:cNvSpPr>
            <a:spLocks noGrp="1"/>
          </p:cNvSpPr>
          <p:nvPr>
            <p:ph type="ctrTitle"/>
          </p:nvPr>
        </p:nvSpPr>
        <p:spPr>
          <a:xfrm>
            <a:off x="1244600" y="2133600"/>
            <a:ext cx="9423400" cy="1170640"/>
          </a:xfrm>
        </p:spPr>
        <p:txBody>
          <a:bodyPr>
            <a:noAutofit/>
          </a:bodyPr>
          <a:lstStyle/>
          <a:p>
            <a:r>
              <a:rPr lang="en-US" altLang="zh-CN" sz="5400" b="1" dirty="0"/>
              <a:t>2   </a:t>
            </a:r>
            <a:r>
              <a:rPr lang="zh-CN" altLang="en-US" sz="5400" b="1" dirty="0"/>
              <a:t>理论基础与国内外研究现状</a:t>
            </a:r>
          </a:p>
        </p:txBody>
      </p:sp>
      <p:sp>
        <p:nvSpPr>
          <p:cNvPr id="4" name="灯片编号占位符 3">
            <a:extLst>
              <a:ext uri="{FF2B5EF4-FFF2-40B4-BE49-F238E27FC236}">
                <a16:creationId xmlns:a16="http://schemas.microsoft.com/office/drawing/2014/main" id="{B35D4A2F-1955-46D8-2A12-84F29DF3C15A}"/>
              </a:ext>
            </a:extLst>
          </p:cNvPr>
          <p:cNvSpPr>
            <a:spLocks noGrp="1"/>
          </p:cNvSpPr>
          <p:nvPr>
            <p:ph type="sldNum" sz="quarter" idx="12"/>
          </p:nvPr>
        </p:nvSpPr>
        <p:spPr/>
        <p:txBody>
          <a:bodyPr/>
          <a:lstStyle/>
          <a:p>
            <a:fld id="{A290DF1A-1B4B-4FE9-B9C1-10AC9C5D423D}" type="slidenum">
              <a:rPr lang="zh-CN" altLang="en-US" smtClean="0"/>
              <a:t>7</a:t>
            </a:fld>
            <a:endParaRPr lang="zh-CN" altLang="en-US" dirty="0"/>
          </a:p>
        </p:txBody>
      </p:sp>
      <p:cxnSp>
        <p:nvCxnSpPr>
          <p:cNvPr id="3" name="直接连接符 2">
            <a:extLst>
              <a:ext uri="{FF2B5EF4-FFF2-40B4-BE49-F238E27FC236}">
                <a16:creationId xmlns:a16="http://schemas.microsoft.com/office/drawing/2014/main" id="{52435350-108C-39ED-FCAB-087516C67727}"/>
              </a:ext>
            </a:extLst>
          </p:cNvPr>
          <p:cNvCxnSpPr>
            <a:cxnSpLocks/>
          </p:cNvCxnSpPr>
          <p:nvPr/>
        </p:nvCxnSpPr>
        <p:spPr>
          <a:xfrm>
            <a:off x="1380068" y="3304240"/>
            <a:ext cx="8957732" cy="30317"/>
          </a:xfrm>
          <a:prstGeom prst="line">
            <a:avLst/>
          </a:prstGeom>
          <a:ln w="12700"/>
        </p:spPr>
        <p:style>
          <a:lnRef idx="1">
            <a:schemeClr val="dk1"/>
          </a:lnRef>
          <a:fillRef idx="0">
            <a:schemeClr val="dk1"/>
          </a:fillRef>
          <a:effectRef idx="0">
            <a:schemeClr val="dk1"/>
          </a:effectRef>
          <a:fontRef idx="minor">
            <a:schemeClr val="tx1"/>
          </a:fontRef>
        </p:style>
      </p:cxnSp>
      <p:sp>
        <p:nvSpPr>
          <p:cNvPr id="5" name="文本框 4">
            <a:extLst>
              <a:ext uri="{FF2B5EF4-FFF2-40B4-BE49-F238E27FC236}">
                <a16:creationId xmlns:a16="http://schemas.microsoft.com/office/drawing/2014/main" id="{6E3DB7FC-67AF-48BF-8DC0-7C7061620233}"/>
              </a:ext>
            </a:extLst>
          </p:cNvPr>
          <p:cNvSpPr txBox="1"/>
          <p:nvPr/>
        </p:nvSpPr>
        <p:spPr>
          <a:xfrm>
            <a:off x="3479799" y="3517994"/>
            <a:ext cx="1697836" cy="461665"/>
          </a:xfrm>
          <a:prstGeom prst="rect">
            <a:avLst/>
          </a:prstGeom>
          <a:noFill/>
        </p:spPr>
        <p:txBody>
          <a:bodyPr wrap="square" rtlCol="0">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AUC</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优化</a:t>
            </a:r>
          </a:p>
        </p:txBody>
      </p:sp>
      <p:sp>
        <p:nvSpPr>
          <p:cNvPr id="6" name="文本框 5">
            <a:extLst>
              <a:ext uri="{FF2B5EF4-FFF2-40B4-BE49-F238E27FC236}">
                <a16:creationId xmlns:a16="http://schemas.microsoft.com/office/drawing/2014/main" id="{6A27E8B6-4B1D-474B-6D4F-0C0AC09376DC}"/>
              </a:ext>
            </a:extLst>
          </p:cNvPr>
          <p:cNvSpPr txBox="1"/>
          <p:nvPr/>
        </p:nvSpPr>
        <p:spPr>
          <a:xfrm>
            <a:off x="5858934" y="3517994"/>
            <a:ext cx="2410340"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分布鲁棒优化</a:t>
            </a:r>
          </a:p>
        </p:txBody>
      </p:sp>
      <p:cxnSp>
        <p:nvCxnSpPr>
          <p:cNvPr id="7" name="直接连接符 6">
            <a:extLst>
              <a:ext uri="{FF2B5EF4-FFF2-40B4-BE49-F238E27FC236}">
                <a16:creationId xmlns:a16="http://schemas.microsoft.com/office/drawing/2014/main" id="{8CDE0B9F-A472-A7A0-7516-5575F4876D01}"/>
              </a:ext>
            </a:extLst>
          </p:cNvPr>
          <p:cNvCxnSpPr>
            <a:cxnSpLocks/>
          </p:cNvCxnSpPr>
          <p:nvPr/>
        </p:nvCxnSpPr>
        <p:spPr>
          <a:xfrm>
            <a:off x="5364245" y="3523443"/>
            <a:ext cx="0" cy="358435"/>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76156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E454E4A4-5437-B140-96A1-E9BD0216F83D}"/>
              </a:ext>
            </a:extLst>
          </p:cNvPr>
          <p:cNvSpPr>
            <a:spLocks noGrp="1"/>
          </p:cNvSpPr>
          <p:nvPr>
            <p:ph type="title"/>
          </p:nvPr>
        </p:nvSpPr>
        <p:spPr>
          <a:xfrm>
            <a:off x="0" y="0"/>
            <a:ext cx="10515600" cy="1325563"/>
          </a:xfrm>
        </p:spPr>
        <p:txBody>
          <a:bodyPr>
            <a:normAutofit/>
          </a:bodyPr>
          <a:lstStyle/>
          <a:p>
            <a:r>
              <a:rPr lang="zh-CN" altLang="en-US" sz="4000" b="1" dirty="0">
                <a:latin typeface="Times New Roman" panose="02020603050405020304" pitchFamily="18" charset="0"/>
                <a:cs typeface="Times New Roman" panose="02020603050405020304" pitchFamily="18" charset="0"/>
              </a:rPr>
              <a:t>理论基础</a:t>
            </a:r>
            <a:r>
              <a:rPr lang="en-US" altLang="zh-CN" sz="4000" b="1" dirty="0">
                <a:latin typeface="Times New Roman" panose="02020603050405020304" pitchFamily="18" charset="0"/>
                <a:cs typeface="Times New Roman" panose="02020603050405020304" pitchFamily="18" charset="0"/>
              </a:rPr>
              <a:t>– AUC</a:t>
            </a:r>
            <a:r>
              <a:rPr lang="zh-CN" altLang="en-US" sz="4000" b="1" dirty="0">
                <a:latin typeface="Times New Roman" panose="02020603050405020304" pitchFamily="18" charset="0"/>
                <a:cs typeface="Times New Roman" panose="02020603050405020304" pitchFamily="18" charset="0"/>
              </a:rPr>
              <a:t>优化</a:t>
            </a:r>
            <a:endParaRPr lang="zh-CN" altLang="en-US" sz="4000" dirty="0">
              <a:latin typeface="Times New Roman" panose="02020603050405020304" pitchFamily="18" charset="0"/>
              <a:cs typeface="Times New Roman" panose="02020603050405020304" pitchFamily="18" charset="0"/>
            </a:endParaRPr>
          </a:p>
        </p:txBody>
      </p:sp>
      <p:graphicFrame>
        <p:nvGraphicFramePr>
          <p:cNvPr id="7" name="对象 6">
            <a:extLst>
              <a:ext uri="{FF2B5EF4-FFF2-40B4-BE49-F238E27FC236}">
                <a16:creationId xmlns:a16="http://schemas.microsoft.com/office/drawing/2014/main" id="{7C340D9B-5310-CA19-BDA9-D5AD706BACB2}"/>
              </a:ext>
            </a:extLst>
          </p:cNvPr>
          <p:cNvGraphicFramePr>
            <a:graphicFrameLocks noChangeAspect="1"/>
          </p:cNvGraphicFramePr>
          <p:nvPr>
            <p:extLst>
              <p:ext uri="{D42A27DB-BD31-4B8C-83A1-F6EECF244321}">
                <p14:modId xmlns:p14="http://schemas.microsoft.com/office/powerpoint/2010/main" val="3408213070"/>
              </p:ext>
            </p:extLst>
          </p:nvPr>
        </p:nvGraphicFramePr>
        <p:xfrm>
          <a:off x="261490" y="2596157"/>
          <a:ext cx="5834510" cy="3414312"/>
        </p:xfrm>
        <a:graphic>
          <a:graphicData uri="http://schemas.openxmlformats.org/presentationml/2006/ole">
            <mc:AlternateContent xmlns:mc="http://schemas.openxmlformats.org/markup-compatibility/2006">
              <mc:Choice xmlns:v="urn:schemas-microsoft-com:vml" Requires="v">
                <p:oleObj name="AxMath" r:id="rId3" imgW="2734920" imgH="1593360" progId="Equation.AxMath">
                  <p:embed/>
                </p:oleObj>
              </mc:Choice>
              <mc:Fallback>
                <p:oleObj name="AxMath" r:id="rId3" imgW="2734920" imgH="1593360" progId="Equation.AxMath">
                  <p:embed/>
                  <p:pic>
                    <p:nvPicPr>
                      <p:cNvPr id="0" name="Object 1"/>
                      <p:cNvPicPr>
                        <a:picLocks noChangeAspect="1" noChangeArrowheads="1"/>
                      </p:cNvPicPr>
                      <p:nvPr/>
                    </p:nvPicPr>
                    <p:blipFill>
                      <a:blip r:embed="rId4"/>
                      <a:srcRect/>
                      <a:stretch>
                        <a:fillRect/>
                      </a:stretch>
                    </p:blipFill>
                    <p:spPr bwMode="auto">
                      <a:xfrm>
                        <a:off x="261490" y="2596157"/>
                        <a:ext cx="5834510" cy="3414312"/>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20EBF8CC-7C53-1F4A-CABB-2011402CE041}"/>
              </a:ext>
            </a:extLst>
          </p:cNvPr>
          <p:cNvGraphicFramePr>
            <a:graphicFrameLocks noChangeAspect="1"/>
          </p:cNvGraphicFramePr>
          <p:nvPr>
            <p:extLst>
              <p:ext uri="{D42A27DB-BD31-4B8C-83A1-F6EECF244321}">
                <p14:modId xmlns:p14="http://schemas.microsoft.com/office/powerpoint/2010/main" val="2061115485"/>
              </p:ext>
            </p:extLst>
          </p:nvPr>
        </p:nvGraphicFramePr>
        <p:xfrm>
          <a:off x="665163" y="1137166"/>
          <a:ext cx="3242926" cy="702484"/>
        </p:xfrm>
        <a:graphic>
          <a:graphicData uri="http://schemas.openxmlformats.org/presentationml/2006/ole">
            <mc:AlternateContent xmlns:mc="http://schemas.openxmlformats.org/markup-compatibility/2006">
              <mc:Choice xmlns:v="urn:schemas-microsoft-com:vml" Requires="v">
                <p:oleObj name="AxMath" r:id="rId5" imgW="1385640" imgH="299880" progId="Equation.AxMath">
                  <p:embed/>
                </p:oleObj>
              </mc:Choice>
              <mc:Fallback>
                <p:oleObj name="AxMath" r:id="rId5" imgW="1385640" imgH="299880" progId="Equation.AxMath">
                  <p:embed/>
                  <p:pic>
                    <p:nvPicPr>
                      <p:cNvPr id="10" name="对象 9">
                        <a:extLst>
                          <a:ext uri="{FF2B5EF4-FFF2-40B4-BE49-F238E27FC236}">
                            <a16:creationId xmlns:a16="http://schemas.microsoft.com/office/drawing/2014/main" id="{7BFD87FC-0D7D-0384-C0D2-C4DE99DB5064}"/>
                          </a:ext>
                        </a:extLst>
                      </p:cNvPr>
                      <p:cNvPicPr/>
                      <p:nvPr/>
                    </p:nvPicPr>
                    <p:blipFill>
                      <a:blip r:embed="rId6"/>
                      <a:stretch>
                        <a:fillRect/>
                      </a:stretch>
                    </p:blipFill>
                    <p:spPr>
                      <a:xfrm>
                        <a:off x="665163" y="1137166"/>
                        <a:ext cx="3242926" cy="702484"/>
                      </a:xfrm>
                      <a:prstGeom prst="rect">
                        <a:avLst/>
                      </a:prstGeom>
                    </p:spPr>
                  </p:pic>
                </p:oleObj>
              </mc:Fallback>
            </mc:AlternateContent>
          </a:graphicData>
        </a:graphic>
      </p:graphicFrame>
      <p:sp>
        <p:nvSpPr>
          <p:cNvPr id="15" name="箭头: 下 14">
            <a:extLst>
              <a:ext uri="{FF2B5EF4-FFF2-40B4-BE49-F238E27FC236}">
                <a16:creationId xmlns:a16="http://schemas.microsoft.com/office/drawing/2014/main" id="{763A3E1D-63D0-FBB1-A9E8-71D5E34D8166}"/>
              </a:ext>
            </a:extLst>
          </p:cNvPr>
          <p:cNvSpPr/>
          <p:nvPr/>
        </p:nvSpPr>
        <p:spPr>
          <a:xfrm>
            <a:off x="1729273" y="1867399"/>
            <a:ext cx="130629" cy="720291"/>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graphicFrame>
        <p:nvGraphicFramePr>
          <p:cNvPr id="22" name="对象 21">
            <a:extLst>
              <a:ext uri="{FF2B5EF4-FFF2-40B4-BE49-F238E27FC236}">
                <a16:creationId xmlns:a16="http://schemas.microsoft.com/office/drawing/2014/main" id="{0409CC56-D726-B66B-998F-F2B2FE99B299}"/>
              </a:ext>
            </a:extLst>
          </p:cNvPr>
          <p:cNvGraphicFramePr>
            <a:graphicFrameLocks noChangeAspect="1"/>
          </p:cNvGraphicFramePr>
          <p:nvPr>
            <p:extLst>
              <p:ext uri="{D42A27DB-BD31-4B8C-83A1-F6EECF244321}">
                <p14:modId xmlns:p14="http://schemas.microsoft.com/office/powerpoint/2010/main" val="956946849"/>
              </p:ext>
            </p:extLst>
          </p:nvPr>
        </p:nvGraphicFramePr>
        <p:xfrm>
          <a:off x="6632575" y="3757613"/>
          <a:ext cx="5227638" cy="952500"/>
        </p:xfrm>
        <a:graphic>
          <a:graphicData uri="http://schemas.openxmlformats.org/presentationml/2006/ole">
            <mc:AlternateContent xmlns:mc="http://schemas.openxmlformats.org/markup-compatibility/2006">
              <mc:Choice xmlns:v="urn:schemas-microsoft-com:vml" Requires="v">
                <p:oleObj name="AxMath" r:id="rId7" imgW="2682360" imgH="487080" progId="Equation.AxMath">
                  <p:embed/>
                </p:oleObj>
              </mc:Choice>
              <mc:Fallback>
                <p:oleObj name="AxMath" r:id="rId7" imgW="2682360" imgH="487080" progId="Equation.AxMath">
                  <p:embed/>
                  <p:pic>
                    <p:nvPicPr>
                      <p:cNvPr id="0" name="Object 3"/>
                      <p:cNvPicPr>
                        <a:picLocks noChangeAspect="1" noChangeArrowheads="1"/>
                      </p:cNvPicPr>
                      <p:nvPr/>
                    </p:nvPicPr>
                    <p:blipFill>
                      <a:blip r:embed="rId8"/>
                      <a:srcRect/>
                      <a:stretch>
                        <a:fillRect/>
                      </a:stretch>
                    </p:blipFill>
                    <p:spPr bwMode="auto">
                      <a:xfrm>
                        <a:off x="6632575" y="3757613"/>
                        <a:ext cx="5227638" cy="952500"/>
                      </a:xfrm>
                      <a:prstGeom prst="rect">
                        <a:avLst/>
                      </a:prstGeom>
                      <a:noFill/>
                    </p:spPr>
                  </p:pic>
                </p:oleObj>
              </mc:Fallback>
            </mc:AlternateContent>
          </a:graphicData>
        </a:graphic>
      </p:graphicFrame>
      <p:sp>
        <p:nvSpPr>
          <p:cNvPr id="23" name="箭头: 下 22">
            <a:extLst>
              <a:ext uri="{FF2B5EF4-FFF2-40B4-BE49-F238E27FC236}">
                <a16:creationId xmlns:a16="http://schemas.microsoft.com/office/drawing/2014/main" id="{6C7DB180-250E-C8C5-30DE-29E95F6BDEE9}"/>
              </a:ext>
            </a:extLst>
          </p:cNvPr>
          <p:cNvSpPr/>
          <p:nvPr/>
        </p:nvSpPr>
        <p:spPr>
          <a:xfrm rot="16200000">
            <a:off x="6099338" y="3873929"/>
            <a:ext cx="130629" cy="720291"/>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24" name="文本框 23">
            <a:extLst>
              <a:ext uri="{FF2B5EF4-FFF2-40B4-BE49-F238E27FC236}">
                <a16:creationId xmlns:a16="http://schemas.microsoft.com/office/drawing/2014/main" id="{55202222-8916-055A-58E2-AD4866B5520B}"/>
              </a:ext>
            </a:extLst>
          </p:cNvPr>
          <p:cNvSpPr txBox="1"/>
          <p:nvPr/>
        </p:nvSpPr>
        <p:spPr>
          <a:xfrm>
            <a:off x="5804507" y="2119103"/>
            <a:ext cx="5649685" cy="954107"/>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AUC</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的概率意义：</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正例得分大于负例得分的概率</a:t>
            </a:r>
          </a:p>
        </p:txBody>
      </p:sp>
      <p:cxnSp>
        <p:nvCxnSpPr>
          <p:cNvPr id="2" name="直接连接符 1">
            <a:extLst>
              <a:ext uri="{FF2B5EF4-FFF2-40B4-BE49-F238E27FC236}">
                <a16:creationId xmlns:a16="http://schemas.microsoft.com/office/drawing/2014/main" id="{EDDCBD45-64BC-42A0-EE78-51075DE3DADF}"/>
              </a:ext>
            </a:extLst>
          </p:cNvPr>
          <p:cNvCxnSpPr>
            <a:cxnSpLocks/>
          </p:cNvCxnSpPr>
          <p:nvPr/>
        </p:nvCxnSpPr>
        <p:spPr>
          <a:xfrm>
            <a:off x="156487" y="982763"/>
            <a:ext cx="4398580" cy="0"/>
          </a:xfrm>
          <a:prstGeom prst="line">
            <a:avLst/>
          </a:prstGeom>
          <a:ln w="28575"/>
        </p:spPr>
        <p:style>
          <a:lnRef idx="1">
            <a:schemeClr val="dk1"/>
          </a:lnRef>
          <a:fillRef idx="0">
            <a:schemeClr val="dk1"/>
          </a:fillRef>
          <a:effectRef idx="0">
            <a:schemeClr val="dk1"/>
          </a:effectRef>
          <a:fontRef idx="minor">
            <a:schemeClr val="tx1"/>
          </a:fontRef>
        </p:style>
      </p:cxnSp>
      <p:sp>
        <p:nvSpPr>
          <p:cNvPr id="10" name="灯片编号占位符 3">
            <a:extLst>
              <a:ext uri="{FF2B5EF4-FFF2-40B4-BE49-F238E27FC236}">
                <a16:creationId xmlns:a16="http://schemas.microsoft.com/office/drawing/2014/main" id="{D78F985F-9490-46F8-943E-F24DBFDCFCF4}"/>
              </a:ext>
            </a:extLst>
          </p:cNvPr>
          <p:cNvSpPr>
            <a:spLocks noGrp="1"/>
          </p:cNvSpPr>
          <p:nvPr>
            <p:ph type="sldNum" sz="quarter" idx="12"/>
          </p:nvPr>
        </p:nvSpPr>
        <p:spPr>
          <a:xfrm>
            <a:off x="8610600" y="6356350"/>
            <a:ext cx="2743200" cy="365125"/>
          </a:xfrm>
        </p:spPr>
        <p:txBody>
          <a:bodyPr/>
          <a:lstStyle/>
          <a:p>
            <a:fld id="{A290DF1A-1B4B-4FE9-B9C1-10AC9C5D423D}" type="slidenum">
              <a:rPr lang="zh-CN" altLang="en-US" smtClean="0">
                <a:latin typeface="Times New Roman" panose="02020603050405020304" pitchFamily="18" charset="0"/>
                <a:cs typeface="Times New Roman" panose="02020603050405020304" pitchFamily="18" charset="0"/>
              </a:rPr>
              <a:t>8</a:t>
            </a:fld>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7757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a:extLst>
              <a:ext uri="{FF2B5EF4-FFF2-40B4-BE49-F238E27FC236}">
                <a16:creationId xmlns:a16="http://schemas.microsoft.com/office/drawing/2014/main" id="{06731F89-7192-6519-2150-0A3CE84D02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2622" y="1325563"/>
            <a:ext cx="6672470" cy="2071090"/>
          </a:xfrm>
          <a:prstGeom prst="rect">
            <a:avLst/>
          </a:prstGeom>
        </p:spPr>
      </p:pic>
      <p:sp>
        <p:nvSpPr>
          <p:cNvPr id="5" name="标题 1">
            <a:extLst>
              <a:ext uri="{FF2B5EF4-FFF2-40B4-BE49-F238E27FC236}">
                <a16:creationId xmlns:a16="http://schemas.microsoft.com/office/drawing/2014/main" id="{E454E4A4-5437-B140-96A1-E9BD0216F83D}"/>
              </a:ext>
            </a:extLst>
          </p:cNvPr>
          <p:cNvSpPr>
            <a:spLocks noGrp="1"/>
          </p:cNvSpPr>
          <p:nvPr>
            <p:ph type="title"/>
          </p:nvPr>
        </p:nvSpPr>
        <p:spPr>
          <a:xfrm>
            <a:off x="0" y="0"/>
            <a:ext cx="10515600" cy="1325563"/>
          </a:xfrm>
        </p:spPr>
        <p:txBody>
          <a:bodyPr>
            <a:normAutofit/>
          </a:bodyPr>
          <a:lstStyle/>
          <a:p>
            <a:r>
              <a:rPr lang="zh-CN" altLang="en-US" sz="4000" b="1" dirty="0"/>
              <a:t>国内外研究现状</a:t>
            </a:r>
            <a:r>
              <a:rPr lang="en-US" altLang="zh-CN" sz="4000" b="1" dirty="0"/>
              <a:t>– AUC</a:t>
            </a:r>
            <a:r>
              <a:rPr lang="zh-CN" altLang="en-US" sz="4000" b="1" dirty="0"/>
              <a:t>优化</a:t>
            </a:r>
            <a:endParaRPr lang="zh-CN" altLang="en-US" sz="4000" dirty="0"/>
          </a:p>
        </p:txBody>
      </p:sp>
      <p:sp>
        <p:nvSpPr>
          <p:cNvPr id="8" name="内容占位符 2">
            <a:extLst>
              <a:ext uri="{FF2B5EF4-FFF2-40B4-BE49-F238E27FC236}">
                <a16:creationId xmlns:a16="http://schemas.microsoft.com/office/drawing/2014/main" id="{BC042737-BA45-4156-1661-FE130A6F9FDB}"/>
              </a:ext>
            </a:extLst>
          </p:cNvPr>
          <p:cNvSpPr txBox="1">
            <a:spLocks/>
          </p:cNvSpPr>
          <p:nvPr/>
        </p:nvSpPr>
        <p:spPr>
          <a:xfrm>
            <a:off x="222822" y="1236174"/>
            <a:ext cx="2395031" cy="44724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US" altLang="zh-CN" sz="3200" dirty="0">
                <a:latin typeface="Times New Roman" panose="02020603050405020304" pitchFamily="18" charset="0"/>
                <a:ea typeface="楷体" panose="02010609060101010101" pitchFamily="49" charset="-122"/>
                <a:cs typeface="Times New Roman" panose="02020603050405020304" pitchFamily="18" charset="0"/>
              </a:rPr>
              <a:t>Partial </a:t>
            </a:r>
            <a:r>
              <a:rPr lang="en-US" altLang="zh-CN" sz="3500" dirty="0">
                <a:latin typeface="Times New Roman" panose="02020603050405020304" pitchFamily="18" charset="0"/>
                <a:ea typeface="楷体" panose="02010609060101010101" pitchFamily="49" charset="-122"/>
                <a:cs typeface="Times New Roman" panose="02020603050405020304" pitchFamily="18" charset="0"/>
              </a:rPr>
              <a:t>AUC</a:t>
            </a:r>
            <a:endParaRPr lang="zh-CN" altLang="en-US" sz="32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0" name="文本框 9">
            <a:extLst>
              <a:ext uri="{FF2B5EF4-FFF2-40B4-BE49-F238E27FC236}">
                <a16:creationId xmlns:a16="http://schemas.microsoft.com/office/drawing/2014/main" id="{7E91F44D-4287-ED61-4BF3-A466978FCA1C}"/>
              </a:ext>
            </a:extLst>
          </p:cNvPr>
          <p:cNvSpPr txBox="1"/>
          <p:nvPr/>
        </p:nvSpPr>
        <p:spPr>
          <a:xfrm>
            <a:off x="261223" y="3435242"/>
            <a:ext cx="9507895" cy="2353658"/>
          </a:xfrm>
          <a:prstGeom prst="rect">
            <a:avLst/>
          </a:prstGeom>
          <a:noFill/>
        </p:spPr>
        <p:txBody>
          <a:bodyPr wrap="square">
            <a:spAutoFit/>
          </a:bodyPr>
          <a:lstStyle/>
          <a:p>
            <a:pPr indent="228600" algn="just">
              <a:lnSpc>
                <a:spcPct val="125000"/>
              </a:lnSpc>
            </a:pPr>
            <a:r>
              <a:rPr lang="en-US" altLang="zh-CN" sz="2400" kern="100" dirty="0">
                <a:latin typeface="Times New Roman" panose="02020603050405020304" pitchFamily="18" charset="0"/>
                <a:ea typeface="楷体" panose="02010609060101010101" pitchFamily="49" charset="-122"/>
                <a:cs typeface="Times New Roman" panose="02020603050405020304" pitchFamily="18" charset="0"/>
              </a:rPr>
              <a:t>(1) </a:t>
            </a:r>
            <a:r>
              <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完整的</a:t>
            </a:r>
            <a:r>
              <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AUC</a:t>
            </a:r>
            <a:r>
              <a:rPr lang="zh-CN" altLang="en-US" sz="240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indent="228600" algn="just">
              <a:lnSpc>
                <a:spcPct val="125000"/>
              </a:lnSpc>
            </a:pPr>
            <a:endPar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indent="228600" algn="just">
              <a:lnSpc>
                <a:spcPct val="125000"/>
              </a:lnSpc>
            </a:pPr>
            <a:r>
              <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(2) </a:t>
            </a:r>
            <a:r>
              <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对</a:t>
            </a:r>
            <a:r>
              <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FPR</a:t>
            </a:r>
            <a:r>
              <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进行截断的</a:t>
            </a:r>
            <a:r>
              <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OPAUC</a:t>
            </a:r>
            <a:r>
              <a:rPr lang="zh-CN" altLang="en-US" sz="2400" kern="1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indent="228600" algn="just">
              <a:lnSpc>
                <a:spcPct val="125000"/>
              </a:lnSpc>
            </a:pPr>
            <a:endPar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indent="228600" algn="just">
              <a:lnSpc>
                <a:spcPct val="125000"/>
              </a:lnSpc>
            </a:pPr>
            <a:r>
              <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(3) </a:t>
            </a:r>
            <a:r>
              <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对</a:t>
            </a:r>
            <a:r>
              <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FPR</a:t>
            </a:r>
            <a:r>
              <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TPR</a:t>
            </a:r>
            <a:r>
              <a:rPr lang="zh-CN"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进行截断的</a:t>
            </a:r>
            <a:r>
              <a:rPr lang="en-US" altLang="zh-CN" sz="2400" kern="100" dirty="0">
                <a:effectLst/>
                <a:latin typeface="Times New Roman" panose="02020603050405020304" pitchFamily="18" charset="0"/>
                <a:ea typeface="楷体" panose="02010609060101010101" pitchFamily="49" charset="-122"/>
                <a:cs typeface="Times New Roman" panose="02020603050405020304" pitchFamily="18" charset="0"/>
              </a:rPr>
              <a:t>TPAUC</a:t>
            </a:r>
            <a:r>
              <a:rPr lang="zh-CN" altLang="en-US" sz="240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altLang="zh-CN" sz="3200" kern="100" dirty="0">
              <a:effectLst/>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11" name="对象 10">
            <a:extLst>
              <a:ext uri="{FF2B5EF4-FFF2-40B4-BE49-F238E27FC236}">
                <a16:creationId xmlns:a16="http://schemas.microsoft.com/office/drawing/2014/main" id="{58C9347F-2869-E203-10D7-63A26A8CB074}"/>
              </a:ext>
            </a:extLst>
          </p:cNvPr>
          <p:cNvGraphicFramePr>
            <a:graphicFrameLocks noChangeAspect="1"/>
          </p:cNvGraphicFramePr>
          <p:nvPr>
            <p:extLst>
              <p:ext uri="{D42A27DB-BD31-4B8C-83A1-F6EECF244321}">
                <p14:modId xmlns:p14="http://schemas.microsoft.com/office/powerpoint/2010/main" val="2384596157"/>
              </p:ext>
            </p:extLst>
          </p:nvPr>
        </p:nvGraphicFramePr>
        <p:xfrm>
          <a:off x="2849011" y="3326331"/>
          <a:ext cx="3576594" cy="827388"/>
        </p:xfrm>
        <a:graphic>
          <a:graphicData uri="http://schemas.openxmlformats.org/presentationml/2006/ole">
            <mc:AlternateContent xmlns:mc="http://schemas.openxmlformats.org/markup-compatibility/2006">
              <mc:Choice xmlns:v="urn:schemas-microsoft-com:vml" Requires="v">
                <p:oleObj name="AxMath" r:id="rId3" imgW="1297080" imgH="299880" progId="Equation.AxMath">
                  <p:embed/>
                </p:oleObj>
              </mc:Choice>
              <mc:Fallback>
                <p:oleObj name="AxMath" r:id="rId3" imgW="1297080" imgH="299880" progId="Equation.AxMath">
                  <p:embed/>
                  <p:pic>
                    <p:nvPicPr>
                      <p:cNvPr id="11" name="对象 10">
                        <a:extLst>
                          <a:ext uri="{FF2B5EF4-FFF2-40B4-BE49-F238E27FC236}">
                            <a16:creationId xmlns:a16="http://schemas.microsoft.com/office/drawing/2014/main" id="{58C9347F-2869-E203-10D7-63A26A8CB074}"/>
                          </a:ext>
                        </a:extLst>
                      </p:cNvPr>
                      <p:cNvPicPr/>
                      <p:nvPr/>
                    </p:nvPicPr>
                    <p:blipFill>
                      <a:blip r:embed="rId4"/>
                      <a:stretch>
                        <a:fillRect/>
                      </a:stretch>
                    </p:blipFill>
                    <p:spPr>
                      <a:xfrm>
                        <a:off x="2849011" y="3326331"/>
                        <a:ext cx="3576594" cy="827388"/>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F1E2B56B-4C14-2584-2BA3-4B7A161092D5}"/>
              </a:ext>
            </a:extLst>
          </p:cNvPr>
          <p:cNvGraphicFramePr>
            <a:graphicFrameLocks noChangeAspect="1"/>
          </p:cNvGraphicFramePr>
          <p:nvPr>
            <p:extLst>
              <p:ext uri="{D42A27DB-BD31-4B8C-83A1-F6EECF244321}">
                <p14:modId xmlns:p14="http://schemas.microsoft.com/office/powerpoint/2010/main" val="3726753664"/>
              </p:ext>
            </p:extLst>
          </p:nvPr>
        </p:nvGraphicFramePr>
        <p:xfrm>
          <a:off x="4611484" y="4228885"/>
          <a:ext cx="4945592" cy="856752"/>
        </p:xfrm>
        <a:graphic>
          <a:graphicData uri="http://schemas.openxmlformats.org/presentationml/2006/ole">
            <mc:AlternateContent xmlns:mc="http://schemas.openxmlformats.org/markup-compatibility/2006">
              <mc:Choice xmlns:v="urn:schemas-microsoft-com:vml" Requires="v">
                <p:oleObj name="AxMath" r:id="rId5" imgW="1731240" imgH="299880" progId="Equation.AxMath">
                  <p:embed/>
                </p:oleObj>
              </mc:Choice>
              <mc:Fallback>
                <p:oleObj name="AxMath" r:id="rId5" imgW="1731240" imgH="299880" progId="Equation.AxMath">
                  <p:embed/>
                  <p:pic>
                    <p:nvPicPr>
                      <p:cNvPr id="12" name="对象 11">
                        <a:extLst>
                          <a:ext uri="{FF2B5EF4-FFF2-40B4-BE49-F238E27FC236}">
                            <a16:creationId xmlns:a16="http://schemas.microsoft.com/office/drawing/2014/main" id="{F1E2B56B-4C14-2584-2BA3-4B7A161092D5}"/>
                          </a:ext>
                        </a:extLst>
                      </p:cNvPr>
                      <p:cNvPicPr/>
                      <p:nvPr/>
                    </p:nvPicPr>
                    <p:blipFill>
                      <a:blip r:embed="rId6"/>
                      <a:stretch>
                        <a:fillRect/>
                      </a:stretch>
                    </p:blipFill>
                    <p:spPr>
                      <a:xfrm>
                        <a:off x="4611484" y="4228885"/>
                        <a:ext cx="4945592" cy="856752"/>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A3300BFD-9974-AA38-2B83-DFCED06F0F34}"/>
              </a:ext>
            </a:extLst>
          </p:cNvPr>
          <p:cNvGraphicFramePr>
            <a:graphicFrameLocks noChangeAspect="1"/>
          </p:cNvGraphicFramePr>
          <p:nvPr>
            <p:extLst>
              <p:ext uri="{D42A27DB-BD31-4B8C-83A1-F6EECF244321}">
                <p14:modId xmlns:p14="http://schemas.microsoft.com/office/powerpoint/2010/main" val="94397183"/>
              </p:ext>
            </p:extLst>
          </p:nvPr>
        </p:nvGraphicFramePr>
        <p:xfrm>
          <a:off x="5471059" y="5207522"/>
          <a:ext cx="5286224" cy="1085660"/>
        </p:xfrm>
        <a:graphic>
          <a:graphicData uri="http://schemas.openxmlformats.org/presentationml/2006/ole">
            <mc:AlternateContent xmlns:mc="http://schemas.openxmlformats.org/markup-compatibility/2006">
              <mc:Choice xmlns:v="urn:schemas-microsoft-com:vml" Requires="v">
                <p:oleObj name="AxMath" r:id="rId7" imgW="2302920" imgH="472320" progId="Equation.AxMath">
                  <p:embed/>
                </p:oleObj>
              </mc:Choice>
              <mc:Fallback>
                <p:oleObj name="AxMath" r:id="rId7" imgW="2302920" imgH="472320" progId="Equation.AxMath">
                  <p:embed/>
                  <p:pic>
                    <p:nvPicPr>
                      <p:cNvPr id="13" name="对象 12">
                        <a:extLst>
                          <a:ext uri="{FF2B5EF4-FFF2-40B4-BE49-F238E27FC236}">
                            <a16:creationId xmlns:a16="http://schemas.microsoft.com/office/drawing/2014/main" id="{A3300BFD-9974-AA38-2B83-DFCED06F0F34}"/>
                          </a:ext>
                        </a:extLst>
                      </p:cNvPr>
                      <p:cNvPicPr/>
                      <p:nvPr/>
                    </p:nvPicPr>
                    <p:blipFill>
                      <a:blip r:embed="rId8"/>
                      <a:stretch>
                        <a:fillRect/>
                      </a:stretch>
                    </p:blipFill>
                    <p:spPr>
                      <a:xfrm>
                        <a:off x="5471059" y="5207522"/>
                        <a:ext cx="5286224" cy="1085660"/>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DC492CDD-5D0E-91A2-AC07-9C1E489752C8}"/>
              </a:ext>
            </a:extLst>
          </p:cNvPr>
          <p:cNvGraphicFramePr>
            <a:graphicFrameLocks noChangeAspect="1"/>
          </p:cNvGraphicFramePr>
          <p:nvPr>
            <p:extLst>
              <p:ext uri="{D42A27DB-BD31-4B8C-83A1-F6EECF244321}">
                <p14:modId xmlns:p14="http://schemas.microsoft.com/office/powerpoint/2010/main" val="1061177795"/>
              </p:ext>
            </p:extLst>
          </p:nvPr>
        </p:nvGraphicFramePr>
        <p:xfrm>
          <a:off x="5668798" y="2920594"/>
          <a:ext cx="220892" cy="368154"/>
        </p:xfrm>
        <a:graphic>
          <a:graphicData uri="http://schemas.openxmlformats.org/presentationml/2006/ole">
            <mc:AlternateContent xmlns:mc="http://schemas.openxmlformats.org/markup-compatibility/2006">
              <mc:Choice xmlns:v="urn:schemas-microsoft-com:vml" Requires="v">
                <p:oleObj name="AxMath" r:id="rId9" imgW="90000" imgH="150840" progId="Equation.AxMath">
                  <p:embed/>
                </p:oleObj>
              </mc:Choice>
              <mc:Fallback>
                <p:oleObj name="AxMath" r:id="rId9" imgW="90000" imgH="150840" progId="Equation.AxMath">
                  <p:embed/>
                  <p:pic>
                    <p:nvPicPr>
                      <p:cNvPr id="14" name="对象 13">
                        <a:extLst>
                          <a:ext uri="{FF2B5EF4-FFF2-40B4-BE49-F238E27FC236}">
                            <a16:creationId xmlns:a16="http://schemas.microsoft.com/office/drawing/2014/main" id="{DC492CDD-5D0E-91A2-AC07-9C1E489752C8}"/>
                          </a:ext>
                        </a:extLst>
                      </p:cNvPr>
                      <p:cNvPicPr/>
                      <p:nvPr/>
                    </p:nvPicPr>
                    <p:blipFill>
                      <a:blip r:embed="rId10"/>
                      <a:stretch>
                        <a:fillRect/>
                      </a:stretch>
                    </p:blipFill>
                    <p:spPr>
                      <a:xfrm>
                        <a:off x="5668798" y="2920594"/>
                        <a:ext cx="220892" cy="368154"/>
                      </a:xfrm>
                      <a:prstGeom prst="rect">
                        <a:avLst/>
                      </a:prstGeom>
                    </p:spPr>
                  </p:pic>
                </p:oleObj>
              </mc:Fallback>
            </mc:AlternateContent>
          </a:graphicData>
        </a:graphic>
      </p:graphicFrame>
      <p:cxnSp>
        <p:nvCxnSpPr>
          <p:cNvPr id="16" name="直接连接符 15">
            <a:extLst>
              <a:ext uri="{FF2B5EF4-FFF2-40B4-BE49-F238E27FC236}">
                <a16:creationId xmlns:a16="http://schemas.microsoft.com/office/drawing/2014/main" id="{5F71BB69-6DED-A224-82AF-22D35162BDF8}"/>
              </a:ext>
            </a:extLst>
          </p:cNvPr>
          <p:cNvCxnSpPr>
            <a:cxnSpLocks/>
          </p:cNvCxnSpPr>
          <p:nvPr/>
        </p:nvCxnSpPr>
        <p:spPr>
          <a:xfrm>
            <a:off x="6926769" y="2289412"/>
            <a:ext cx="0" cy="623122"/>
          </a:xfrm>
          <a:prstGeom prst="line">
            <a:avLst/>
          </a:prstGeom>
          <a:ln>
            <a:prstDash val="dash"/>
          </a:ln>
        </p:spPr>
        <p:style>
          <a:lnRef idx="1">
            <a:schemeClr val="dk1"/>
          </a:lnRef>
          <a:fillRef idx="0">
            <a:schemeClr val="dk1"/>
          </a:fillRef>
          <a:effectRef idx="0">
            <a:schemeClr val="dk1"/>
          </a:effectRef>
          <a:fontRef idx="minor">
            <a:schemeClr val="tx1"/>
          </a:fontRef>
        </p:style>
      </p:cxnSp>
      <p:graphicFrame>
        <p:nvGraphicFramePr>
          <p:cNvPr id="17" name="对象 16">
            <a:extLst>
              <a:ext uri="{FF2B5EF4-FFF2-40B4-BE49-F238E27FC236}">
                <a16:creationId xmlns:a16="http://schemas.microsoft.com/office/drawing/2014/main" id="{0469BBF6-BCFA-17BD-9CC1-FDAB12B2DF56}"/>
              </a:ext>
            </a:extLst>
          </p:cNvPr>
          <p:cNvGraphicFramePr>
            <a:graphicFrameLocks noChangeAspect="1"/>
          </p:cNvGraphicFramePr>
          <p:nvPr>
            <p:extLst>
              <p:ext uri="{D42A27DB-BD31-4B8C-83A1-F6EECF244321}">
                <p14:modId xmlns:p14="http://schemas.microsoft.com/office/powerpoint/2010/main" val="1754016328"/>
              </p:ext>
            </p:extLst>
          </p:nvPr>
        </p:nvGraphicFramePr>
        <p:xfrm>
          <a:off x="8441048" y="2165087"/>
          <a:ext cx="504594" cy="321720"/>
        </p:xfrm>
        <a:graphic>
          <a:graphicData uri="http://schemas.openxmlformats.org/presentationml/2006/ole">
            <mc:AlternateContent xmlns:mc="http://schemas.openxmlformats.org/markup-compatibility/2006">
              <mc:Choice xmlns:v="urn:schemas-microsoft-com:vml" Requires="v">
                <p:oleObj name="AxMath" r:id="rId11" imgW="236520" imgH="150840" progId="Equation.AxMath">
                  <p:embed/>
                </p:oleObj>
              </mc:Choice>
              <mc:Fallback>
                <p:oleObj name="AxMath" r:id="rId11" imgW="236520" imgH="150840" progId="Equation.AxMath">
                  <p:embed/>
                  <p:pic>
                    <p:nvPicPr>
                      <p:cNvPr id="17" name="对象 16">
                        <a:extLst>
                          <a:ext uri="{FF2B5EF4-FFF2-40B4-BE49-F238E27FC236}">
                            <a16:creationId xmlns:a16="http://schemas.microsoft.com/office/drawing/2014/main" id="{0469BBF6-BCFA-17BD-9CC1-FDAB12B2DF56}"/>
                          </a:ext>
                        </a:extLst>
                      </p:cNvPr>
                      <p:cNvPicPr/>
                      <p:nvPr/>
                    </p:nvPicPr>
                    <p:blipFill>
                      <a:blip r:embed="rId12"/>
                      <a:stretch>
                        <a:fillRect/>
                      </a:stretch>
                    </p:blipFill>
                    <p:spPr>
                      <a:xfrm>
                        <a:off x="8441048" y="2165087"/>
                        <a:ext cx="504594" cy="321720"/>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84288A4E-20BC-4616-82FD-50BD7A7D2235}"/>
              </a:ext>
            </a:extLst>
          </p:cNvPr>
          <p:cNvGraphicFramePr>
            <a:graphicFrameLocks noChangeAspect="1"/>
          </p:cNvGraphicFramePr>
          <p:nvPr>
            <p:extLst>
              <p:ext uri="{D42A27DB-BD31-4B8C-83A1-F6EECF244321}">
                <p14:modId xmlns:p14="http://schemas.microsoft.com/office/powerpoint/2010/main" val="3634255630"/>
              </p:ext>
            </p:extLst>
          </p:nvPr>
        </p:nvGraphicFramePr>
        <p:xfrm>
          <a:off x="6893158" y="2893310"/>
          <a:ext cx="245294" cy="466054"/>
        </p:xfrm>
        <a:graphic>
          <a:graphicData uri="http://schemas.openxmlformats.org/presentationml/2006/ole">
            <mc:AlternateContent xmlns:mc="http://schemas.openxmlformats.org/markup-compatibility/2006">
              <mc:Choice xmlns:v="urn:schemas-microsoft-com:vml" Requires="v">
                <p:oleObj name="AxMath" r:id="rId13" imgW="79560" imgH="150840" progId="Equation.AxMath">
                  <p:embed/>
                </p:oleObj>
              </mc:Choice>
              <mc:Fallback>
                <p:oleObj name="AxMath" r:id="rId13" imgW="79560" imgH="150840" progId="Equation.AxMath">
                  <p:embed/>
                  <p:pic>
                    <p:nvPicPr>
                      <p:cNvPr id="18" name="对象 17">
                        <a:extLst>
                          <a:ext uri="{FF2B5EF4-FFF2-40B4-BE49-F238E27FC236}">
                            <a16:creationId xmlns:a16="http://schemas.microsoft.com/office/drawing/2014/main" id="{84288A4E-20BC-4616-82FD-50BD7A7D2235}"/>
                          </a:ext>
                        </a:extLst>
                      </p:cNvPr>
                      <p:cNvPicPr/>
                      <p:nvPr/>
                    </p:nvPicPr>
                    <p:blipFill>
                      <a:blip r:embed="rId14"/>
                      <a:stretch>
                        <a:fillRect/>
                      </a:stretch>
                    </p:blipFill>
                    <p:spPr>
                      <a:xfrm>
                        <a:off x="6893158" y="2893310"/>
                        <a:ext cx="245294" cy="466054"/>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CCCD727B-7B80-364E-9817-CE5D2D7609C0}"/>
              </a:ext>
            </a:extLst>
          </p:cNvPr>
          <p:cNvGraphicFramePr>
            <a:graphicFrameLocks noChangeAspect="1"/>
          </p:cNvGraphicFramePr>
          <p:nvPr>
            <p:extLst>
              <p:ext uri="{D42A27DB-BD31-4B8C-83A1-F6EECF244321}">
                <p14:modId xmlns:p14="http://schemas.microsoft.com/office/powerpoint/2010/main" val="774835798"/>
              </p:ext>
            </p:extLst>
          </p:nvPr>
        </p:nvGraphicFramePr>
        <p:xfrm>
          <a:off x="7851299" y="2920594"/>
          <a:ext cx="246892" cy="411486"/>
        </p:xfrm>
        <a:graphic>
          <a:graphicData uri="http://schemas.openxmlformats.org/presentationml/2006/ole">
            <mc:AlternateContent xmlns:mc="http://schemas.openxmlformats.org/markup-compatibility/2006">
              <mc:Choice xmlns:v="urn:schemas-microsoft-com:vml" Requires="v">
                <p:oleObj name="AxMath" r:id="rId15" imgW="90000" imgH="150840" progId="Equation.AxMath">
                  <p:embed/>
                </p:oleObj>
              </mc:Choice>
              <mc:Fallback>
                <p:oleObj name="AxMath" r:id="rId15" imgW="90000" imgH="150840" progId="Equation.AxMath">
                  <p:embed/>
                  <p:pic>
                    <p:nvPicPr>
                      <p:cNvPr id="19" name="对象 18">
                        <a:extLst>
                          <a:ext uri="{FF2B5EF4-FFF2-40B4-BE49-F238E27FC236}">
                            <a16:creationId xmlns:a16="http://schemas.microsoft.com/office/drawing/2014/main" id="{CCCD727B-7B80-364E-9817-CE5D2D7609C0}"/>
                          </a:ext>
                        </a:extLst>
                      </p:cNvPr>
                      <p:cNvPicPr/>
                      <p:nvPr/>
                    </p:nvPicPr>
                    <p:blipFill>
                      <a:blip r:embed="rId10"/>
                      <a:stretch>
                        <a:fillRect/>
                      </a:stretch>
                    </p:blipFill>
                    <p:spPr>
                      <a:xfrm>
                        <a:off x="7851299" y="2920594"/>
                        <a:ext cx="246892" cy="411486"/>
                      </a:xfrm>
                      <a:prstGeom prst="rect">
                        <a:avLst/>
                      </a:prstGeom>
                    </p:spPr>
                  </p:pic>
                </p:oleObj>
              </mc:Fallback>
            </mc:AlternateContent>
          </a:graphicData>
        </a:graphic>
      </p:graphicFrame>
      <p:sp>
        <p:nvSpPr>
          <p:cNvPr id="2" name="文本框 1">
            <a:extLst>
              <a:ext uri="{FF2B5EF4-FFF2-40B4-BE49-F238E27FC236}">
                <a16:creationId xmlns:a16="http://schemas.microsoft.com/office/drawing/2014/main" id="{C81E8F82-1452-D646-2CE9-4439638144C6}"/>
              </a:ext>
            </a:extLst>
          </p:cNvPr>
          <p:cNvSpPr txBox="1"/>
          <p:nvPr/>
        </p:nvSpPr>
        <p:spPr>
          <a:xfrm>
            <a:off x="9070838" y="1683417"/>
            <a:ext cx="2743200" cy="1938992"/>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pPr marL="342900" indent="-342900">
              <a:buFont typeface="Wingdings" panose="05000000000000000000" pitchFamily="2" charset="2"/>
              <a:buChar char="Ø"/>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AUC</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考虑了所有可能的</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TPR</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FPR</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取值</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buFont typeface="Wingdings" panose="05000000000000000000" pitchFamily="2" charset="2"/>
              <a:buChar char="Ø"/>
            </a:pP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buFont typeface="Wingdings" panose="05000000000000000000" pitchFamily="2" charset="2"/>
              <a:buChar char="Ø"/>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实际问题中，往往需要</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TPR</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FPR</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在一定的取值范围内</a:t>
            </a:r>
          </a:p>
        </p:txBody>
      </p:sp>
      <p:cxnSp>
        <p:nvCxnSpPr>
          <p:cNvPr id="3" name="直接连接符 2">
            <a:extLst>
              <a:ext uri="{FF2B5EF4-FFF2-40B4-BE49-F238E27FC236}">
                <a16:creationId xmlns:a16="http://schemas.microsoft.com/office/drawing/2014/main" id="{E6A02142-664D-577F-F75D-BB776BA043F8}"/>
              </a:ext>
            </a:extLst>
          </p:cNvPr>
          <p:cNvCxnSpPr>
            <a:cxnSpLocks/>
          </p:cNvCxnSpPr>
          <p:nvPr/>
        </p:nvCxnSpPr>
        <p:spPr>
          <a:xfrm>
            <a:off x="156487" y="982763"/>
            <a:ext cx="5939513" cy="0"/>
          </a:xfrm>
          <a:prstGeom prst="line">
            <a:avLst/>
          </a:prstGeom>
          <a:ln w="28575"/>
        </p:spPr>
        <p:style>
          <a:lnRef idx="1">
            <a:schemeClr val="dk1"/>
          </a:lnRef>
          <a:fillRef idx="0">
            <a:schemeClr val="dk1"/>
          </a:fillRef>
          <a:effectRef idx="0">
            <a:schemeClr val="dk1"/>
          </a:effectRef>
          <a:fontRef idx="minor">
            <a:schemeClr val="tx1"/>
          </a:fontRef>
        </p:style>
      </p:cxnSp>
      <p:sp>
        <p:nvSpPr>
          <p:cNvPr id="20" name="灯片编号占位符 3">
            <a:extLst>
              <a:ext uri="{FF2B5EF4-FFF2-40B4-BE49-F238E27FC236}">
                <a16:creationId xmlns:a16="http://schemas.microsoft.com/office/drawing/2014/main" id="{A5D24ABB-A2EB-4433-8A08-0461395536ED}"/>
              </a:ext>
            </a:extLst>
          </p:cNvPr>
          <p:cNvSpPr>
            <a:spLocks noGrp="1"/>
          </p:cNvSpPr>
          <p:nvPr>
            <p:ph type="sldNum" sz="quarter" idx="12"/>
          </p:nvPr>
        </p:nvSpPr>
        <p:spPr>
          <a:xfrm>
            <a:off x="8610600" y="6356350"/>
            <a:ext cx="2743200" cy="365125"/>
          </a:xfrm>
        </p:spPr>
        <p:txBody>
          <a:bodyPr/>
          <a:lstStyle/>
          <a:p>
            <a:fld id="{A290DF1A-1B4B-4FE9-B9C1-10AC9C5D423D}" type="slidenum">
              <a:rPr lang="zh-CN" altLang="en-US" smtClean="0">
                <a:latin typeface="Times New Roman" panose="02020603050405020304" pitchFamily="18" charset="0"/>
                <a:cs typeface="Times New Roman" panose="02020603050405020304" pitchFamily="18" charset="0"/>
              </a:rPr>
              <a:t>9</a:t>
            </a:fld>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9490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EF93427-AA57-250B-8D51-58D997863417}"/>
              </a:ext>
            </a:extLst>
          </p:cNvPr>
          <p:cNvSpPr>
            <a:spLocks noGrp="1"/>
          </p:cNvSpPr>
          <p:nvPr>
            <p:ph idx="1"/>
          </p:nvPr>
        </p:nvSpPr>
        <p:spPr>
          <a:xfrm>
            <a:off x="553824" y="1536942"/>
            <a:ext cx="10515600" cy="3271775"/>
          </a:xfrm>
        </p:spPr>
        <p:txBody>
          <a:bodyPr>
            <a:normAutofit/>
          </a:bodyPr>
          <a:lstStyle/>
          <a:p>
            <a:pPr>
              <a:buFont typeface="Wingdings" panose="05000000000000000000" pitchFamily="2" charset="2"/>
              <a:buChar char="Ø"/>
            </a:pPr>
            <a:r>
              <a:rPr lang="zh-CN" altLang="en-US" sz="3200" dirty="0">
                <a:latin typeface="Times New Roman" panose="02020603050405020304" pitchFamily="18" charset="0"/>
                <a:cs typeface="Times New Roman" panose="02020603050405020304" pitchFamily="18" charset="0"/>
              </a:rPr>
              <a:t>关键：分布集合</a:t>
            </a:r>
            <a:r>
              <a:rPr lang="en-US" altLang="zh-CN" sz="3200" dirty="0">
                <a:latin typeface="Times New Roman" panose="02020603050405020304" pitchFamily="18" charset="0"/>
                <a:cs typeface="Times New Roman" panose="02020603050405020304" pitchFamily="18" charset="0"/>
              </a:rPr>
              <a:t>Q</a:t>
            </a:r>
            <a:r>
              <a:rPr lang="zh-CN" altLang="en-US" sz="3200" dirty="0">
                <a:latin typeface="Times New Roman" panose="02020603050405020304" pitchFamily="18" charset="0"/>
                <a:cs typeface="Times New Roman" panose="02020603050405020304" pitchFamily="18" charset="0"/>
              </a:rPr>
              <a:t>的构造</a:t>
            </a:r>
            <a:endParaRPr lang="en-US" altLang="zh-CN" sz="3200" dirty="0">
              <a:latin typeface="Times New Roman" panose="02020603050405020304" pitchFamily="18" charset="0"/>
              <a:cs typeface="Times New Roman" panose="02020603050405020304" pitchFamily="18" charset="0"/>
            </a:endParaRPr>
          </a:p>
          <a:p>
            <a:pPr marL="457200" lvl="1" indent="0">
              <a:buNone/>
            </a:pPr>
            <a:endParaRPr lang="zh-CN" altLang="en-US" sz="2800" dirty="0">
              <a:latin typeface="Times New Roman" panose="02020603050405020304" pitchFamily="18" charset="0"/>
              <a:cs typeface="Times New Roman" panose="02020603050405020304" pitchFamily="18" charset="0"/>
            </a:endParaRPr>
          </a:p>
          <a:p>
            <a:pPr marL="0" indent="0">
              <a:buNone/>
            </a:pPr>
            <a:endParaRPr lang="zh-CN" altLang="en-US" sz="3200" dirty="0">
              <a:latin typeface="Times New Roman" panose="02020603050405020304" pitchFamily="18" charset="0"/>
              <a:cs typeface="Times New Roman" panose="02020603050405020304" pitchFamily="18" charset="0"/>
            </a:endParaRPr>
          </a:p>
        </p:txBody>
      </p:sp>
      <p:sp>
        <p:nvSpPr>
          <p:cNvPr id="4" name="标题 1">
            <a:extLst>
              <a:ext uri="{FF2B5EF4-FFF2-40B4-BE49-F238E27FC236}">
                <a16:creationId xmlns:a16="http://schemas.microsoft.com/office/drawing/2014/main" id="{4D24948E-66A3-CCDB-14FE-71EAF9B0B22E}"/>
              </a:ext>
            </a:extLst>
          </p:cNvPr>
          <p:cNvSpPr>
            <a:spLocks noGrp="1"/>
          </p:cNvSpPr>
          <p:nvPr>
            <p:ph type="title"/>
          </p:nvPr>
        </p:nvSpPr>
        <p:spPr>
          <a:xfrm>
            <a:off x="467025" y="18191"/>
            <a:ext cx="7296908" cy="1325563"/>
          </a:xfrm>
        </p:spPr>
        <p:txBody>
          <a:bodyPr>
            <a:normAutofit/>
          </a:bodyPr>
          <a:lstStyle/>
          <a:p>
            <a:r>
              <a:rPr lang="zh-CN" altLang="en-US" sz="4000" b="1" dirty="0"/>
              <a:t>国内外研究现状</a:t>
            </a:r>
            <a:r>
              <a:rPr lang="en-US" altLang="zh-CN" sz="4000" b="1" dirty="0"/>
              <a:t>– </a:t>
            </a:r>
            <a:r>
              <a:rPr lang="zh-CN" altLang="en-US" sz="4000" b="1" dirty="0"/>
              <a:t>分布鲁棒优化</a:t>
            </a:r>
            <a:endParaRPr lang="zh-CN" altLang="en-US" sz="4000" dirty="0"/>
          </a:p>
        </p:txBody>
      </p:sp>
      <p:sp>
        <p:nvSpPr>
          <p:cNvPr id="5" name="灯片编号占位符 4">
            <a:extLst>
              <a:ext uri="{FF2B5EF4-FFF2-40B4-BE49-F238E27FC236}">
                <a16:creationId xmlns:a16="http://schemas.microsoft.com/office/drawing/2014/main" id="{AE1188FA-0A83-217C-2DB6-20E5C4B92A6C}"/>
              </a:ext>
            </a:extLst>
          </p:cNvPr>
          <p:cNvSpPr>
            <a:spLocks noGrp="1"/>
          </p:cNvSpPr>
          <p:nvPr>
            <p:ph type="sldNum" sz="quarter" idx="12"/>
          </p:nvPr>
        </p:nvSpPr>
        <p:spPr/>
        <p:txBody>
          <a:bodyPr/>
          <a:lstStyle/>
          <a:p>
            <a:fld id="{A290DF1A-1B4B-4FE9-B9C1-10AC9C5D423D}" type="slidenum">
              <a:rPr lang="zh-CN" altLang="en-US" smtClean="0">
                <a:latin typeface="Times New Roman" panose="02020603050405020304" pitchFamily="18" charset="0"/>
                <a:cs typeface="Times New Roman" panose="02020603050405020304" pitchFamily="18" charset="0"/>
              </a:rPr>
              <a:t>10</a:t>
            </a:fld>
            <a:endParaRPr lang="zh-CN" altLang="en-US">
              <a:latin typeface="Times New Roman" panose="02020603050405020304" pitchFamily="18" charset="0"/>
              <a:cs typeface="Times New Roman" panose="02020603050405020304" pitchFamily="18" charset="0"/>
            </a:endParaRPr>
          </a:p>
        </p:txBody>
      </p:sp>
      <p:cxnSp>
        <p:nvCxnSpPr>
          <p:cNvPr id="6" name="直接连接符 5">
            <a:extLst>
              <a:ext uri="{FF2B5EF4-FFF2-40B4-BE49-F238E27FC236}">
                <a16:creationId xmlns:a16="http://schemas.microsoft.com/office/drawing/2014/main" id="{94950C63-3BF4-E7E1-2901-F0C8FB05B5D1}"/>
              </a:ext>
            </a:extLst>
          </p:cNvPr>
          <p:cNvCxnSpPr>
            <a:cxnSpLocks/>
          </p:cNvCxnSpPr>
          <p:nvPr/>
        </p:nvCxnSpPr>
        <p:spPr>
          <a:xfrm>
            <a:off x="553824" y="1129902"/>
            <a:ext cx="7091576" cy="0"/>
          </a:xfrm>
          <a:prstGeom prst="line">
            <a:avLst/>
          </a:prstGeom>
          <a:ln w="28575"/>
        </p:spPr>
        <p:style>
          <a:lnRef idx="1">
            <a:schemeClr val="dk1"/>
          </a:lnRef>
          <a:fillRef idx="0">
            <a:schemeClr val="dk1"/>
          </a:fillRef>
          <a:effectRef idx="0">
            <a:schemeClr val="dk1"/>
          </a:effectRef>
          <a:fontRef idx="minor">
            <a:schemeClr val="tx1"/>
          </a:fontRef>
        </p:style>
      </p:cxnSp>
      <p:sp>
        <p:nvSpPr>
          <p:cNvPr id="2" name="文本框 1">
            <a:extLst>
              <a:ext uri="{FF2B5EF4-FFF2-40B4-BE49-F238E27FC236}">
                <a16:creationId xmlns:a16="http://schemas.microsoft.com/office/drawing/2014/main" id="{622736B4-B458-E282-D33D-AD3A06C4DC3F}"/>
              </a:ext>
            </a:extLst>
          </p:cNvPr>
          <p:cNvSpPr txBox="1"/>
          <p:nvPr/>
        </p:nvSpPr>
        <p:spPr>
          <a:xfrm>
            <a:off x="606110" y="2277315"/>
            <a:ext cx="10747690" cy="2985433"/>
          </a:xfrm>
          <a:prstGeom prst="rect">
            <a:avLst/>
          </a:prstGeom>
          <a:noFill/>
          <a:ln>
            <a:noFill/>
          </a:ln>
          <a:effectLst>
            <a:softEdge rad="12700"/>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常见的距离度量方法：</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 P,Q</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为向量，二次约束</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 P,Q</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为概率分布，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散度</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 P,Q</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为概率分布，</a:t>
            </a:r>
            <a:r>
              <a:rPr lang="en-US" altLang="zh-CN" sz="2400" kern="100" dirty="0">
                <a:effectLst/>
                <a:latin typeface="Times New Roman" panose="02020603050405020304" pitchFamily="18" charset="0"/>
                <a:ea typeface="宋体" panose="02010600030101010101" pitchFamily="2" charset="-122"/>
              </a:rPr>
              <a:t> </a:t>
            </a:r>
            <a:r>
              <a:rPr lang="en-US" altLang="zh-CN" sz="2400" i="1" kern="100" dirty="0">
                <a:effectLst/>
                <a:latin typeface="Times New Roman" panose="02020603050405020304" pitchFamily="18" charset="0"/>
                <a:ea typeface="宋体" panose="02010600030101010101" pitchFamily="2" charset="-122"/>
              </a:rPr>
              <a:t>p-</a:t>
            </a:r>
            <a:r>
              <a:rPr lang="en-US" altLang="zh-CN" sz="2400" kern="100" dirty="0">
                <a:effectLst/>
                <a:latin typeface="Times New Roman" panose="02020603050405020304" pitchFamily="18" charset="0"/>
                <a:ea typeface="宋体" panose="02010600030101010101" pitchFamily="2" charset="-122"/>
              </a:rPr>
              <a:t>Wasserstein</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距离</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16" name="对象 15">
            <a:extLst>
              <a:ext uri="{FF2B5EF4-FFF2-40B4-BE49-F238E27FC236}">
                <a16:creationId xmlns:a16="http://schemas.microsoft.com/office/drawing/2014/main" id="{3D4956C8-72CC-45A7-1374-3174F5F65AE2}"/>
              </a:ext>
            </a:extLst>
          </p:cNvPr>
          <p:cNvGraphicFramePr>
            <a:graphicFrameLocks noChangeAspect="1"/>
          </p:cNvGraphicFramePr>
          <p:nvPr>
            <p:extLst>
              <p:ext uri="{D42A27DB-BD31-4B8C-83A1-F6EECF244321}">
                <p14:modId xmlns:p14="http://schemas.microsoft.com/office/powerpoint/2010/main" val="653714759"/>
              </p:ext>
            </p:extLst>
          </p:nvPr>
        </p:nvGraphicFramePr>
        <p:xfrm>
          <a:off x="4026062" y="3046871"/>
          <a:ext cx="2836008" cy="423636"/>
        </p:xfrm>
        <a:graphic>
          <a:graphicData uri="http://schemas.openxmlformats.org/presentationml/2006/ole">
            <mc:AlternateContent xmlns:mc="http://schemas.openxmlformats.org/markup-compatibility/2006">
              <mc:Choice xmlns:v="urn:schemas-microsoft-com:vml" Requires="v">
                <p:oleObj name="AxMath" r:id="rId2" imgW="1539486" imgH="229261" progId="Equation.AxMath">
                  <p:embed/>
                </p:oleObj>
              </mc:Choice>
              <mc:Fallback>
                <p:oleObj name="AxMath" r:id="rId2" imgW="1539486" imgH="229261" progId="Equation.AxMath">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6062" y="3046871"/>
                        <a:ext cx="2836008" cy="423636"/>
                      </a:xfrm>
                      <a:prstGeom prst="rect">
                        <a:avLst/>
                      </a:prstGeom>
                      <a:noFill/>
                    </p:spPr>
                  </p:pic>
                </p:oleObj>
              </mc:Fallback>
            </mc:AlternateContent>
          </a:graphicData>
        </a:graphic>
      </p:graphicFrame>
      <p:sp>
        <p:nvSpPr>
          <p:cNvPr id="17" name="Rectangle 12">
            <a:extLst>
              <a:ext uri="{FF2B5EF4-FFF2-40B4-BE49-F238E27FC236}">
                <a16:creationId xmlns:a16="http://schemas.microsoft.com/office/drawing/2014/main" id="{D0DDB0B1-B591-4BFD-CABD-5F10C1B785DC}"/>
              </a:ext>
            </a:extLst>
          </p:cNvPr>
          <p:cNvSpPr>
            <a:spLocks noChangeArrowheads="1"/>
          </p:cNvSpPr>
          <p:nvPr/>
        </p:nvSpPr>
        <p:spPr bwMode="auto">
          <a:xfrm>
            <a:off x="0" y="-20005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sz="2000"/>
          </a:p>
        </p:txBody>
      </p:sp>
      <p:graphicFrame>
        <p:nvGraphicFramePr>
          <p:cNvPr id="18" name="对象 17">
            <a:extLst>
              <a:ext uri="{FF2B5EF4-FFF2-40B4-BE49-F238E27FC236}">
                <a16:creationId xmlns:a16="http://schemas.microsoft.com/office/drawing/2014/main" id="{CA7901D1-8280-47E3-B1B4-1545152CDB00}"/>
              </a:ext>
            </a:extLst>
          </p:cNvPr>
          <p:cNvGraphicFramePr>
            <a:graphicFrameLocks noChangeAspect="1"/>
          </p:cNvGraphicFramePr>
          <p:nvPr>
            <p:extLst>
              <p:ext uri="{D42A27DB-BD31-4B8C-83A1-F6EECF244321}">
                <p14:modId xmlns:p14="http://schemas.microsoft.com/office/powerpoint/2010/main" val="758092973"/>
              </p:ext>
            </p:extLst>
          </p:nvPr>
        </p:nvGraphicFramePr>
        <p:xfrm>
          <a:off x="3251219" y="3755557"/>
          <a:ext cx="262450" cy="472410"/>
        </p:xfrm>
        <a:graphic>
          <a:graphicData uri="http://schemas.openxmlformats.org/presentationml/2006/ole">
            <mc:AlternateContent xmlns:mc="http://schemas.openxmlformats.org/markup-compatibility/2006">
              <mc:Choice xmlns:v="urn:schemas-microsoft-com:vml" Requires="v">
                <p:oleObj name="AxMath" r:id="rId4" imgW="129118" imgH="227279" progId="Equation.AxMath">
                  <p:embed/>
                </p:oleObj>
              </mc:Choice>
              <mc:Fallback>
                <p:oleObj name="AxMath" r:id="rId4" imgW="129118" imgH="227279" progId="Equation.AxMath">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1219" y="3755557"/>
                        <a:ext cx="262450" cy="472410"/>
                      </a:xfrm>
                      <a:prstGeom prst="rect">
                        <a:avLst/>
                      </a:prstGeom>
                      <a:noFill/>
                    </p:spPr>
                  </p:pic>
                </p:oleObj>
              </mc:Fallback>
            </mc:AlternateContent>
          </a:graphicData>
        </a:graphic>
      </p:graphicFrame>
      <p:sp>
        <p:nvSpPr>
          <p:cNvPr id="19" name="Rectangle 14">
            <a:extLst>
              <a:ext uri="{FF2B5EF4-FFF2-40B4-BE49-F238E27FC236}">
                <a16:creationId xmlns:a16="http://schemas.microsoft.com/office/drawing/2014/main" id="{DA23A857-2060-691E-27C8-9B1381EF3DD2}"/>
              </a:ext>
            </a:extLst>
          </p:cNvPr>
          <p:cNvSpPr>
            <a:spLocks noChangeArrowheads="1"/>
          </p:cNvSpPr>
          <p:nvPr/>
        </p:nvSpPr>
        <p:spPr bwMode="auto">
          <a:xfrm>
            <a:off x="0" y="-200055"/>
            <a:ext cx="1847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sz="2000"/>
          </a:p>
        </p:txBody>
      </p:sp>
      <p:graphicFrame>
        <p:nvGraphicFramePr>
          <p:cNvPr id="20" name="对象 19">
            <a:extLst>
              <a:ext uri="{FF2B5EF4-FFF2-40B4-BE49-F238E27FC236}">
                <a16:creationId xmlns:a16="http://schemas.microsoft.com/office/drawing/2014/main" id="{13082E24-B108-A844-51D1-D73CD33C2BEF}"/>
              </a:ext>
            </a:extLst>
          </p:cNvPr>
          <p:cNvGraphicFramePr>
            <a:graphicFrameLocks noChangeAspect="1"/>
          </p:cNvGraphicFramePr>
          <p:nvPr>
            <p:extLst>
              <p:ext uri="{D42A27DB-BD31-4B8C-83A1-F6EECF244321}">
                <p14:modId xmlns:p14="http://schemas.microsoft.com/office/powerpoint/2010/main" val="3110842010"/>
              </p:ext>
            </p:extLst>
          </p:nvPr>
        </p:nvGraphicFramePr>
        <p:xfrm>
          <a:off x="4287106" y="3624391"/>
          <a:ext cx="6330094" cy="734742"/>
        </p:xfrm>
        <a:graphic>
          <a:graphicData uri="http://schemas.openxmlformats.org/presentationml/2006/ole">
            <mc:AlternateContent xmlns:mc="http://schemas.openxmlformats.org/markup-compatibility/2006">
              <mc:Choice xmlns:v="urn:schemas-microsoft-com:vml" Requires="v">
                <p:oleObj name="AxMath" r:id="rId6" imgW="3552557" imgH="417148" progId="Equation.AxMath">
                  <p:embed/>
                </p:oleObj>
              </mc:Choice>
              <mc:Fallback>
                <p:oleObj name="AxMath" r:id="rId6" imgW="3552557" imgH="417148" progId="Equation.AxMath">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87106" y="3624391"/>
                        <a:ext cx="6330094" cy="734742"/>
                      </a:xfrm>
                      <a:prstGeom prst="rect">
                        <a:avLst/>
                      </a:prstGeom>
                      <a:noFill/>
                    </p:spPr>
                  </p:pic>
                </p:oleObj>
              </mc:Fallback>
            </mc:AlternateContent>
          </a:graphicData>
        </a:graphic>
      </p:graphicFrame>
      <p:graphicFrame>
        <p:nvGraphicFramePr>
          <p:cNvPr id="22" name="对象 21">
            <a:extLst>
              <a:ext uri="{FF2B5EF4-FFF2-40B4-BE49-F238E27FC236}">
                <a16:creationId xmlns:a16="http://schemas.microsoft.com/office/drawing/2014/main" id="{9C5CFDED-8753-C6D9-04DB-1FACA0E4C098}"/>
              </a:ext>
            </a:extLst>
          </p:cNvPr>
          <p:cNvGraphicFramePr>
            <a:graphicFrameLocks noChangeAspect="1"/>
          </p:cNvGraphicFramePr>
          <p:nvPr>
            <p:extLst>
              <p:ext uri="{D42A27DB-BD31-4B8C-83A1-F6EECF244321}">
                <p14:modId xmlns:p14="http://schemas.microsoft.com/office/powerpoint/2010/main" val="1280512356"/>
              </p:ext>
            </p:extLst>
          </p:nvPr>
        </p:nvGraphicFramePr>
        <p:xfrm>
          <a:off x="5979955" y="4322088"/>
          <a:ext cx="4928682" cy="831066"/>
        </p:xfrm>
        <a:graphic>
          <a:graphicData uri="http://schemas.openxmlformats.org/presentationml/2006/ole">
            <mc:AlternateContent xmlns:mc="http://schemas.openxmlformats.org/markup-compatibility/2006">
              <mc:Choice xmlns:v="urn:schemas-microsoft-com:vml" Requires="v">
                <p:oleObj name="AxMath" r:id="rId8" imgW="2700520" imgH="444925" progId="Equation.AxMath">
                  <p:embed/>
                </p:oleObj>
              </mc:Choice>
              <mc:Fallback>
                <p:oleObj name="AxMath" r:id="rId8" imgW="2700520" imgH="444925" progId="Equation.AxMath">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79955" y="4322088"/>
                        <a:ext cx="4928682" cy="831066"/>
                      </a:xfrm>
                      <a:prstGeom prst="rect">
                        <a:avLst/>
                      </a:prstGeom>
                      <a:noFill/>
                    </p:spPr>
                  </p:pic>
                </p:oleObj>
              </mc:Fallback>
            </mc:AlternateContent>
          </a:graphicData>
        </a:graphic>
      </p:graphicFrame>
    </p:spTree>
    <p:extLst>
      <p:ext uri="{BB962C8B-B14F-4D97-AF65-F5344CB8AC3E}">
        <p14:creationId xmlns:p14="http://schemas.microsoft.com/office/powerpoint/2010/main" val="3283256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A6662D-FB78-9A9E-0F4A-81EEE71E2315}"/>
              </a:ext>
            </a:extLst>
          </p:cNvPr>
          <p:cNvSpPr>
            <a:spLocks noGrp="1"/>
          </p:cNvSpPr>
          <p:nvPr>
            <p:ph type="ctrTitle"/>
          </p:nvPr>
        </p:nvSpPr>
        <p:spPr>
          <a:xfrm>
            <a:off x="1524000" y="2133600"/>
            <a:ext cx="9144000" cy="1170640"/>
          </a:xfrm>
        </p:spPr>
        <p:txBody>
          <a:bodyPr>
            <a:normAutofit/>
          </a:bodyPr>
          <a:lstStyle/>
          <a:p>
            <a:r>
              <a:rPr lang="en-US" altLang="zh-CN" sz="5400" b="1" dirty="0">
                <a:latin typeface="Times New Roman" panose="02020603050405020304" pitchFamily="18" charset="0"/>
                <a:cs typeface="Times New Roman" panose="02020603050405020304" pitchFamily="18" charset="0"/>
              </a:rPr>
              <a:t>3  </a:t>
            </a:r>
            <a:r>
              <a:rPr lang="zh-CN" altLang="en-US" sz="5400" b="1" dirty="0">
                <a:latin typeface="Times New Roman" panose="02020603050405020304" pitchFamily="18" charset="0"/>
                <a:cs typeface="Times New Roman" panose="02020603050405020304" pitchFamily="18" charset="0"/>
              </a:rPr>
              <a:t>研究思路与内容</a:t>
            </a:r>
          </a:p>
        </p:txBody>
      </p:sp>
      <p:sp>
        <p:nvSpPr>
          <p:cNvPr id="4" name="灯片编号占位符 3">
            <a:extLst>
              <a:ext uri="{FF2B5EF4-FFF2-40B4-BE49-F238E27FC236}">
                <a16:creationId xmlns:a16="http://schemas.microsoft.com/office/drawing/2014/main" id="{B35D4A2F-1955-46D8-2A12-84F29DF3C15A}"/>
              </a:ext>
            </a:extLst>
          </p:cNvPr>
          <p:cNvSpPr>
            <a:spLocks noGrp="1"/>
          </p:cNvSpPr>
          <p:nvPr>
            <p:ph type="sldNum" sz="quarter" idx="12"/>
          </p:nvPr>
        </p:nvSpPr>
        <p:spPr/>
        <p:txBody>
          <a:bodyPr/>
          <a:lstStyle/>
          <a:p>
            <a:fld id="{A290DF1A-1B4B-4FE9-B9C1-10AC9C5D423D}" type="slidenum">
              <a:rPr lang="zh-CN" altLang="en-US" smtClean="0">
                <a:latin typeface="Times New Roman" panose="02020603050405020304" pitchFamily="18" charset="0"/>
                <a:cs typeface="Times New Roman" panose="02020603050405020304" pitchFamily="18" charset="0"/>
              </a:rPr>
              <a:t>11</a:t>
            </a:fld>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8050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189CE-B008-F001-4E89-10E5D1FA8F56}"/>
              </a:ext>
            </a:extLst>
          </p:cNvPr>
          <p:cNvSpPr>
            <a:spLocks noGrp="1"/>
          </p:cNvSpPr>
          <p:nvPr>
            <p:ph type="title"/>
          </p:nvPr>
        </p:nvSpPr>
        <p:spPr>
          <a:xfrm>
            <a:off x="402996" y="139207"/>
            <a:ext cx="4215387" cy="1029719"/>
          </a:xfrm>
        </p:spPr>
        <p:txBody>
          <a:bodyPr>
            <a:normAutofit/>
          </a:bodyPr>
          <a:lstStyle/>
          <a:p>
            <a:r>
              <a:rPr lang="zh-CN" altLang="en-US" sz="4000" b="1" dirty="0"/>
              <a:t>研究思路与内容</a:t>
            </a:r>
          </a:p>
        </p:txBody>
      </p:sp>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12</a:t>
            </a:fld>
            <a:endParaRPr lang="zh-CN" altLang="en-US"/>
          </a:p>
        </p:txBody>
      </p:sp>
      <p:cxnSp>
        <p:nvCxnSpPr>
          <p:cNvPr id="14" name="直接连接符 13">
            <a:extLst>
              <a:ext uri="{FF2B5EF4-FFF2-40B4-BE49-F238E27FC236}">
                <a16:creationId xmlns:a16="http://schemas.microsoft.com/office/drawing/2014/main" id="{A52245BC-E6B0-F7D8-74A7-14D2F143F257}"/>
              </a:ext>
            </a:extLst>
          </p:cNvPr>
          <p:cNvCxnSpPr>
            <a:cxnSpLocks/>
          </p:cNvCxnSpPr>
          <p:nvPr/>
        </p:nvCxnSpPr>
        <p:spPr>
          <a:xfrm>
            <a:off x="402996" y="1069293"/>
            <a:ext cx="3831074" cy="0"/>
          </a:xfrm>
          <a:prstGeom prst="line">
            <a:avLst/>
          </a:prstGeom>
          <a:ln w="28575"/>
        </p:spPr>
        <p:style>
          <a:lnRef idx="1">
            <a:schemeClr val="dk1"/>
          </a:lnRef>
          <a:fillRef idx="0">
            <a:schemeClr val="dk1"/>
          </a:fillRef>
          <a:effectRef idx="0">
            <a:schemeClr val="dk1"/>
          </a:effectRef>
          <a:fontRef idx="minor">
            <a:schemeClr val="tx1"/>
          </a:fontRef>
        </p:style>
      </p:cxnSp>
      <p:pic>
        <p:nvPicPr>
          <p:cNvPr id="17" name="内容占位符 16">
            <a:extLst>
              <a:ext uri="{FF2B5EF4-FFF2-40B4-BE49-F238E27FC236}">
                <a16:creationId xmlns:a16="http://schemas.microsoft.com/office/drawing/2014/main" id="{C5166FD5-5BB2-B115-755A-504CFB77FA6C}"/>
              </a:ext>
            </a:extLst>
          </p:cNvPr>
          <p:cNvPicPr>
            <a:picLocks noGrp="1" noChangeAspect="1"/>
          </p:cNvPicPr>
          <p:nvPr>
            <p:ph idx="1"/>
          </p:nvPr>
        </p:nvPicPr>
        <p:blipFill>
          <a:blip r:embed="rId2"/>
          <a:stretch>
            <a:fillRect/>
          </a:stretch>
        </p:blipFill>
        <p:spPr>
          <a:xfrm>
            <a:off x="592410" y="3025515"/>
            <a:ext cx="5227773" cy="2591025"/>
          </a:xfrm>
          <a:prstGeom prst="rect">
            <a:avLst/>
          </a:prstGeom>
        </p:spPr>
      </p:pic>
      <p:graphicFrame>
        <p:nvGraphicFramePr>
          <p:cNvPr id="19" name="对象 18">
            <a:extLst>
              <a:ext uri="{FF2B5EF4-FFF2-40B4-BE49-F238E27FC236}">
                <a16:creationId xmlns:a16="http://schemas.microsoft.com/office/drawing/2014/main" id="{A9F995A4-291F-095A-454D-B61BD47F1E5B}"/>
              </a:ext>
            </a:extLst>
          </p:cNvPr>
          <p:cNvGraphicFramePr>
            <a:graphicFrameLocks noChangeAspect="1"/>
          </p:cNvGraphicFramePr>
          <p:nvPr>
            <p:extLst>
              <p:ext uri="{D42A27DB-BD31-4B8C-83A1-F6EECF244321}">
                <p14:modId xmlns:p14="http://schemas.microsoft.com/office/powerpoint/2010/main" val="1242867961"/>
              </p:ext>
            </p:extLst>
          </p:nvPr>
        </p:nvGraphicFramePr>
        <p:xfrm>
          <a:off x="6070534" y="1124615"/>
          <a:ext cx="5657982" cy="1149608"/>
        </p:xfrm>
        <a:graphic>
          <a:graphicData uri="http://schemas.openxmlformats.org/presentationml/2006/ole">
            <mc:AlternateContent xmlns:mc="http://schemas.openxmlformats.org/markup-compatibility/2006">
              <mc:Choice xmlns:v="urn:schemas-microsoft-com:vml" Requires="v">
                <p:oleObj name="AxMath" r:id="rId3" imgW="1701360" imgH="345600" progId="Equation.AxMath">
                  <p:embed/>
                </p:oleObj>
              </mc:Choice>
              <mc:Fallback>
                <p:oleObj name="AxMath" r:id="rId3" imgW="1701360" imgH="345600" progId="Equation.AxMath">
                  <p:embed/>
                  <p:pic>
                    <p:nvPicPr>
                      <p:cNvPr id="0" name=""/>
                      <p:cNvPicPr/>
                      <p:nvPr/>
                    </p:nvPicPr>
                    <p:blipFill>
                      <a:blip r:embed="rId4"/>
                      <a:stretch>
                        <a:fillRect/>
                      </a:stretch>
                    </p:blipFill>
                    <p:spPr>
                      <a:xfrm>
                        <a:off x="6070534" y="1124615"/>
                        <a:ext cx="5657982" cy="1149608"/>
                      </a:xfrm>
                      <a:prstGeom prst="rect">
                        <a:avLst/>
                      </a:prstGeom>
                    </p:spPr>
                  </p:pic>
                </p:oleObj>
              </mc:Fallback>
            </mc:AlternateContent>
          </a:graphicData>
        </a:graphic>
      </p:graphicFrame>
      <p:sp>
        <p:nvSpPr>
          <p:cNvPr id="23" name="箭头: 下 22">
            <a:extLst>
              <a:ext uri="{FF2B5EF4-FFF2-40B4-BE49-F238E27FC236}">
                <a16:creationId xmlns:a16="http://schemas.microsoft.com/office/drawing/2014/main" id="{0AF2F8AD-4F6B-83E7-9CB8-18C3E0FA7929}"/>
              </a:ext>
            </a:extLst>
          </p:cNvPr>
          <p:cNvSpPr/>
          <p:nvPr/>
        </p:nvSpPr>
        <p:spPr>
          <a:xfrm>
            <a:off x="7998817" y="2502183"/>
            <a:ext cx="222316" cy="1118466"/>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4" name="文本框 23">
            <a:extLst>
              <a:ext uri="{FF2B5EF4-FFF2-40B4-BE49-F238E27FC236}">
                <a16:creationId xmlns:a16="http://schemas.microsoft.com/office/drawing/2014/main" id="{4FEAAB8E-5E9C-D3FC-C190-49B227EC641E}"/>
              </a:ext>
            </a:extLst>
          </p:cNvPr>
          <p:cNvSpPr txBox="1"/>
          <p:nvPr/>
        </p:nvSpPr>
        <p:spPr>
          <a:xfrm>
            <a:off x="402996" y="1498847"/>
            <a:ext cx="5346723" cy="1218732"/>
          </a:xfrm>
          <a:prstGeom prst="rect">
            <a:avLst/>
          </a:prstGeom>
          <a:noFill/>
        </p:spPr>
        <p:txBody>
          <a:bodyPr wrap="square" rtlCol="0">
            <a:spAutoFit/>
          </a:bodyPr>
          <a:lstStyle/>
          <a:p>
            <a:pPr>
              <a:lnSpc>
                <a:spcPts val="3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创新</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：将分布鲁棒优化中的</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扰动</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，应用在</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AUC</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的损失函数中，模拟不理想采样的情况，提高模型鲁棒性</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3" name="对象 2">
            <a:extLst>
              <a:ext uri="{FF2B5EF4-FFF2-40B4-BE49-F238E27FC236}">
                <a16:creationId xmlns:a16="http://schemas.microsoft.com/office/drawing/2014/main" id="{38BC9CFF-B906-A768-1E61-CE7F70AF7518}"/>
              </a:ext>
            </a:extLst>
          </p:cNvPr>
          <p:cNvGraphicFramePr>
            <a:graphicFrameLocks noChangeAspect="1"/>
          </p:cNvGraphicFramePr>
          <p:nvPr>
            <p:extLst>
              <p:ext uri="{D42A27DB-BD31-4B8C-83A1-F6EECF244321}">
                <p14:modId xmlns:p14="http://schemas.microsoft.com/office/powerpoint/2010/main" val="3580705895"/>
              </p:ext>
            </p:extLst>
          </p:nvPr>
        </p:nvGraphicFramePr>
        <p:xfrm>
          <a:off x="6196927" y="3753027"/>
          <a:ext cx="5126846" cy="1136002"/>
        </p:xfrm>
        <a:graphic>
          <a:graphicData uri="http://schemas.openxmlformats.org/presentationml/2006/ole">
            <mc:AlternateContent xmlns:mc="http://schemas.openxmlformats.org/markup-compatibility/2006">
              <mc:Choice xmlns:v="urn:schemas-microsoft-com:vml" Requires="v">
                <p:oleObj name="AxMath" r:id="rId5" imgW="1560960" imgH="345600" progId="Equation.AxMath">
                  <p:embed/>
                </p:oleObj>
              </mc:Choice>
              <mc:Fallback>
                <p:oleObj name="AxMath" r:id="rId5" imgW="1560960" imgH="345600" progId="Equation.AxMath">
                  <p:embed/>
                  <p:pic>
                    <p:nvPicPr>
                      <p:cNvPr id="19" name="对象 18">
                        <a:extLst>
                          <a:ext uri="{FF2B5EF4-FFF2-40B4-BE49-F238E27FC236}">
                            <a16:creationId xmlns:a16="http://schemas.microsoft.com/office/drawing/2014/main" id="{A9F995A4-291F-095A-454D-B61BD47F1E5B}"/>
                          </a:ext>
                        </a:extLst>
                      </p:cNvPr>
                      <p:cNvPicPr/>
                      <p:nvPr/>
                    </p:nvPicPr>
                    <p:blipFill>
                      <a:blip r:embed="rId6"/>
                      <a:stretch>
                        <a:fillRect/>
                      </a:stretch>
                    </p:blipFill>
                    <p:spPr>
                      <a:xfrm>
                        <a:off x="6196927" y="3753027"/>
                        <a:ext cx="5126846" cy="1136002"/>
                      </a:xfrm>
                      <a:prstGeom prst="rect">
                        <a:avLst/>
                      </a:prstGeom>
                    </p:spPr>
                  </p:pic>
                </p:oleObj>
              </mc:Fallback>
            </mc:AlternateContent>
          </a:graphicData>
        </a:graphic>
      </p:graphicFrame>
      <p:sp>
        <p:nvSpPr>
          <p:cNvPr id="4" name="文本框 3">
            <a:extLst>
              <a:ext uri="{FF2B5EF4-FFF2-40B4-BE49-F238E27FC236}">
                <a16:creationId xmlns:a16="http://schemas.microsoft.com/office/drawing/2014/main" id="{35589A16-B664-69A0-3318-8CDAAE2E6088}"/>
              </a:ext>
            </a:extLst>
          </p:cNvPr>
          <p:cNvSpPr txBox="1"/>
          <p:nvPr/>
        </p:nvSpPr>
        <p:spPr>
          <a:xfrm>
            <a:off x="8974620" y="2911416"/>
            <a:ext cx="2379180" cy="461665"/>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400" i="1" dirty="0" err="1">
                <a:latin typeface="Times New Roman" panose="02020603050405020304" pitchFamily="18" charset="0"/>
                <a:ea typeface="楷体" panose="02010609060101010101" pitchFamily="49" charset="-122"/>
                <a:cs typeface="Times New Roman" panose="02020603050405020304" pitchFamily="18" charset="0"/>
              </a:rPr>
              <a:t>W</a:t>
            </a:r>
            <a:r>
              <a:rPr lang="en-US" altLang="zh-CN" sz="2400" i="1" baseline="-25000" dirty="0" err="1">
                <a:latin typeface="Times New Roman" panose="02020603050405020304" pitchFamily="18" charset="0"/>
                <a:ea typeface="楷体" panose="02010609060101010101" pitchFamily="49" charset="-122"/>
                <a:cs typeface="Times New Roman" panose="02020603050405020304" pitchFamily="18" charset="0"/>
              </a:rPr>
              <a:t>ij</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为扰动系数</a:t>
            </a:r>
            <a:endParaRPr lang="zh-CN" altLang="en-US" sz="2400" i="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091541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189CE-B008-F001-4E89-10E5D1FA8F56}"/>
              </a:ext>
            </a:extLst>
          </p:cNvPr>
          <p:cNvSpPr>
            <a:spLocks noGrp="1"/>
          </p:cNvSpPr>
          <p:nvPr>
            <p:ph type="title"/>
          </p:nvPr>
        </p:nvSpPr>
        <p:spPr>
          <a:xfrm>
            <a:off x="327578" y="53045"/>
            <a:ext cx="4932892" cy="1029719"/>
          </a:xfrm>
        </p:spPr>
        <p:txBody>
          <a:bodyPr>
            <a:normAutofit/>
          </a:bodyPr>
          <a:lstStyle/>
          <a:p>
            <a:r>
              <a:rPr lang="zh-CN" altLang="en-US" sz="4000" b="1" dirty="0"/>
              <a:t>研究思路与内容</a:t>
            </a:r>
          </a:p>
        </p:txBody>
      </p:sp>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13</a:t>
            </a:fld>
            <a:endParaRPr lang="zh-CN" altLang="en-US"/>
          </a:p>
        </p:txBody>
      </p:sp>
      <p:cxnSp>
        <p:nvCxnSpPr>
          <p:cNvPr id="14" name="直接连接符 13">
            <a:extLst>
              <a:ext uri="{FF2B5EF4-FFF2-40B4-BE49-F238E27FC236}">
                <a16:creationId xmlns:a16="http://schemas.microsoft.com/office/drawing/2014/main" id="{A52245BC-E6B0-F7D8-74A7-14D2F143F257}"/>
              </a:ext>
            </a:extLst>
          </p:cNvPr>
          <p:cNvCxnSpPr>
            <a:cxnSpLocks/>
          </p:cNvCxnSpPr>
          <p:nvPr/>
        </p:nvCxnSpPr>
        <p:spPr>
          <a:xfrm>
            <a:off x="275291" y="906771"/>
            <a:ext cx="3852761" cy="0"/>
          </a:xfrm>
          <a:prstGeom prst="line">
            <a:avLst/>
          </a:prstGeom>
          <a:ln w="28575"/>
        </p:spPr>
        <p:style>
          <a:lnRef idx="1">
            <a:schemeClr val="dk1"/>
          </a:lnRef>
          <a:fillRef idx="0">
            <a:schemeClr val="dk1"/>
          </a:fillRef>
          <a:effectRef idx="0">
            <a:schemeClr val="dk1"/>
          </a:effectRef>
          <a:fontRef idx="minor">
            <a:schemeClr val="tx1"/>
          </a:fontRef>
        </p:style>
      </p:cxnSp>
      <p:sp>
        <p:nvSpPr>
          <p:cNvPr id="23" name="箭头: 下 22">
            <a:extLst>
              <a:ext uri="{FF2B5EF4-FFF2-40B4-BE49-F238E27FC236}">
                <a16:creationId xmlns:a16="http://schemas.microsoft.com/office/drawing/2014/main" id="{0AF2F8AD-4F6B-83E7-9CB8-18C3E0FA7929}"/>
              </a:ext>
            </a:extLst>
          </p:cNvPr>
          <p:cNvSpPr/>
          <p:nvPr/>
        </p:nvSpPr>
        <p:spPr>
          <a:xfrm>
            <a:off x="8422457" y="2112517"/>
            <a:ext cx="220235" cy="1697897"/>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a:extLst>
              <a:ext uri="{FF2B5EF4-FFF2-40B4-BE49-F238E27FC236}">
                <a16:creationId xmlns:a16="http://schemas.microsoft.com/office/drawing/2014/main" id="{39E381D9-A209-F921-7689-50B69A12545B}"/>
              </a:ext>
            </a:extLst>
          </p:cNvPr>
          <p:cNvSpPr txBox="1"/>
          <p:nvPr/>
        </p:nvSpPr>
        <p:spPr>
          <a:xfrm>
            <a:off x="5774268" y="2637462"/>
            <a:ext cx="2545188"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若</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rPr>
              <a:t>p</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存在</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先验知识</a:t>
            </a:r>
          </a:p>
        </p:txBody>
      </p:sp>
      <p:graphicFrame>
        <p:nvGraphicFramePr>
          <p:cNvPr id="6" name="对象 5">
            <a:extLst>
              <a:ext uri="{FF2B5EF4-FFF2-40B4-BE49-F238E27FC236}">
                <a16:creationId xmlns:a16="http://schemas.microsoft.com/office/drawing/2014/main" id="{96C361B8-720F-ECC9-9E2C-EE3946C840B0}"/>
              </a:ext>
            </a:extLst>
          </p:cNvPr>
          <p:cNvGraphicFramePr>
            <a:graphicFrameLocks noChangeAspect="1"/>
          </p:cNvGraphicFramePr>
          <p:nvPr>
            <p:extLst>
              <p:ext uri="{D42A27DB-BD31-4B8C-83A1-F6EECF244321}">
                <p14:modId xmlns:p14="http://schemas.microsoft.com/office/powerpoint/2010/main" val="3384111829"/>
              </p:ext>
            </p:extLst>
          </p:nvPr>
        </p:nvGraphicFramePr>
        <p:xfrm>
          <a:off x="8804858" y="2235888"/>
          <a:ext cx="1799252" cy="1451154"/>
        </p:xfrm>
        <a:graphic>
          <a:graphicData uri="http://schemas.openxmlformats.org/presentationml/2006/ole">
            <mc:AlternateContent xmlns:mc="http://schemas.openxmlformats.org/markup-compatibility/2006">
              <mc:Choice xmlns:v="urn:schemas-microsoft-com:vml" Requires="v">
                <p:oleObj name="AxMath" r:id="rId2" imgW="781200" imgH="631440" progId="Equation.AxMath">
                  <p:embed/>
                </p:oleObj>
              </mc:Choice>
              <mc:Fallback>
                <p:oleObj name="AxMath" r:id="rId2" imgW="781200" imgH="631440" progId="Equation.AxMath">
                  <p:embed/>
                  <p:pic>
                    <p:nvPicPr>
                      <p:cNvPr id="0" name=""/>
                      <p:cNvPicPr/>
                      <p:nvPr/>
                    </p:nvPicPr>
                    <p:blipFill>
                      <a:blip r:embed="rId3"/>
                      <a:stretch>
                        <a:fillRect/>
                      </a:stretch>
                    </p:blipFill>
                    <p:spPr>
                      <a:xfrm>
                        <a:off x="8804858" y="2235888"/>
                        <a:ext cx="1799252" cy="1451154"/>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925D9774-F428-1A6D-78A2-65D808752A10}"/>
              </a:ext>
            </a:extLst>
          </p:cNvPr>
          <p:cNvGraphicFramePr>
            <a:graphicFrameLocks noChangeAspect="1"/>
          </p:cNvGraphicFramePr>
          <p:nvPr>
            <p:extLst>
              <p:ext uri="{D42A27DB-BD31-4B8C-83A1-F6EECF244321}">
                <p14:modId xmlns:p14="http://schemas.microsoft.com/office/powerpoint/2010/main" val="3487514951"/>
              </p:ext>
            </p:extLst>
          </p:nvPr>
        </p:nvGraphicFramePr>
        <p:xfrm>
          <a:off x="6587419" y="3976238"/>
          <a:ext cx="5538852" cy="1926310"/>
        </p:xfrm>
        <a:graphic>
          <a:graphicData uri="http://schemas.openxmlformats.org/presentationml/2006/ole">
            <mc:AlternateContent xmlns:mc="http://schemas.openxmlformats.org/markup-compatibility/2006">
              <mc:Choice xmlns:v="urn:schemas-microsoft-com:vml" Requires="v">
                <p:oleObj name="AxMath" r:id="rId4" imgW="1940400" imgH="675000" progId="Equation.AxMath">
                  <p:embed/>
                </p:oleObj>
              </mc:Choice>
              <mc:Fallback>
                <p:oleObj name="AxMath" r:id="rId4" imgW="1940400" imgH="675000" progId="Equation.AxMath">
                  <p:embed/>
                  <p:pic>
                    <p:nvPicPr>
                      <p:cNvPr id="22" name="对象 21">
                        <a:extLst>
                          <a:ext uri="{FF2B5EF4-FFF2-40B4-BE49-F238E27FC236}">
                            <a16:creationId xmlns:a16="http://schemas.microsoft.com/office/drawing/2014/main" id="{4C82D932-A045-A551-144E-684495E0D7F6}"/>
                          </a:ext>
                        </a:extLst>
                      </p:cNvPr>
                      <p:cNvPicPr/>
                      <p:nvPr/>
                    </p:nvPicPr>
                    <p:blipFill>
                      <a:blip r:embed="rId5"/>
                      <a:stretch>
                        <a:fillRect/>
                      </a:stretch>
                    </p:blipFill>
                    <p:spPr>
                      <a:xfrm>
                        <a:off x="6587419" y="3976238"/>
                        <a:ext cx="5538852" cy="1926310"/>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F84DAC1F-0E8E-E22D-BD29-21AFCD02B6A2}"/>
              </a:ext>
            </a:extLst>
          </p:cNvPr>
          <p:cNvGraphicFramePr>
            <a:graphicFrameLocks noChangeAspect="1"/>
          </p:cNvGraphicFramePr>
          <p:nvPr>
            <p:extLst>
              <p:ext uri="{D42A27DB-BD31-4B8C-83A1-F6EECF244321}">
                <p14:modId xmlns:p14="http://schemas.microsoft.com/office/powerpoint/2010/main" val="797943206"/>
              </p:ext>
            </p:extLst>
          </p:nvPr>
        </p:nvGraphicFramePr>
        <p:xfrm>
          <a:off x="309195" y="1082532"/>
          <a:ext cx="4323204" cy="957932"/>
        </p:xfrm>
        <a:graphic>
          <a:graphicData uri="http://schemas.openxmlformats.org/presentationml/2006/ole">
            <mc:AlternateContent xmlns:mc="http://schemas.openxmlformats.org/markup-compatibility/2006">
              <mc:Choice xmlns:v="urn:schemas-microsoft-com:vml" Requires="v">
                <p:oleObj name="AxMath" r:id="rId6" imgW="1560960" imgH="345600" progId="Equation.AxMath">
                  <p:embed/>
                </p:oleObj>
              </mc:Choice>
              <mc:Fallback>
                <p:oleObj name="AxMath" r:id="rId6" imgW="1560960" imgH="345600" progId="Equation.AxMath">
                  <p:embed/>
                  <p:pic>
                    <p:nvPicPr>
                      <p:cNvPr id="3" name="对象 2">
                        <a:extLst>
                          <a:ext uri="{FF2B5EF4-FFF2-40B4-BE49-F238E27FC236}">
                            <a16:creationId xmlns:a16="http://schemas.microsoft.com/office/drawing/2014/main" id="{38BC9CFF-B906-A768-1E61-CE7F70AF7518}"/>
                          </a:ext>
                        </a:extLst>
                      </p:cNvPr>
                      <p:cNvPicPr/>
                      <p:nvPr/>
                    </p:nvPicPr>
                    <p:blipFill>
                      <a:blip r:embed="rId7"/>
                      <a:stretch>
                        <a:fillRect/>
                      </a:stretch>
                    </p:blipFill>
                    <p:spPr>
                      <a:xfrm>
                        <a:off x="309195" y="1082532"/>
                        <a:ext cx="4323204" cy="957932"/>
                      </a:xfrm>
                      <a:prstGeom prst="rect">
                        <a:avLst/>
                      </a:prstGeom>
                    </p:spPr>
                  </p:pic>
                </p:oleObj>
              </mc:Fallback>
            </mc:AlternateContent>
          </a:graphicData>
        </a:graphic>
      </p:graphicFrame>
      <p:sp>
        <p:nvSpPr>
          <p:cNvPr id="4" name="箭头: 下 3">
            <a:extLst>
              <a:ext uri="{FF2B5EF4-FFF2-40B4-BE49-F238E27FC236}">
                <a16:creationId xmlns:a16="http://schemas.microsoft.com/office/drawing/2014/main" id="{256D194D-64A3-D5BF-F86B-4DB210C19AFB}"/>
              </a:ext>
            </a:extLst>
          </p:cNvPr>
          <p:cNvSpPr/>
          <p:nvPr/>
        </p:nvSpPr>
        <p:spPr>
          <a:xfrm rot="16200000">
            <a:off x="5967754" y="662063"/>
            <a:ext cx="203581" cy="1827673"/>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8" name="对象 7">
            <a:extLst>
              <a:ext uri="{FF2B5EF4-FFF2-40B4-BE49-F238E27FC236}">
                <a16:creationId xmlns:a16="http://schemas.microsoft.com/office/drawing/2014/main" id="{38622F45-0838-B516-BBE5-6D5E018CA7A4}"/>
              </a:ext>
            </a:extLst>
          </p:cNvPr>
          <p:cNvGraphicFramePr>
            <a:graphicFrameLocks noChangeAspect="1"/>
          </p:cNvGraphicFramePr>
          <p:nvPr>
            <p:extLst>
              <p:ext uri="{D42A27DB-BD31-4B8C-83A1-F6EECF244321}">
                <p14:modId xmlns:p14="http://schemas.microsoft.com/office/powerpoint/2010/main" val="3206292122"/>
              </p:ext>
            </p:extLst>
          </p:nvPr>
        </p:nvGraphicFramePr>
        <p:xfrm>
          <a:off x="7294988" y="710396"/>
          <a:ext cx="2048934" cy="1330068"/>
        </p:xfrm>
        <a:graphic>
          <a:graphicData uri="http://schemas.openxmlformats.org/presentationml/2006/ole">
            <mc:AlternateContent xmlns:mc="http://schemas.openxmlformats.org/markup-compatibility/2006">
              <mc:Choice xmlns:v="urn:schemas-microsoft-com:vml" Requires="v">
                <p:oleObj name="AxMath" r:id="rId8" imgW="587520" imgH="380520" progId="Equation.AxMath">
                  <p:embed/>
                </p:oleObj>
              </mc:Choice>
              <mc:Fallback>
                <p:oleObj name="AxMath" r:id="rId8" imgW="587520" imgH="380520" progId="Equation.AxMath">
                  <p:embed/>
                  <p:pic>
                    <p:nvPicPr>
                      <p:cNvPr id="22" name="对象 21">
                        <a:extLst>
                          <a:ext uri="{FF2B5EF4-FFF2-40B4-BE49-F238E27FC236}">
                            <a16:creationId xmlns:a16="http://schemas.microsoft.com/office/drawing/2014/main" id="{4C82D932-A045-A551-144E-684495E0D7F6}"/>
                          </a:ext>
                        </a:extLst>
                      </p:cNvPr>
                      <p:cNvPicPr/>
                      <p:nvPr/>
                    </p:nvPicPr>
                    <p:blipFill>
                      <a:blip r:embed="rId9"/>
                      <a:stretch>
                        <a:fillRect/>
                      </a:stretch>
                    </p:blipFill>
                    <p:spPr>
                      <a:xfrm>
                        <a:off x="7294988" y="710396"/>
                        <a:ext cx="2048934" cy="1330068"/>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52399AD0-8044-43AC-99D2-43C3A8DDD4FB}"/>
              </a:ext>
            </a:extLst>
          </p:cNvPr>
          <p:cNvSpPr txBox="1"/>
          <p:nvPr/>
        </p:nvSpPr>
        <p:spPr>
          <a:xfrm>
            <a:off x="4997928" y="1020307"/>
            <a:ext cx="2048934"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类比优化问题</a:t>
            </a:r>
          </a:p>
        </p:txBody>
      </p:sp>
      <p:graphicFrame>
        <p:nvGraphicFramePr>
          <p:cNvPr id="11" name="对象 10">
            <a:extLst>
              <a:ext uri="{FF2B5EF4-FFF2-40B4-BE49-F238E27FC236}">
                <a16:creationId xmlns:a16="http://schemas.microsoft.com/office/drawing/2014/main" id="{9908D98A-0B40-7E4D-C67C-6BA292C96F8C}"/>
              </a:ext>
            </a:extLst>
          </p:cNvPr>
          <p:cNvGraphicFramePr>
            <a:graphicFrameLocks noChangeAspect="1"/>
          </p:cNvGraphicFramePr>
          <p:nvPr>
            <p:extLst>
              <p:ext uri="{D42A27DB-BD31-4B8C-83A1-F6EECF244321}">
                <p14:modId xmlns:p14="http://schemas.microsoft.com/office/powerpoint/2010/main" val="557270620"/>
              </p:ext>
            </p:extLst>
          </p:nvPr>
        </p:nvGraphicFramePr>
        <p:xfrm>
          <a:off x="688398" y="3513667"/>
          <a:ext cx="4288216" cy="2579974"/>
        </p:xfrm>
        <a:graphic>
          <a:graphicData uri="http://schemas.openxmlformats.org/presentationml/2006/ole">
            <mc:AlternateContent xmlns:mc="http://schemas.openxmlformats.org/markup-compatibility/2006">
              <mc:Choice xmlns:v="urn:schemas-microsoft-com:vml" Requires="v">
                <p:oleObj name="AxMath" r:id="rId10" imgW="1546920" imgH="930600" progId="Equation.AxMath">
                  <p:embed/>
                </p:oleObj>
              </mc:Choice>
              <mc:Fallback>
                <p:oleObj name="AxMath" r:id="rId10" imgW="1546920" imgH="930600" progId="Equation.AxMath">
                  <p:embed/>
                  <p:pic>
                    <p:nvPicPr>
                      <p:cNvPr id="3" name="对象 2">
                        <a:extLst>
                          <a:ext uri="{FF2B5EF4-FFF2-40B4-BE49-F238E27FC236}">
                            <a16:creationId xmlns:a16="http://schemas.microsoft.com/office/drawing/2014/main" id="{F80EA688-F9B3-66F9-2EF1-F31413789528}"/>
                          </a:ext>
                        </a:extLst>
                      </p:cNvPr>
                      <p:cNvPicPr/>
                      <p:nvPr/>
                    </p:nvPicPr>
                    <p:blipFill>
                      <a:blip r:embed="rId11"/>
                      <a:stretch>
                        <a:fillRect/>
                      </a:stretch>
                    </p:blipFill>
                    <p:spPr>
                      <a:xfrm>
                        <a:off x="688398" y="3513667"/>
                        <a:ext cx="4288216" cy="2579974"/>
                      </a:xfrm>
                      <a:prstGeom prst="rect">
                        <a:avLst/>
                      </a:prstGeom>
                    </p:spPr>
                  </p:pic>
                </p:oleObj>
              </mc:Fallback>
            </mc:AlternateContent>
          </a:graphicData>
        </a:graphic>
      </p:graphicFrame>
      <p:sp>
        <p:nvSpPr>
          <p:cNvPr id="12" name="箭头: 下 11">
            <a:extLst>
              <a:ext uri="{FF2B5EF4-FFF2-40B4-BE49-F238E27FC236}">
                <a16:creationId xmlns:a16="http://schemas.microsoft.com/office/drawing/2014/main" id="{E715319A-DEE2-B981-2382-53AFE8DFD62D}"/>
              </a:ext>
            </a:extLst>
          </p:cNvPr>
          <p:cNvSpPr/>
          <p:nvPr/>
        </p:nvSpPr>
        <p:spPr>
          <a:xfrm rot="5400000">
            <a:off x="5502791" y="3795213"/>
            <a:ext cx="203581" cy="1618150"/>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3" name="文本框 12">
            <a:extLst>
              <a:ext uri="{FF2B5EF4-FFF2-40B4-BE49-F238E27FC236}">
                <a16:creationId xmlns:a16="http://schemas.microsoft.com/office/drawing/2014/main" id="{5B3E1C4F-AAFF-3E3A-B389-15C3FA009AE5}"/>
              </a:ext>
            </a:extLst>
          </p:cNvPr>
          <p:cNvSpPr txBox="1"/>
          <p:nvPr/>
        </p:nvSpPr>
        <p:spPr>
          <a:xfrm>
            <a:off x="4766733" y="4111152"/>
            <a:ext cx="1889707"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回到原问题</a:t>
            </a:r>
          </a:p>
        </p:txBody>
      </p:sp>
    </p:spTree>
    <p:extLst>
      <p:ext uri="{BB962C8B-B14F-4D97-AF65-F5344CB8AC3E}">
        <p14:creationId xmlns:p14="http://schemas.microsoft.com/office/powerpoint/2010/main" val="1678019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189CE-B008-F001-4E89-10E5D1FA8F56}"/>
              </a:ext>
            </a:extLst>
          </p:cNvPr>
          <p:cNvSpPr>
            <a:spLocks noGrp="1"/>
          </p:cNvSpPr>
          <p:nvPr>
            <p:ph type="title"/>
          </p:nvPr>
        </p:nvSpPr>
        <p:spPr>
          <a:xfrm>
            <a:off x="299301" y="62471"/>
            <a:ext cx="4187858" cy="1029719"/>
          </a:xfrm>
        </p:spPr>
        <p:txBody>
          <a:bodyPr>
            <a:normAutofit/>
          </a:bodyPr>
          <a:lstStyle/>
          <a:p>
            <a:r>
              <a:rPr lang="zh-CN" altLang="en-US" sz="4000" b="1" dirty="0">
                <a:latin typeface="楷体" panose="02010609060101010101" pitchFamily="49" charset="-122"/>
              </a:rPr>
              <a:t>研究思路与内容</a:t>
            </a:r>
          </a:p>
        </p:txBody>
      </p:sp>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14</a:t>
            </a:fld>
            <a:endParaRPr lang="zh-CN" altLang="en-US" dirty="0"/>
          </a:p>
        </p:txBody>
      </p:sp>
      <p:cxnSp>
        <p:nvCxnSpPr>
          <p:cNvPr id="14" name="直接连接符 13">
            <a:extLst>
              <a:ext uri="{FF2B5EF4-FFF2-40B4-BE49-F238E27FC236}">
                <a16:creationId xmlns:a16="http://schemas.microsoft.com/office/drawing/2014/main" id="{A52245BC-E6B0-F7D8-74A7-14D2F143F257}"/>
              </a:ext>
            </a:extLst>
          </p:cNvPr>
          <p:cNvCxnSpPr>
            <a:cxnSpLocks/>
          </p:cNvCxnSpPr>
          <p:nvPr/>
        </p:nvCxnSpPr>
        <p:spPr>
          <a:xfrm flipV="1">
            <a:off x="247014" y="914044"/>
            <a:ext cx="3872499" cy="2153"/>
          </a:xfrm>
          <a:prstGeom prst="line">
            <a:avLst/>
          </a:prstGeom>
          <a:ln w="28575"/>
        </p:spPr>
        <p:style>
          <a:lnRef idx="1">
            <a:schemeClr val="dk1"/>
          </a:lnRef>
          <a:fillRef idx="0">
            <a:schemeClr val="dk1"/>
          </a:fillRef>
          <a:effectRef idx="0">
            <a:schemeClr val="dk1"/>
          </a:effectRef>
          <a:fontRef idx="minor">
            <a:schemeClr val="tx1"/>
          </a:fontRef>
        </p:style>
      </p:cxnSp>
      <p:graphicFrame>
        <p:nvGraphicFramePr>
          <p:cNvPr id="5" name="对象 4">
            <a:extLst>
              <a:ext uri="{FF2B5EF4-FFF2-40B4-BE49-F238E27FC236}">
                <a16:creationId xmlns:a16="http://schemas.microsoft.com/office/drawing/2014/main" id="{CBEAAE77-3F38-A5E8-1250-A20A1A831181}"/>
              </a:ext>
            </a:extLst>
          </p:cNvPr>
          <p:cNvGraphicFramePr>
            <a:graphicFrameLocks noChangeAspect="1"/>
          </p:cNvGraphicFramePr>
          <p:nvPr>
            <p:extLst>
              <p:ext uri="{D42A27DB-BD31-4B8C-83A1-F6EECF244321}">
                <p14:modId xmlns:p14="http://schemas.microsoft.com/office/powerpoint/2010/main" val="902635139"/>
              </p:ext>
            </p:extLst>
          </p:nvPr>
        </p:nvGraphicFramePr>
        <p:xfrm>
          <a:off x="4382048" y="3623634"/>
          <a:ext cx="5185926" cy="1017490"/>
        </p:xfrm>
        <a:graphic>
          <a:graphicData uri="http://schemas.openxmlformats.org/presentationml/2006/ole">
            <mc:AlternateContent xmlns:mc="http://schemas.openxmlformats.org/markup-compatibility/2006">
              <mc:Choice xmlns:v="urn:schemas-microsoft-com:vml" Requires="v">
                <p:oleObj name="AxMath" r:id="rId2" imgW="1755000" imgH="343800" progId="Equation.AxMath">
                  <p:embed/>
                </p:oleObj>
              </mc:Choice>
              <mc:Fallback>
                <p:oleObj name="AxMath" r:id="rId2" imgW="1755000" imgH="343800" progId="Equation.AxMath">
                  <p:embed/>
                  <p:pic>
                    <p:nvPicPr>
                      <p:cNvPr id="5" name="对象 4">
                        <a:extLst>
                          <a:ext uri="{FF2B5EF4-FFF2-40B4-BE49-F238E27FC236}">
                            <a16:creationId xmlns:a16="http://schemas.microsoft.com/office/drawing/2014/main" id="{CBEAAE77-3F38-A5E8-1250-A20A1A831181}"/>
                          </a:ext>
                        </a:extLst>
                      </p:cNvPr>
                      <p:cNvPicPr/>
                      <p:nvPr/>
                    </p:nvPicPr>
                    <p:blipFill>
                      <a:blip r:embed="rId3"/>
                      <a:stretch>
                        <a:fillRect/>
                      </a:stretch>
                    </p:blipFill>
                    <p:spPr>
                      <a:xfrm>
                        <a:off x="4382048" y="3623634"/>
                        <a:ext cx="5185926" cy="101749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A15F4960-D56D-74AF-EC6E-E33916B9B114}"/>
              </a:ext>
            </a:extLst>
          </p:cNvPr>
          <p:cNvGraphicFramePr>
            <a:graphicFrameLocks noChangeAspect="1"/>
          </p:cNvGraphicFramePr>
          <p:nvPr>
            <p:extLst>
              <p:ext uri="{D42A27DB-BD31-4B8C-83A1-F6EECF244321}">
                <p14:modId xmlns:p14="http://schemas.microsoft.com/office/powerpoint/2010/main" val="488798803"/>
              </p:ext>
            </p:extLst>
          </p:nvPr>
        </p:nvGraphicFramePr>
        <p:xfrm>
          <a:off x="4386835" y="4888451"/>
          <a:ext cx="5146126" cy="803792"/>
        </p:xfrm>
        <a:graphic>
          <a:graphicData uri="http://schemas.openxmlformats.org/presentationml/2006/ole">
            <mc:AlternateContent xmlns:mc="http://schemas.openxmlformats.org/markup-compatibility/2006">
              <mc:Choice xmlns:v="urn:schemas-microsoft-com:vml" Requires="v">
                <p:oleObj name="AxMath" r:id="rId4" imgW="1769040" imgH="276480" progId="Equation.AxMath">
                  <p:embed/>
                </p:oleObj>
              </mc:Choice>
              <mc:Fallback>
                <p:oleObj name="AxMath" r:id="rId4" imgW="1769040" imgH="276480" progId="Equation.AxMath">
                  <p:embed/>
                  <p:pic>
                    <p:nvPicPr>
                      <p:cNvPr id="6" name="对象 5">
                        <a:extLst>
                          <a:ext uri="{FF2B5EF4-FFF2-40B4-BE49-F238E27FC236}">
                            <a16:creationId xmlns:a16="http://schemas.microsoft.com/office/drawing/2014/main" id="{A15F4960-D56D-74AF-EC6E-E33916B9B114}"/>
                          </a:ext>
                        </a:extLst>
                      </p:cNvPr>
                      <p:cNvPicPr/>
                      <p:nvPr/>
                    </p:nvPicPr>
                    <p:blipFill>
                      <a:blip r:embed="rId5"/>
                      <a:stretch>
                        <a:fillRect/>
                      </a:stretch>
                    </p:blipFill>
                    <p:spPr>
                      <a:xfrm>
                        <a:off x="4386835" y="4888451"/>
                        <a:ext cx="5146126" cy="803792"/>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5C7E6B56-7D78-AD91-81CD-BAFD1E3BC284}"/>
              </a:ext>
            </a:extLst>
          </p:cNvPr>
          <p:cNvGraphicFramePr>
            <a:graphicFrameLocks noChangeAspect="1"/>
          </p:cNvGraphicFramePr>
          <p:nvPr>
            <p:extLst>
              <p:ext uri="{D42A27DB-BD31-4B8C-83A1-F6EECF244321}">
                <p14:modId xmlns:p14="http://schemas.microsoft.com/office/powerpoint/2010/main" val="658376447"/>
              </p:ext>
            </p:extLst>
          </p:nvPr>
        </p:nvGraphicFramePr>
        <p:xfrm>
          <a:off x="4848040" y="648994"/>
          <a:ext cx="4223716" cy="2541168"/>
        </p:xfrm>
        <a:graphic>
          <a:graphicData uri="http://schemas.openxmlformats.org/presentationml/2006/ole">
            <mc:AlternateContent xmlns:mc="http://schemas.openxmlformats.org/markup-compatibility/2006">
              <mc:Choice xmlns:v="urn:schemas-microsoft-com:vml" Requires="v">
                <p:oleObj name="AxMath" r:id="rId6" imgW="1546920" imgH="930600" progId="Equation.AxMath">
                  <p:embed/>
                </p:oleObj>
              </mc:Choice>
              <mc:Fallback>
                <p:oleObj name="AxMath" r:id="rId6" imgW="1546920" imgH="930600" progId="Equation.AxMath">
                  <p:embed/>
                  <p:pic>
                    <p:nvPicPr>
                      <p:cNvPr id="11" name="对象 10">
                        <a:extLst>
                          <a:ext uri="{FF2B5EF4-FFF2-40B4-BE49-F238E27FC236}">
                            <a16:creationId xmlns:a16="http://schemas.microsoft.com/office/drawing/2014/main" id="{9908D98A-0B40-7E4D-C67C-6BA292C96F8C}"/>
                          </a:ext>
                        </a:extLst>
                      </p:cNvPr>
                      <p:cNvPicPr/>
                      <p:nvPr/>
                    </p:nvPicPr>
                    <p:blipFill>
                      <a:blip r:embed="rId7"/>
                      <a:stretch>
                        <a:fillRect/>
                      </a:stretch>
                    </p:blipFill>
                    <p:spPr>
                      <a:xfrm>
                        <a:off x="4848040" y="648994"/>
                        <a:ext cx="4223716" cy="2541168"/>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542E8052-74CD-6BD0-C311-E2908312299E}"/>
              </a:ext>
            </a:extLst>
          </p:cNvPr>
          <p:cNvSpPr txBox="1"/>
          <p:nvPr/>
        </p:nvSpPr>
        <p:spPr>
          <a:xfrm>
            <a:off x="1524000" y="1919578"/>
            <a:ext cx="1718733" cy="523220"/>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800" dirty="0">
                <a:latin typeface="楷体" panose="02010609060101010101" pitchFamily="49" charset="-122"/>
                <a:ea typeface="楷体" panose="02010609060101010101" pitchFamily="49" charset="-122"/>
                <a:cs typeface="Times New Roman" panose="02020603050405020304" pitchFamily="18" charset="0"/>
              </a:rPr>
              <a:t>双层优化</a:t>
            </a:r>
          </a:p>
        </p:txBody>
      </p:sp>
      <p:sp>
        <p:nvSpPr>
          <p:cNvPr id="13" name="文本框 12">
            <a:extLst>
              <a:ext uri="{FF2B5EF4-FFF2-40B4-BE49-F238E27FC236}">
                <a16:creationId xmlns:a16="http://schemas.microsoft.com/office/drawing/2014/main" id="{C6BA605B-6566-2D77-6B17-56A4452DB9AF}"/>
              </a:ext>
            </a:extLst>
          </p:cNvPr>
          <p:cNvSpPr txBox="1"/>
          <p:nvPr/>
        </p:nvSpPr>
        <p:spPr>
          <a:xfrm>
            <a:off x="1524000" y="4405158"/>
            <a:ext cx="1714890" cy="523220"/>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800" dirty="0">
                <a:latin typeface="楷体" panose="02010609060101010101" pitchFamily="49" charset="-122"/>
                <a:ea typeface="楷体" panose="02010609060101010101" pitchFamily="49" charset="-122"/>
                <a:cs typeface="Times New Roman" panose="02020603050405020304" pitchFamily="18" charset="0"/>
              </a:rPr>
              <a:t>两步优化</a:t>
            </a:r>
          </a:p>
        </p:txBody>
      </p:sp>
      <p:sp>
        <p:nvSpPr>
          <p:cNvPr id="15" name="箭头: 下 14">
            <a:extLst>
              <a:ext uri="{FF2B5EF4-FFF2-40B4-BE49-F238E27FC236}">
                <a16:creationId xmlns:a16="http://schemas.microsoft.com/office/drawing/2014/main" id="{9EA0B20C-A714-FACE-5FDC-3E23695E605A}"/>
              </a:ext>
            </a:extLst>
          </p:cNvPr>
          <p:cNvSpPr/>
          <p:nvPr/>
        </p:nvSpPr>
        <p:spPr>
          <a:xfrm>
            <a:off x="2246589" y="2907808"/>
            <a:ext cx="146641" cy="1042383"/>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楷体" panose="02010609060101010101" pitchFamily="49" charset="-122"/>
              <a:ea typeface="楷体" panose="02010609060101010101" pitchFamily="49" charset="-122"/>
            </a:endParaRPr>
          </a:p>
        </p:txBody>
      </p:sp>
      <p:cxnSp>
        <p:nvCxnSpPr>
          <p:cNvPr id="17" name="直接连接符 16">
            <a:extLst>
              <a:ext uri="{FF2B5EF4-FFF2-40B4-BE49-F238E27FC236}">
                <a16:creationId xmlns:a16="http://schemas.microsoft.com/office/drawing/2014/main" id="{098A75FA-8CF6-F116-7076-BDC4F8DFEEB3}"/>
              </a:ext>
            </a:extLst>
          </p:cNvPr>
          <p:cNvCxnSpPr/>
          <p:nvPr/>
        </p:nvCxnSpPr>
        <p:spPr>
          <a:xfrm>
            <a:off x="1278835" y="3316160"/>
            <a:ext cx="10237304" cy="0"/>
          </a:xfrm>
          <a:prstGeom prst="line">
            <a:avLst/>
          </a:prstGeom>
          <a:ln w="12700">
            <a:solidFill>
              <a:srgbClr val="1D3C6B"/>
            </a:solidFill>
            <a:prstDash val="dashDot"/>
          </a:ln>
        </p:spPr>
        <p:style>
          <a:lnRef idx="1">
            <a:schemeClr val="dk1"/>
          </a:lnRef>
          <a:fillRef idx="0">
            <a:schemeClr val="dk1"/>
          </a:fillRef>
          <a:effectRef idx="0">
            <a:schemeClr val="dk1"/>
          </a:effectRef>
          <a:fontRef idx="minor">
            <a:schemeClr val="tx1"/>
          </a:fontRef>
        </p:style>
      </p:cxnSp>
      <p:sp>
        <p:nvSpPr>
          <p:cNvPr id="18" name="文本框 17">
            <a:extLst>
              <a:ext uri="{FF2B5EF4-FFF2-40B4-BE49-F238E27FC236}">
                <a16:creationId xmlns:a16="http://schemas.microsoft.com/office/drawing/2014/main" id="{E2EC4FE0-5ED1-E1DC-3780-85A3C9109105}"/>
              </a:ext>
            </a:extLst>
          </p:cNvPr>
          <p:cNvSpPr txBox="1"/>
          <p:nvPr/>
        </p:nvSpPr>
        <p:spPr>
          <a:xfrm>
            <a:off x="2627121" y="2897765"/>
            <a:ext cx="2377390"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cs typeface="Times New Roman" panose="02020603050405020304" pitchFamily="18" charset="0"/>
              </a:rPr>
              <a:t>优化变量相互独立</a:t>
            </a:r>
            <a:endParaRPr lang="zh-CN" altLang="en-US" sz="2000" b="1" dirty="0">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98046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189CE-B008-F001-4E89-10E5D1FA8F56}"/>
              </a:ext>
            </a:extLst>
          </p:cNvPr>
          <p:cNvSpPr>
            <a:spLocks noGrp="1"/>
          </p:cNvSpPr>
          <p:nvPr>
            <p:ph type="title"/>
          </p:nvPr>
        </p:nvSpPr>
        <p:spPr>
          <a:xfrm>
            <a:off x="299301" y="62471"/>
            <a:ext cx="4187858" cy="1029719"/>
          </a:xfrm>
        </p:spPr>
        <p:txBody>
          <a:bodyPr>
            <a:normAutofit/>
          </a:bodyPr>
          <a:lstStyle/>
          <a:p>
            <a:r>
              <a:rPr lang="zh-CN" altLang="en-US" sz="4000" b="1" dirty="0"/>
              <a:t>研究思路与内容</a:t>
            </a:r>
          </a:p>
        </p:txBody>
      </p:sp>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15</a:t>
            </a:fld>
            <a:endParaRPr lang="zh-CN" altLang="en-US"/>
          </a:p>
        </p:txBody>
      </p:sp>
      <p:cxnSp>
        <p:nvCxnSpPr>
          <p:cNvPr id="14" name="直接连接符 13">
            <a:extLst>
              <a:ext uri="{FF2B5EF4-FFF2-40B4-BE49-F238E27FC236}">
                <a16:creationId xmlns:a16="http://schemas.microsoft.com/office/drawing/2014/main" id="{A52245BC-E6B0-F7D8-74A7-14D2F143F257}"/>
              </a:ext>
            </a:extLst>
          </p:cNvPr>
          <p:cNvCxnSpPr>
            <a:cxnSpLocks/>
          </p:cNvCxnSpPr>
          <p:nvPr/>
        </p:nvCxnSpPr>
        <p:spPr>
          <a:xfrm flipV="1">
            <a:off x="247014" y="914044"/>
            <a:ext cx="3872499" cy="2153"/>
          </a:xfrm>
          <a:prstGeom prst="line">
            <a:avLst/>
          </a:prstGeom>
          <a:ln w="28575"/>
        </p:spPr>
        <p:style>
          <a:lnRef idx="1">
            <a:schemeClr val="dk1"/>
          </a:lnRef>
          <a:fillRef idx="0">
            <a:schemeClr val="dk1"/>
          </a:fillRef>
          <a:effectRef idx="0">
            <a:schemeClr val="dk1"/>
          </a:effectRef>
          <a:fontRef idx="minor">
            <a:schemeClr val="tx1"/>
          </a:fontRef>
        </p:style>
      </p:cxnSp>
      <p:graphicFrame>
        <p:nvGraphicFramePr>
          <p:cNvPr id="5" name="对象 4">
            <a:extLst>
              <a:ext uri="{FF2B5EF4-FFF2-40B4-BE49-F238E27FC236}">
                <a16:creationId xmlns:a16="http://schemas.microsoft.com/office/drawing/2014/main" id="{CBEAAE77-3F38-A5E8-1250-A20A1A831181}"/>
              </a:ext>
            </a:extLst>
          </p:cNvPr>
          <p:cNvGraphicFramePr>
            <a:graphicFrameLocks noChangeAspect="1"/>
          </p:cNvGraphicFramePr>
          <p:nvPr>
            <p:extLst>
              <p:ext uri="{D42A27DB-BD31-4B8C-83A1-F6EECF244321}">
                <p14:modId xmlns:p14="http://schemas.microsoft.com/office/powerpoint/2010/main" val="1309724560"/>
              </p:ext>
            </p:extLst>
          </p:nvPr>
        </p:nvGraphicFramePr>
        <p:xfrm>
          <a:off x="3899471" y="843676"/>
          <a:ext cx="5223696" cy="1024900"/>
        </p:xfrm>
        <a:graphic>
          <a:graphicData uri="http://schemas.openxmlformats.org/presentationml/2006/ole">
            <mc:AlternateContent xmlns:mc="http://schemas.openxmlformats.org/markup-compatibility/2006">
              <mc:Choice xmlns:v="urn:schemas-microsoft-com:vml" Requires="v">
                <p:oleObj name="AxMath" r:id="rId2" imgW="1755000" imgH="343800" progId="Equation.AxMath">
                  <p:embed/>
                </p:oleObj>
              </mc:Choice>
              <mc:Fallback>
                <p:oleObj name="AxMath" r:id="rId2" imgW="1755000" imgH="343800" progId="Equation.AxMath">
                  <p:embed/>
                  <p:pic>
                    <p:nvPicPr>
                      <p:cNvPr id="5" name="对象 4">
                        <a:extLst>
                          <a:ext uri="{FF2B5EF4-FFF2-40B4-BE49-F238E27FC236}">
                            <a16:creationId xmlns:a16="http://schemas.microsoft.com/office/drawing/2014/main" id="{CBEAAE77-3F38-A5E8-1250-A20A1A831181}"/>
                          </a:ext>
                        </a:extLst>
                      </p:cNvPr>
                      <p:cNvPicPr/>
                      <p:nvPr/>
                    </p:nvPicPr>
                    <p:blipFill>
                      <a:blip r:embed="rId3"/>
                      <a:stretch>
                        <a:fillRect/>
                      </a:stretch>
                    </p:blipFill>
                    <p:spPr>
                      <a:xfrm>
                        <a:off x="3899471" y="843676"/>
                        <a:ext cx="5223696" cy="1024900"/>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542E8052-74CD-6BD0-C311-E2908312299E}"/>
              </a:ext>
            </a:extLst>
          </p:cNvPr>
          <p:cNvSpPr txBox="1"/>
          <p:nvPr/>
        </p:nvSpPr>
        <p:spPr>
          <a:xfrm>
            <a:off x="925243" y="1360284"/>
            <a:ext cx="2516040" cy="523220"/>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内层优化的</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求解</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7" name="对象 6">
            <a:extLst>
              <a:ext uri="{FF2B5EF4-FFF2-40B4-BE49-F238E27FC236}">
                <a16:creationId xmlns:a16="http://schemas.microsoft.com/office/drawing/2014/main" id="{2FC3CBB8-754B-648E-B7FC-AAEE1B61218E}"/>
              </a:ext>
            </a:extLst>
          </p:cNvPr>
          <p:cNvGraphicFramePr>
            <a:graphicFrameLocks noChangeAspect="1"/>
          </p:cNvGraphicFramePr>
          <p:nvPr>
            <p:extLst>
              <p:ext uri="{D42A27DB-BD31-4B8C-83A1-F6EECF244321}">
                <p14:modId xmlns:p14="http://schemas.microsoft.com/office/powerpoint/2010/main" val="3703161382"/>
              </p:ext>
            </p:extLst>
          </p:nvPr>
        </p:nvGraphicFramePr>
        <p:xfrm>
          <a:off x="3807563" y="4486845"/>
          <a:ext cx="2962904" cy="1741744"/>
        </p:xfrm>
        <a:graphic>
          <a:graphicData uri="http://schemas.openxmlformats.org/presentationml/2006/ole">
            <mc:AlternateContent xmlns:mc="http://schemas.openxmlformats.org/markup-compatibility/2006">
              <mc:Choice xmlns:v="urn:schemas-microsoft-com:vml" Requires="v">
                <p:oleObj name="AxMath" r:id="rId4" imgW="1695796" imgH="1007351" progId="Equation.AxMath">
                  <p:embed/>
                </p:oleObj>
              </mc:Choice>
              <mc:Fallback>
                <p:oleObj name="AxMath" r:id="rId4" imgW="1695796" imgH="1007351" progId="Equation.AxMath">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7563" y="4486845"/>
                        <a:ext cx="2962904" cy="1741744"/>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9F93125D-361E-6542-3A7B-7AFEFAE844A6}"/>
              </a:ext>
            </a:extLst>
          </p:cNvPr>
          <p:cNvGraphicFramePr>
            <a:graphicFrameLocks noChangeAspect="1"/>
          </p:cNvGraphicFramePr>
          <p:nvPr>
            <p:extLst>
              <p:ext uri="{D42A27DB-BD31-4B8C-83A1-F6EECF244321}">
                <p14:modId xmlns:p14="http://schemas.microsoft.com/office/powerpoint/2010/main" val="898629490"/>
              </p:ext>
            </p:extLst>
          </p:nvPr>
        </p:nvGraphicFramePr>
        <p:xfrm>
          <a:off x="3478213" y="2886075"/>
          <a:ext cx="8340725" cy="741363"/>
        </p:xfrm>
        <a:graphic>
          <a:graphicData uri="http://schemas.openxmlformats.org/presentationml/2006/ole">
            <mc:AlternateContent xmlns:mc="http://schemas.openxmlformats.org/markup-compatibility/2006">
              <mc:Choice xmlns:v="urn:schemas-microsoft-com:vml" Requires="v">
                <p:oleObj name="AxMath" r:id="rId6" imgW="4287600" imgH="380520" progId="Equation.AxMath">
                  <p:embed/>
                </p:oleObj>
              </mc:Choice>
              <mc:Fallback>
                <p:oleObj name="AxMath" r:id="rId6" imgW="4287600" imgH="380520" progId="Equation.AxMath">
                  <p:embed/>
                  <p:pic>
                    <p:nvPicPr>
                      <p:cNvPr id="0" name="Object 3"/>
                      <p:cNvPicPr>
                        <a:picLocks noChangeAspect="1" noChangeArrowheads="1"/>
                      </p:cNvPicPr>
                      <p:nvPr/>
                    </p:nvPicPr>
                    <p:blipFill>
                      <a:blip r:embed="rId7"/>
                      <a:srcRect/>
                      <a:stretch>
                        <a:fillRect/>
                      </a:stretch>
                    </p:blipFill>
                    <p:spPr bwMode="auto">
                      <a:xfrm>
                        <a:off x="3478213" y="2886075"/>
                        <a:ext cx="8340725" cy="741363"/>
                      </a:xfrm>
                      <a:prstGeom prst="rect">
                        <a:avLst/>
                      </a:prstGeom>
                      <a:noFill/>
                    </p:spPr>
                  </p:pic>
                </p:oleObj>
              </mc:Fallback>
            </mc:AlternateContent>
          </a:graphicData>
        </a:graphic>
      </p:graphicFrame>
      <p:sp>
        <p:nvSpPr>
          <p:cNvPr id="12" name="箭头: 下 11">
            <a:extLst>
              <a:ext uri="{FF2B5EF4-FFF2-40B4-BE49-F238E27FC236}">
                <a16:creationId xmlns:a16="http://schemas.microsoft.com/office/drawing/2014/main" id="{35F83742-2571-8AA4-AEDD-B900B12112AD}"/>
              </a:ext>
            </a:extLst>
          </p:cNvPr>
          <p:cNvSpPr/>
          <p:nvPr/>
        </p:nvSpPr>
        <p:spPr>
          <a:xfrm flipH="1">
            <a:off x="5120051" y="2100847"/>
            <a:ext cx="168964" cy="661816"/>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箭头: 下 15">
            <a:extLst>
              <a:ext uri="{FF2B5EF4-FFF2-40B4-BE49-F238E27FC236}">
                <a16:creationId xmlns:a16="http://schemas.microsoft.com/office/drawing/2014/main" id="{EFCE0037-EF81-DF0A-6EBF-9249CC29D6D8}"/>
              </a:ext>
            </a:extLst>
          </p:cNvPr>
          <p:cNvSpPr/>
          <p:nvPr/>
        </p:nvSpPr>
        <p:spPr>
          <a:xfrm flipH="1">
            <a:off x="5120051" y="3694272"/>
            <a:ext cx="168964" cy="661816"/>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文本框 18">
            <a:extLst>
              <a:ext uri="{FF2B5EF4-FFF2-40B4-BE49-F238E27FC236}">
                <a16:creationId xmlns:a16="http://schemas.microsoft.com/office/drawing/2014/main" id="{5D3156FF-AABA-3E66-B0F6-0B23EF4D6074}"/>
              </a:ext>
            </a:extLst>
          </p:cNvPr>
          <p:cNvSpPr txBox="1"/>
          <p:nvPr/>
        </p:nvSpPr>
        <p:spPr>
          <a:xfrm>
            <a:off x="5545881" y="2188116"/>
            <a:ext cx="2092104"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拉格朗日对偶</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文本框 19">
            <a:extLst>
              <a:ext uri="{FF2B5EF4-FFF2-40B4-BE49-F238E27FC236}">
                <a16:creationId xmlns:a16="http://schemas.microsoft.com/office/drawing/2014/main" id="{1FFA372D-F8DC-9F3E-E455-C275163047EA}"/>
              </a:ext>
            </a:extLst>
          </p:cNvPr>
          <p:cNvSpPr txBox="1"/>
          <p:nvPr/>
        </p:nvSpPr>
        <p:spPr>
          <a:xfrm>
            <a:off x="5750315" y="3783404"/>
            <a:ext cx="1384972"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配方法</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13" name="组合 12">
            <a:extLst>
              <a:ext uri="{FF2B5EF4-FFF2-40B4-BE49-F238E27FC236}">
                <a16:creationId xmlns:a16="http://schemas.microsoft.com/office/drawing/2014/main" id="{FA62ECF6-5D3F-9F3C-335C-55042C058C1A}"/>
              </a:ext>
            </a:extLst>
          </p:cNvPr>
          <p:cNvGrpSpPr/>
          <p:nvPr/>
        </p:nvGrpSpPr>
        <p:grpSpPr>
          <a:xfrm>
            <a:off x="7038825" y="3745160"/>
            <a:ext cx="2596242" cy="859408"/>
            <a:chOff x="5418485" y="3672774"/>
            <a:chExt cx="1589443" cy="461665"/>
          </a:xfrm>
        </p:grpSpPr>
        <p:sp>
          <p:nvSpPr>
            <p:cNvPr id="6" name="文本框 5">
              <a:extLst>
                <a:ext uri="{FF2B5EF4-FFF2-40B4-BE49-F238E27FC236}">
                  <a16:creationId xmlns:a16="http://schemas.microsoft.com/office/drawing/2014/main" id="{017825B8-E5E0-6EA2-F737-EA19A364DE9E}"/>
                </a:ext>
              </a:extLst>
            </p:cNvPr>
            <p:cNvSpPr txBox="1"/>
            <p:nvPr/>
          </p:nvSpPr>
          <p:spPr>
            <a:xfrm>
              <a:off x="5418485" y="3672774"/>
              <a:ext cx="1589443" cy="461665"/>
            </a:xfrm>
            <a:prstGeom prst="rect">
              <a:avLst/>
            </a:prstGeom>
            <a:solidFill>
              <a:schemeClr val="accent1">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8" name="对象 7">
              <a:extLst>
                <a:ext uri="{FF2B5EF4-FFF2-40B4-BE49-F238E27FC236}">
                  <a16:creationId xmlns:a16="http://schemas.microsoft.com/office/drawing/2014/main" id="{6AB492A7-6FB3-17CC-04CD-FEF5C458BB3B}"/>
                </a:ext>
              </a:extLst>
            </p:cNvPr>
            <p:cNvGraphicFramePr>
              <a:graphicFrameLocks noChangeAspect="1"/>
            </p:cNvGraphicFramePr>
            <p:nvPr>
              <p:extLst>
                <p:ext uri="{D42A27DB-BD31-4B8C-83A1-F6EECF244321}">
                  <p14:modId xmlns:p14="http://schemas.microsoft.com/office/powerpoint/2010/main" val="315390428"/>
                </p:ext>
              </p:extLst>
            </p:nvPr>
          </p:nvGraphicFramePr>
          <p:xfrm>
            <a:off x="5756006" y="3679236"/>
            <a:ext cx="914400" cy="411163"/>
          </p:xfrm>
          <a:graphic>
            <a:graphicData uri="http://schemas.openxmlformats.org/presentationml/2006/ole">
              <mc:AlternateContent xmlns:mc="http://schemas.openxmlformats.org/markup-compatibility/2006">
                <mc:Choice xmlns:v="urn:schemas-microsoft-com:vml" Requires="v">
                  <p:oleObj name="AxMath" r:id="rId8" imgW="912511" imgH="417148" progId="Equation.AxMath">
                    <p:embed/>
                  </p:oleObj>
                </mc:Choice>
                <mc:Fallback>
                  <p:oleObj name="AxMath" r:id="rId8" imgW="912511" imgH="417148" progId="Equation.AxMath">
                    <p:embed/>
                    <p:pic>
                      <p:nvPicPr>
                        <p:cNvPr id="4" name="对象 3">
                          <a:extLst>
                            <a:ext uri="{FF2B5EF4-FFF2-40B4-BE49-F238E27FC236}">
                              <a16:creationId xmlns:a16="http://schemas.microsoft.com/office/drawing/2014/main" id="{E46D937E-C687-5717-5215-082BA992CE3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56006" y="3679236"/>
                          <a:ext cx="914400"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807263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189CE-B008-F001-4E89-10E5D1FA8F56}"/>
              </a:ext>
            </a:extLst>
          </p:cNvPr>
          <p:cNvSpPr>
            <a:spLocks noGrp="1"/>
          </p:cNvSpPr>
          <p:nvPr>
            <p:ph type="title"/>
          </p:nvPr>
        </p:nvSpPr>
        <p:spPr>
          <a:xfrm>
            <a:off x="299301" y="62471"/>
            <a:ext cx="4187858" cy="1029719"/>
          </a:xfrm>
        </p:spPr>
        <p:txBody>
          <a:bodyPr>
            <a:normAutofit/>
          </a:bodyPr>
          <a:lstStyle/>
          <a:p>
            <a:r>
              <a:rPr lang="zh-CN" altLang="en-US" sz="4000" b="1" dirty="0"/>
              <a:t>研究思路与内容</a:t>
            </a:r>
          </a:p>
        </p:txBody>
      </p:sp>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16</a:t>
            </a:fld>
            <a:endParaRPr lang="zh-CN" altLang="en-US"/>
          </a:p>
        </p:txBody>
      </p:sp>
      <p:cxnSp>
        <p:nvCxnSpPr>
          <p:cNvPr id="14" name="直接连接符 13">
            <a:extLst>
              <a:ext uri="{FF2B5EF4-FFF2-40B4-BE49-F238E27FC236}">
                <a16:creationId xmlns:a16="http://schemas.microsoft.com/office/drawing/2014/main" id="{A52245BC-E6B0-F7D8-74A7-14D2F143F257}"/>
              </a:ext>
            </a:extLst>
          </p:cNvPr>
          <p:cNvCxnSpPr>
            <a:cxnSpLocks/>
          </p:cNvCxnSpPr>
          <p:nvPr/>
        </p:nvCxnSpPr>
        <p:spPr>
          <a:xfrm flipV="1">
            <a:off x="247014" y="914044"/>
            <a:ext cx="3872499" cy="2153"/>
          </a:xfrm>
          <a:prstGeom prst="line">
            <a:avLst/>
          </a:prstGeom>
          <a:ln w="28575"/>
        </p:spPr>
        <p:style>
          <a:lnRef idx="1">
            <a:schemeClr val="dk1"/>
          </a:lnRef>
          <a:fillRef idx="0">
            <a:schemeClr val="dk1"/>
          </a:fillRef>
          <a:effectRef idx="0">
            <a:schemeClr val="dk1"/>
          </a:effectRef>
          <a:fontRef idx="minor">
            <a:schemeClr val="tx1"/>
          </a:fontRef>
        </p:style>
      </p:cxnSp>
      <p:sp>
        <p:nvSpPr>
          <p:cNvPr id="11" name="文本框 10">
            <a:extLst>
              <a:ext uri="{FF2B5EF4-FFF2-40B4-BE49-F238E27FC236}">
                <a16:creationId xmlns:a16="http://schemas.microsoft.com/office/drawing/2014/main" id="{542E8052-74CD-6BD0-C311-E2908312299E}"/>
              </a:ext>
            </a:extLst>
          </p:cNvPr>
          <p:cNvSpPr txBox="1"/>
          <p:nvPr/>
        </p:nvSpPr>
        <p:spPr>
          <a:xfrm>
            <a:off x="490184" y="1310046"/>
            <a:ext cx="2812027" cy="523220"/>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内层优化的求解</a:t>
            </a:r>
          </a:p>
        </p:txBody>
      </p:sp>
      <p:graphicFrame>
        <p:nvGraphicFramePr>
          <p:cNvPr id="7" name="对象 6">
            <a:extLst>
              <a:ext uri="{FF2B5EF4-FFF2-40B4-BE49-F238E27FC236}">
                <a16:creationId xmlns:a16="http://schemas.microsoft.com/office/drawing/2014/main" id="{2FC3CBB8-754B-648E-B7FC-AAEE1B61218E}"/>
              </a:ext>
            </a:extLst>
          </p:cNvPr>
          <p:cNvGraphicFramePr>
            <a:graphicFrameLocks noChangeAspect="1"/>
          </p:cNvGraphicFramePr>
          <p:nvPr>
            <p:extLst>
              <p:ext uri="{D42A27DB-BD31-4B8C-83A1-F6EECF244321}">
                <p14:modId xmlns:p14="http://schemas.microsoft.com/office/powerpoint/2010/main" val="1710229370"/>
              </p:ext>
            </p:extLst>
          </p:nvPr>
        </p:nvGraphicFramePr>
        <p:xfrm>
          <a:off x="4249756" y="618534"/>
          <a:ext cx="2508212" cy="1474454"/>
        </p:xfrm>
        <a:graphic>
          <a:graphicData uri="http://schemas.openxmlformats.org/presentationml/2006/ole">
            <mc:AlternateContent xmlns:mc="http://schemas.openxmlformats.org/markup-compatibility/2006">
              <mc:Choice xmlns:v="urn:schemas-microsoft-com:vml" Requires="v">
                <p:oleObj name="AxMath" r:id="rId2" imgW="1695796" imgH="1007351" progId="Equation.AxMath">
                  <p:embed/>
                </p:oleObj>
              </mc:Choice>
              <mc:Fallback>
                <p:oleObj name="AxMath" r:id="rId2" imgW="1695796" imgH="1007351" progId="Equation.AxMath">
                  <p:embed/>
                  <p:pic>
                    <p:nvPicPr>
                      <p:cNvPr id="7" name="对象 6">
                        <a:extLst>
                          <a:ext uri="{FF2B5EF4-FFF2-40B4-BE49-F238E27FC236}">
                            <a16:creationId xmlns:a16="http://schemas.microsoft.com/office/drawing/2014/main" id="{2FC3CBB8-754B-648E-B7FC-AAEE1B6121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9756" y="618534"/>
                        <a:ext cx="2508212" cy="1474454"/>
                      </a:xfrm>
                      <a:prstGeom prst="rect">
                        <a:avLst/>
                      </a:prstGeom>
                      <a:noFill/>
                    </p:spPr>
                  </p:pic>
                </p:oleObj>
              </mc:Fallback>
            </mc:AlternateContent>
          </a:graphicData>
        </a:graphic>
      </p:graphicFrame>
      <p:sp>
        <p:nvSpPr>
          <p:cNvPr id="12" name="箭头: 下 11">
            <a:extLst>
              <a:ext uri="{FF2B5EF4-FFF2-40B4-BE49-F238E27FC236}">
                <a16:creationId xmlns:a16="http://schemas.microsoft.com/office/drawing/2014/main" id="{35F83742-2571-8AA4-AEDD-B900B12112AD}"/>
              </a:ext>
            </a:extLst>
          </p:cNvPr>
          <p:cNvSpPr/>
          <p:nvPr/>
        </p:nvSpPr>
        <p:spPr>
          <a:xfrm flipH="1">
            <a:off x="5766262" y="2211515"/>
            <a:ext cx="168964" cy="661816"/>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箭头: 下 15">
            <a:extLst>
              <a:ext uri="{FF2B5EF4-FFF2-40B4-BE49-F238E27FC236}">
                <a16:creationId xmlns:a16="http://schemas.microsoft.com/office/drawing/2014/main" id="{EFCE0037-EF81-DF0A-6EBF-9249CC29D6D8}"/>
              </a:ext>
            </a:extLst>
          </p:cNvPr>
          <p:cNvSpPr/>
          <p:nvPr/>
        </p:nvSpPr>
        <p:spPr>
          <a:xfrm flipH="1">
            <a:off x="5796375" y="3956231"/>
            <a:ext cx="168964" cy="661816"/>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 name="文本框 18">
            <a:extLst>
              <a:ext uri="{FF2B5EF4-FFF2-40B4-BE49-F238E27FC236}">
                <a16:creationId xmlns:a16="http://schemas.microsoft.com/office/drawing/2014/main" id="{5D3156FF-AABA-3E66-B0F6-0B23EF4D6074}"/>
              </a:ext>
            </a:extLst>
          </p:cNvPr>
          <p:cNvSpPr txBox="1"/>
          <p:nvPr/>
        </p:nvSpPr>
        <p:spPr>
          <a:xfrm>
            <a:off x="3502358" y="2322978"/>
            <a:ext cx="2418919"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拉格朗日对偶</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0" name="文本框 19">
            <a:extLst>
              <a:ext uri="{FF2B5EF4-FFF2-40B4-BE49-F238E27FC236}">
                <a16:creationId xmlns:a16="http://schemas.microsoft.com/office/drawing/2014/main" id="{1FFA372D-F8DC-9F3E-E455-C275163047EA}"/>
              </a:ext>
            </a:extLst>
          </p:cNvPr>
          <p:cNvSpPr txBox="1"/>
          <p:nvPr/>
        </p:nvSpPr>
        <p:spPr>
          <a:xfrm>
            <a:off x="4815850" y="4011333"/>
            <a:ext cx="427018"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求</a:t>
            </a:r>
          </a:p>
        </p:txBody>
      </p:sp>
      <p:graphicFrame>
        <p:nvGraphicFramePr>
          <p:cNvPr id="4" name="对象 3">
            <a:extLst>
              <a:ext uri="{FF2B5EF4-FFF2-40B4-BE49-F238E27FC236}">
                <a16:creationId xmlns:a16="http://schemas.microsoft.com/office/drawing/2014/main" id="{0312A54F-F3A6-0594-C4FA-11168878F05E}"/>
              </a:ext>
            </a:extLst>
          </p:cNvPr>
          <p:cNvGraphicFramePr>
            <a:graphicFrameLocks noChangeAspect="1"/>
          </p:cNvGraphicFramePr>
          <p:nvPr>
            <p:extLst>
              <p:ext uri="{D42A27DB-BD31-4B8C-83A1-F6EECF244321}">
                <p14:modId xmlns:p14="http://schemas.microsoft.com/office/powerpoint/2010/main" val="4014833172"/>
              </p:ext>
            </p:extLst>
          </p:nvPr>
        </p:nvGraphicFramePr>
        <p:xfrm>
          <a:off x="2725092" y="3059956"/>
          <a:ext cx="5557542" cy="793652"/>
        </p:xfrm>
        <a:graphic>
          <a:graphicData uri="http://schemas.openxmlformats.org/presentationml/2006/ole">
            <mc:AlternateContent xmlns:mc="http://schemas.openxmlformats.org/markup-compatibility/2006">
              <mc:Choice xmlns:v="urn:schemas-microsoft-com:vml" Requires="v">
                <p:oleObj name="AxMath" r:id="rId4" imgW="3379320" imgH="485280" progId="Equation.AxMath">
                  <p:embed/>
                </p:oleObj>
              </mc:Choice>
              <mc:Fallback>
                <p:oleObj name="AxMath" r:id="rId4" imgW="3379320" imgH="485280" progId="Equation.AxMath">
                  <p:embed/>
                  <p:pic>
                    <p:nvPicPr>
                      <p:cNvPr id="0" name="Object 1"/>
                      <p:cNvPicPr>
                        <a:picLocks noChangeAspect="1" noChangeArrowheads="1"/>
                      </p:cNvPicPr>
                      <p:nvPr/>
                    </p:nvPicPr>
                    <p:blipFill>
                      <a:blip r:embed="rId5"/>
                      <a:srcRect/>
                      <a:stretch>
                        <a:fillRect/>
                      </a:stretch>
                    </p:blipFill>
                    <p:spPr bwMode="auto">
                      <a:xfrm>
                        <a:off x="2725092" y="3059956"/>
                        <a:ext cx="5557542" cy="793652"/>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7110F50B-B71F-1C4E-AACA-9F367ED19704}"/>
              </a:ext>
            </a:extLst>
          </p:cNvPr>
          <p:cNvGraphicFramePr>
            <a:graphicFrameLocks noChangeAspect="1"/>
          </p:cNvGraphicFramePr>
          <p:nvPr>
            <p:extLst>
              <p:ext uri="{D42A27DB-BD31-4B8C-83A1-F6EECF244321}">
                <p14:modId xmlns:p14="http://schemas.microsoft.com/office/powerpoint/2010/main" val="670336872"/>
              </p:ext>
            </p:extLst>
          </p:nvPr>
        </p:nvGraphicFramePr>
        <p:xfrm>
          <a:off x="9863957" y="3223037"/>
          <a:ext cx="2006310" cy="467490"/>
        </p:xfrm>
        <a:graphic>
          <a:graphicData uri="http://schemas.openxmlformats.org/presentationml/2006/ole">
            <mc:AlternateContent xmlns:mc="http://schemas.openxmlformats.org/markup-compatibility/2006">
              <mc:Choice xmlns:v="urn:schemas-microsoft-com:vml" Requires="v">
                <p:oleObj name="AxMath" r:id="rId6" imgW="975960" imgH="229320" progId="Equation.AxMath">
                  <p:embed/>
                </p:oleObj>
              </mc:Choice>
              <mc:Fallback>
                <p:oleObj name="AxMath" r:id="rId6" imgW="975960" imgH="229320" progId="Equation.AxMath">
                  <p:embed/>
                  <p:pic>
                    <p:nvPicPr>
                      <p:cNvPr id="0" name="Object 3"/>
                      <p:cNvPicPr>
                        <a:picLocks noChangeAspect="1" noChangeArrowheads="1"/>
                      </p:cNvPicPr>
                      <p:nvPr/>
                    </p:nvPicPr>
                    <p:blipFill>
                      <a:blip r:embed="rId7"/>
                      <a:srcRect/>
                      <a:stretch>
                        <a:fillRect/>
                      </a:stretch>
                    </p:blipFill>
                    <p:spPr bwMode="auto">
                      <a:xfrm>
                        <a:off x="9863957" y="3223037"/>
                        <a:ext cx="2006310" cy="467490"/>
                      </a:xfrm>
                      <a:prstGeom prst="rect">
                        <a:avLst/>
                      </a:prstGeom>
                      <a:noFill/>
                    </p:spPr>
                  </p:pic>
                </p:oleObj>
              </mc:Fallback>
            </mc:AlternateContent>
          </a:graphicData>
        </a:graphic>
      </p:graphicFrame>
      <p:sp>
        <p:nvSpPr>
          <p:cNvPr id="13" name="箭头: 下 12">
            <a:extLst>
              <a:ext uri="{FF2B5EF4-FFF2-40B4-BE49-F238E27FC236}">
                <a16:creationId xmlns:a16="http://schemas.microsoft.com/office/drawing/2014/main" id="{562AF08C-94BF-1F53-7FF8-C25A68FF6407}"/>
              </a:ext>
            </a:extLst>
          </p:cNvPr>
          <p:cNvSpPr/>
          <p:nvPr/>
        </p:nvSpPr>
        <p:spPr>
          <a:xfrm rot="16200000" flipH="1">
            <a:off x="9026193" y="3158621"/>
            <a:ext cx="159405" cy="859044"/>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文本框 14">
            <a:extLst>
              <a:ext uri="{FF2B5EF4-FFF2-40B4-BE49-F238E27FC236}">
                <a16:creationId xmlns:a16="http://schemas.microsoft.com/office/drawing/2014/main" id="{0B2D757A-9171-73C0-1CCB-57D3380E401E}"/>
              </a:ext>
            </a:extLst>
          </p:cNvPr>
          <p:cNvSpPr txBox="1"/>
          <p:nvPr/>
        </p:nvSpPr>
        <p:spPr>
          <a:xfrm>
            <a:off x="8437540" y="3059956"/>
            <a:ext cx="1566995"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最优条件</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18" name="对象 17">
            <a:extLst>
              <a:ext uri="{FF2B5EF4-FFF2-40B4-BE49-F238E27FC236}">
                <a16:creationId xmlns:a16="http://schemas.microsoft.com/office/drawing/2014/main" id="{D6BF7AEB-96CD-E2A5-F1FA-7A5FD362CCF1}"/>
              </a:ext>
            </a:extLst>
          </p:cNvPr>
          <p:cNvGraphicFramePr>
            <a:graphicFrameLocks noChangeAspect="1"/>
          </p:cNvGraphicFramePr>
          <p:nvPr>
            <p:extLst>
              <p:ext uri="{D42A27DB-BD31-4B8C-83A1-F6EECF244321}">
                <p14:modId xmlns:p14="http://schemas.microsoft.com/office/powerpoint/2010/main" val="1909515799"/>
              </p:ext>
            </p:extLst>
          </p:nvPr>
        </p:nvGraphicFramePr>
        <p:xfrm>
          <a:off x="1979371" y="4692939"/>
          <a:ext cx="5015576" cy="946948"/>
        </p:xfrm>
        <a:graphic>
          <a:graphicData uri="http://schemas.openxmlformats.org/presentationml/2006/ole">
            <mc:AlternateContent xmlns:mc="http://schemas.openxmlformats.org/markup-compatibility/2006">
              <mc:Choice xmlns:v="urn:schemas-microsoft-com:vml" Requires="v">
                <p:oleObj name="AxMath" r:id="rId8" imgW="2559960" imgH="485280" progId="Equation.AxMath">
                  <p:embed/>
                </p:oleObj>
              </mc:Choice>
              <mc:Fallback>
                <p:oleObj name="AxMath" r:id="rId8" imgW="2559960" imgH="485280" progId="Equation.AxMath">
                  <p:embed/>
                  <p:pic>
                    <p:nvPicPr>
                      <p:cNvPr id="0" name="Object 5"/>
                      <p:cNvPicPr>
                        <a:picLocks noChangeAspect="1" noChangeArrowheads="1"/>
                      </p:cNvPicPr>
                      <p:nvPr/>
                    </p:nvPicPr>
                    <p:blipFill>
                      <a:blip r:embed="rId9"/>
                      <a:srcRect/>
                      <a:stretch>
                        <a:fillRect/>
                      </a:stretch>
                    </p:blipFill>
                    <p:spPr bwMode="auto">
                      <a:xfrm>
                        <a:off x="1979371" y="4692939"/>
                        <a:ext cx="5015576" cy="946948"/>
                      </a:xfrm>
                      <a:prstGeom prst="rect">
                        <a:avLst/>
                      </a:prstGeom>
                      <a:noFill/>
                    </p:spPr>
                  </p:pic>
                </p:oleObj>
              </mc:Fallback>
            </mc:AlternateContent>
          </a:graphicData>
        </a:graphic>
      </p:graphicFrame>
      <p:graphicFrame>
        <p:nvGraphicFramePr>
          <p:cNvPr id="21" name="对象 20">
            <a:extLst>
              <a:ext uri="{FF2B5EF4-FFF2-40B4-BE49-F238E27FC236}">
                <a16:creationId xmlns:a16="http://schemas.microsoft.com/office/drawing/2014/main" id="{05445FFA-C6C5-AC58-680E-330EAC63936D}"/>
              </a:ext>
            </a:extLst>
          </p:cNvPr>
          <p:cNvGraphicFramePr>
            <a:graphicFrameLocks noChangeAspect="1"/>
          </p:cNvGraphicFramePr>
          <p:nvPr>
            <p:extLst>
              <p:ext uri="{D42A27DB-BD31-4B8C-83A1-F6EECF244321}">
                <p14:modId xmlns:p14="http://schemas.microsoft.com/office/powerpoint/2010/main" val="2560553182"/>
              </p:ext>
            </p:extLst>
          </p:nvPr>
        </p:nvGraphicFramePr>
        <p:xfrm>
          <a:off x="5242868" y="4040729"/>
          <a:ext cx="274246" cy="494702"/>
        </p:xfrm>
        <a:graphic>
          <a:graphicData uri="http://schemas.openxmlformats.org/presentationml/2006/ole">
            <mc:AlternateContent xmlns:mc="http://schemas.openxmlformats.org/markup-compatibility/2006">
              <mc:Choice xmlns:v="urn:schemas-microsoft-com:vml" Requires="v">
                <p:oleObj name="AxMath" r:id="rId10" imgW="78480" imgH="150840" progId="Equation.AxMath">
                  <p:embed/>
                </p:oleObj>
              </mc:Choice>
              <mc:Fallback>
                <p:oleObj name="AxMath" r:id="rId10" imgW="78480" imgH="150840" progId="Equation.AxMath">
                  <p:embed/>
                  <p:pic>
                    <p:nvPicPr>
                      <p:cNvPr id="0" name=""/>
                      <p:cNvPicPr/>
                      <p:nvPr/>
                    </p:nvPicPr>
                    <p:blipFill>
                      <a:blip r:embed="rId11"/>
                      <a:stretch>
                        <a:fillRect/>
                      </a:stretch>
                    </p:blipFill>
                    <p:spPr>
                      <a:xfrm>
                        <a:off x="5242868" y="4040729"/>
                        <a:ext cx="274246" cy="494702"/>
                      </a:xfrm>
                      <a:prstGeom prst="rect">
                        <a:avLst/>
                      </a:prstGeom>
                    </p:spPr>
                  </p:pic>
                </p:oleObj>
              </mc:Fallback>
            </mc:AlternateContent>
          </a:graphicData>
        </a:graphic>
      </p:graphicFrame>
      <p:sp>
        <p:nvSpPr>
          <p:cNvPr id="22" name="箭头: 下 21">
            <a:extLst>
              <a:ext uri="{FF2B5EF4-FFF2-40B4-BE49-F238E27FC236}">
                <a16:creationId xmlns:a16="http://schemas.microsoft.com/office/drawing/2014/main" id="{D57F8CCB-6CC9-737E-6DB4-A31729B5296B}"/>
              </a:ext>
            </a:extLst>
          </p:cNvPr>
          <p:cNvSpPr/>
          <p:nvPr/>
        </p:nvSpPr>
        <p:spPr>
          <a:xfrm rot="16200000" flipH="1">
            <a:off x="7948752" y="4473711"/>
            <a:ext cx="127850" cy="1513254"/>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24" name="对象 23">
            <a:extLst>
              <a:ext uri="{FF2B5EF4-FFF2-40B4-BE49-F238E27FC236}">
                <a16:creationId xmlns:a16="http://schemas.microsoft.com/office/drawing/2014/main" id="{105D2704-C227-ADA7-8F59-D252DD7FC07E}"/>
              </a:ext>
            </a:extLst>
          </p:cNvPr>
          <p:cNvGraphicFramePr>
            <a:graphicFrameLocks noChangeAspect="1"/>
          </p:cNvGraphicFramePr>
          <p:nvPr>
            <p:extLst>
              <p:ext uri="{D42A27DB-BD31-4B8C-83A1-F6EECF244321}">
                <p14:modId xmlns:p14="http://schemas.microsoft.com/office/powerpoint/2010/main" val="2337381682"/>
              </p:ext>
            </p:extLst>
          </p:nvPr>
        </p:nvGraphicFramePr>
        <p:xfrm>
          <a:off x="8915400" y="4679360"/>
          <a:ext cx="2805548" cy="1016550"/>
        </p:xfrm>
        <a:graphic>
          <a:graphicData uri="http://schemas.openxmlformats.org/presentationml/2006/ole">
            <mc:AlternateContent xmlns:mc="http://schemas.openxmlformats.org/markup-compatibility/2006">
              <mc:Choice xmlns:v="urn:schemas-microsoft-com:vml" Requires="v">
                <p:oleObj name="AxMath" r:id="rId12" imgW="1341000" imgH="485280" progId="Equation.AxMath">
                  <p:embed/>
                </p:oleObj>
              </mc:Choice>
              <mc:Fallback>
                <p:oleObj name="AxMath" r:id="rId12" imgW="1341000" imgH="485280" progId="Equation.AxMath">
                  <p:embed/>
                  <p:pic>
                    <p:nvPicPr>
                      <p:cNvPr id="0" name="Object 7"/>
                      <p:cNvPicPr>
                        <a:picLocks noChangeAspect="1" noChangeArrowheads="1"/>
                      </p:cNvPicPr>
                      <p:nvPr/>
                    </p:nvPicPr>
                    <p:blipFill>
                      <a:blip r:embed="rId13"/>
                      <a:srcRect/>
                      <a:stretch>
                        <a:fillRect/>
                      </a:stretch>
                    </p:blipFill>
                    <p:spPr bwMode="auto">
                      <a:xfrm>
                        <a:off x="8915400" y="4679360"/>
                        <a:ext cx="2805548" cy="1016550"/>
                      </a:xfrm>
                      <a:prstGeom prst="rect">
                        <a:avLst/>
                      </a:prstGeom>
                      <a:noFill/>
                    </p:spPr>
                  </p:pic>
                </p:oleObj>
              </mc:Fallback>
            </mc:AlternateContent>
          </a:graphicData>
        </a:graphic>
      </p:graphicFrame>
      <p:grpSp>
        <p:nvGrpSpPr>
          <p:cNvPr id="17" name="组合 16">
            <a:extLst>
              <a:ext uri="{FF2B5EF4-FFF2-40B4-BE49-F238E27FC236}">
                <a16:creationId xmlns:a16="http://schemas.microsoft.com/office/drawing/2014/main" id="{7456C43B-DDA0-B43D-52D3-ABD50BB477AA}"/>
              </a:ext>
            </a:extLst>
          </p:cNvPr>
          <p:cNvGrpSpPr/>
          <p:nvPr/>
        </p:nvGrpSpPr>
        <p:grpSpPr>
          <a:xfrm>
            <a:off x="6256776" y="2172353"/>
            <a:ext cx="3475064" cy="784980"/>
            <a:chOff x="6768032" y="1795357"/>
            <a:chExt cx="2043770" cy="461665"/>
          </a:xfrm>
          <a:solidFill>
            <a:schemeClr val="accent1">
              <a:lumMod val="20000"/>
              <a:lumOff val="80000"/>
            </a:schemeClr>
          </a:solidFill>
        </p:grpSpPr>
        <p:sp>
          <p:nvSpPr>
            <p:cNvPr id="6" name="文本框 5">
              <a:extLst>
                <a:ext uri="{FF2B5EF4-FFF2-40B4-BE49-F238E27FC236}">
                  <a16:creationId xmlns:a16="http://schemas.microsoft.com/office/drawing/2014/main" id="{E95C6547-591E-0B19-6657-62ACF1D4E1B4}"/>
                </a:ext>
              </a:extLst>
            </p:cNvPr>
            <p:cNvSpPr txBox="1"/>
            <p:nvPr/>
          </p:nvSpPr>
          <p:spPr>
            <a:xfrm>
              <a:off x="6768032" y="1795357"/>
              <a:ext cx="2043770" cy="461665"/>
            </a:xfrm>
            <a:prstGeom prst="rect">
              <a:avLst/>
            </a:prstGeom>
            <a:grp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对象 4">
              <a:extLst>
                <a:ext uri="{FF2B5EF4-FFF2-40B4-BE49-F238E27FC236}">
                  <a16:creationId xmlns:a16="http://schemas.microsoft.com/office/drawing/2014/main" id="{58672820-C068-5660-2A3D-491BBB74061E}"/>
                </a:ext>
              </a:extLst>
            </p:cNvPr>
            <p:cNvGraphicFramePr>
              <a:graphicFrameLocks noChangeAspect="1"/>
            </p:cNvGraphicFramePr>
            <p:nvPr>
              <p:extLst>
                <p:ext uri="{D42A27DB-BD31-4B8C-83A1-F6EECF244321}">
                  <p14:modId xmlns:p14="http://schemas.microsoft.com/office/powerpoint/2010/main" val="1815259365"/>
                </p:ext>
              </p:extLst>
            </p:nvPr>
          </p:nvGraphicFramePr>
          <p:xfrm>
            <a:off x="6937375" y="1801813"/>
            <a:ext cx="1844675" cy="428625"/>
          </p:xfrm>
          <a:graphic>
            <a:graphicData uri="http://schemas.openxmlformats.org/presentationml/2006/ole">
              <mc:AlternateContent xmlns:mc="http://schemas.openxmlformats.org/markup-compatibility/2006">
                <mc:Choice xmlns:v="urn:schemas-microsoft-com:vml" Requires="v">
                  <p:oleObj name="AxMath" r:id="rId14" imgW="1849320" imgH="431640" progId="Equation.AxMath">
                    <p:embed/>
                  </p:oleObj>
                </mc:Choice>
                <mc:Fallback>
                  <p:oleObj name="AxMath" r:id="rId14" imgW="1849320" imgH="431640" progId="Equation.AxMath">
                    <p:embed/>
                    <p:pic>
                      <p:nvPicPr>
                        <p:cNvPr id="0" name="Object 1"/>
                        <p:cNvPicPr>
                          <a:picLocks noChangeAspect="1" noChangeArrowheads="1"/>
                        </p:cNvPicPr>
                        <p:nvPr/>
                      </p:nvPicPr>
                      <p:blipFill>
                        <a:blip r:embed="rId15"/>
                        <a:srcRect/>
                        <a:stretch>
                          <a:fillRect/>
                        </a:stretch>
                      </p:blipFill>
                      <p:spPr bwMode="auto">
                        <a:xfrm>
                          <a:off x="6937375" y="1801813"/>
                          <a:ext cx="1844675" cy="428625"/>
                        </a:xfrm>
                        <a:prstGeom prst="rect">
                          <a:avLst/>
                        </a:prstGeom>
                        <a:noFill/>
                      </p:spPr>
                    </p:pic>
                  </p:oleObj>
                </mc:Fallback>
              </mc:AlternateContent>
            </a:graphicData>
          </a:graphic>
        </p:graphicFrame>
      </p:grpSp>
      <p:sp>
        <p:nvSpPr>
          <p:cNvPr id="23" name="文本框 22">
            <a:extLst>
              <a:ext uri="{FF2B5EF4-FFF2-40B4-BE49-F238E27FC236}">
                <a16:creationId xmlns:a16="http://schemas.microsoft.com/office/drawing/2014/main" id="{BD4CEDEF-4D49-BC04-31E9-034CE0AD7C92}"/>
              </a:ext>
            </a:extLst>
          </p:cNvPr>
          <p:cNvSpPr txBox="1"/>
          <p:nvPr/>
        </p:nvSpPr>
        <p:spPr>
          <a:xfrm>
            <a:off x="7168208" y="4708153"/>
            <a:ext cx="1889547"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利用单调性</a:t>
            </a:r>
          </a:p>
        </p:txBody>
      </p:sp>
    </p:spTree>
    <p:extLst>
      <p:ext uri="{BB962C8B-B14F-4D97-AF65-F5344CB8AC3E}">
        <p14:creationId xmlns:p14="http://schemas.microsoft.com/office/powerpoint/2010/main" val="492646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189CE-B008-F001-4E89-10E5D1FA8F56}"/>
              </a:ext>
            </a:extLst>
          </p:cNvPr>
          <p:cNvSpPr>
            <a:spLocks noGrp="1"/>
          </p:cNvSpPr>
          <p:nvPr>
            <p:ph type="title"/>
          </p:nvPr>
        </p:nvSpPr>
        <p:spPr>
          <a:xfrm>
            <a:off x="299301" y="62471"/>
            <a:ext cx="4187858" cy="1029719"/>
          </a:xfrm>
        </p:spPr>
        <p:txBody>
          <a:bodyPr>
            <a:normAutofit/>
          </a:bodyPr>
          <a:lstStyle/>
          <a:p>
            <a:r>
              <a:rPr lang="zh-CN" altLang="en-US" sz="4000" b="1" dirty="0"/>
              <a:t>研究思路与内容</a:t>
            </a:r>
          </a:p>
        </p:txBody>
      </p:sp>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17</a:t>
            </a:fld>
            <a:endParaRPr lang="zh-CN" altLang="en-US"/>
          </a:p>
        </p:txBody>
      </p:sp>
      <p:cxnSp>
        <p:nvCxnSpPr>
          <p:cNvPr id="14" name="直接连接符 13">
            <a:extLst>
              <a:ext uri="{FF2B5EF4-FFF2-40B4-BE49-F238E27FC236}">
                <a16:creationId xmlns:a16="http://schemas.microsoft.com/office/drawing/2014/main" id="{A52245BC-E6B0-F7D8-74A7-14D2F143F257}"/>
              </a:ext>
            </a:extLst>
          </p:cNvPr>
          <p:cNvCxnSpPr>
            <a:cxnSpLocks/>
          </p:cNvCxnSpPr>
          <p:nvPr/>
        </p:nvCxnSpPr>
        <p:spPr>
          <a:xfrm flipV="1">
            <a:off x="247014" y="914044"/>
            <a:ext cx="3872499" cy="2153"/>
          </a:xfrm>
          <a:prstGeom prst="line">
            <a:avLst/>
          </a:prstGeom>
          <a:ln w="28575"/>
        </p:spPr>
        <p:style>
          <a:lnRef idx="1">
            <a:schemeClr val="dk1"/>
          </a:lnRef>
          <a:fillRef idx="0">
            <a:schemeClr val="dk1"/>
          </a:fillRef>
          <a:effectRef idx="0">
            <a:schemeClr val="dk1"/>
          </a:effectRef>
          <a:fontRef idx="minor">
            <a:schemeClr val="tx1"/>
          </a:fontRef>
        </p:style>
      </p:cxnSp>
      <p:sp>
        <p:nvSpPr>
          <p:cNvPr id="11" name="文本框 10">
            <a:extLst>
              <a:ext uri="{FF2B5EF4-FFF2-40B4-BE49-F238E27FC236}">
                <a16:creationId xmlns:a16="http://schemas.microsoft.com/office/drawing/2014/main" id="{542E8052-74CD-6BD0-C311-E2908312299E}"/>
              </a:ext>
            </a:extLst>
          </p:cNvPr>
          <p:cNvSpPr txBox="1"/>
          <p:nvPr/>
        </p:nvSpPr>
        <p:spPr>
          <a:xfrm>
            <a:off x="446311" y="1137081"/>
            <a:ext cx="2685028" cy="523220"/>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内层优化的求解</a:t>
            </a:r>
          </a:p>
        </p:txBody>
      </p:sp>
      <p:sp>
        <p:nvSpPr>
          <p:cNvPr id="12" name="箭头: 下 11">
            <a:extLst>
              <a:ext uri="{FF2B5EF4-FFF2-40B4-BE49-F238E27FC236}">
                <a16:creationId xmlns:a16="http://schemas.microsoft.com/office/drawing/2014/main" id="{35F83742-2571-8AA4-AEDD-B900B12112AD}"/>
              </a:ext>
            </a:extLst>
          </p:cNvPr>
          <p:cNvSpPr/>
          <p:nvPr/>
        </p:nvSpPr>
        <p:spPr>
          <a:xfrm flipH="1">
            <a:off x="6365096" y="1961020"/>
            <a:ext cx="168964" cy="661816"/>
          </a:xfrm>
          <a:prstGeom prst="downArrow">
            <a:avLst/>
          </a:prstGeom>
          <a:solidFill>
            <a:srgbClr val="1D3C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对象 4">
            <a:extLst>
              <a:ext uri="{FF2B5EF4-FFF2-40B4-BE49-F238E27FC236}">
                <a16:creationId xmlns:a16="http://schemas.microsoft.com/office/drawing/2014/main" id="{B2B1FB2A-8CDD-DA9E-6863-A333FAD1D9C2}"/>
              </a:ext>
            </a:extLst>
          </p:cNvPr>
          <p:cNvGraphicFramePr>
            <a:graphicFrameLocks noChangeAspect="1"/>
          </p:cNvGraphicFramePr>
          <p:nvPr>
            <p:extLst>
              <p:ext uri="{D42A27DB-BD31-4B8C-83A1-F6EECF244321}">
                <p14:modId xmlns:p14="http://schemas.microsoft.com/office/powerpoint/2010/main" val="1485426095"/>
              </p:ext>
            </p:extLst>
          </p:nvPr>
        </p:nvGraphicFramePr>
        <p:xfrm>
          <a:off x="4443625" y="659308"/>
          <a:ext cx="4465154" cy="1200110"/>
        </p:xfrm>
        <a:graphic>
          <a:graphicData uri="http://schemas.openxmlformats.org/presentationml/2006/ole">
            <mc:AlternateContent xmlns:mc="http://schemas.openxmlformats.org/markup-compatibility/2006">
              <mc:Choice xmlns:v="urn:schemas-microsoft-com:vml" Requires="v">
                <p:oleObj name="AxMath" r:id="rId2" imgW="3069000" imgH="825120" progId="Equation.AxMath">
                  <p:embed/>
                </p:oleObj>
              </mc:Choice>
              <mc:Fallback>
                <p:oleObj name="AxMath" r:id="rId2" imgW="3069000" imgH="825120" progId="Equation.AxMath">
                  <p:embed/>
                  <p:pic>
                    <p:nvPicPr>
                      <p:cNvPr id="0" name="Object 1"/>
                      <p:cNvPicPr>
                        <a:picLocks noChangeAspect="1" noChangeArrowheads="1"/>
                      </p:cNvPicPr>
                      <p:nvPr/>
                    </p:nvPicPr>
                    <p:blipFill>
                      <a:blip r:embed="rId3"/>
                      <a:srcRect/>
                      <a:stretch>
                        <a:fillRect/>
                      </a:stretch>
                    </p:blipFill>
                    <p:spPr bwMode="auto">
                      <a:xfrm>
                        <a:off x="4443625" y="659308"/>
                        <a:ext cx="4465154" cy="1200110"/>
                      </a:xfrm>
                      <a:prstGeom prst="rect">
                        <a:avLst/>
                      </a:prstGeom>
                      <a:noFill/>
                    </p:spPr>
                  </p:pic>
                </p:oleObj>
              </mc:Fallback>
            </mc:AlternateContent>
          </a:graphicData>
        </a:graphic>
      </p:graphicFrame>
      <p:grpSp>
        <p:nvGrpSpPr>
          <p:cNvPr id="17" name="组合 16">
            <a:extLst>
              <a:ext uri="{FF2B5EF4-FFF2-40B4-BE49-F238E27FC236}">
                <a16:creationId xmlns:a16="http://schemas.microsoft.com/office/drawing/2014/main" id="{F713BD3B-9185-D33F-C7A2-0AEF96936F6D}"/>
              </a:ext>
            </a:extLst>
          </p:cNvPr>
          <p:cNvGrpSpPr/>
          <p:nvPr/>
        </p:nvGrpSpPr>
        <p:grpSpPr>
          <a:xfrm>
            <a:off x="4119513" y="2041168"/>
            <a:ext cx="2581428" cy="526665"/>
            <a:chOff x="4438653" y="2434568"/>
            <a:chExt cx="1544703" cy="315152"/>
          </a:xfrm>
        </p:grpSpPr>
        <p:sp>
          <p:nvSpPr>
            <p:cNvPr id="19" name="文本框 18">
              <a:extLst>
                <a:ext uri="{FF2B5EF4-FFF2-40B4-BE49-F238E27FC236}">
                  <a16:creationId xmlns:a16="http://schemas.microsoft.com/office/drawing/2014/main" id="{5D3156FF-AABA-3E66-B0F6-0B23EF4D6074}"/>
                </a:ext>
              </a:extLst>
            </p:cNvPr>
            <p:cNvSpPr txBox="1"/>
            <p:nvPr/>
          </p:nvSpPr>
          <p:spPr>
            <a:xfrm>
              <a:off x="4438653" y="2434568"/>
              <a:ext cx="1544703" cy="276257"/>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对   二分搜索</a:t>
              </a:r>
            </a:p>
          </p:txBody>
        </p:sp>
        <p:graphicFrame>
          <p:nvGraphicFramePr>
            <p:cNvPr id="10" name="对象 9">
              <a:extLst>
                <a:ext uri="{FF2B5EF4-FFF2-40B4-BE49-F238E27FC236}">
                  <a16:creationId xmlns:a16="http://schemas.microsoft.com/office/drawing/2014/main" id="{70D42BFE-4447-2AEC-9037-F187BE5E82D7}"/>
                </a:ext>
              </a:extLst>
            </p:cNvPr>
            <p:cNvGraphicFramePr>
              <a:graphicFrameLocks noChangeAspect="1"/>
            </p:cNvGraphicFramePr>
            <p:nvPr>
              <p:extLst>
                <p:ext uri="{D42A27DB-BD31-4B8C-83A1-F6EECF244321}">
                  <p14:modId xmlns:p14="http://schemas.microsoft.com/office/powerpoint/2010/main" val="156780691"/>
                </p:ext>
              </p:extLst>
            </p:nvPr>
          </p:nvGraphicFramePr>
          <p:xfrm>
            <a:off x="4686921" y="2448095"/>
            <a:ext cx="152400" cy="301625"/>
          </p:xfrm>
          <a:graphic>
            <a:graphicData uri="http://schemas.openxmlformats.org/presentationml/2006/ole">
              <mc:AlternateContent xmlns:mc="http://schemas.openxmlformats.org/markup-compatibility/2006">
                <mc:Choice xmlns:v="urn:schemas-microsoft-com:vml" Requires="v">
                  <p:oleObj name="AxMath" r:id="rId4" imgW="75960" imgH="150840" progId="Equation.AxMath">
                    <p:embed/>
                  </p:oleObj>
                </mc:Choice>
                <mc:Fallback>
                  <p:oleObj name="AxMath" r:id="rId4" imgW="75960" imgH="150840" progId="Equation.AxMath">
                    <p:embed/>
                    <p:pic>
                      <p:nvPicPr>
                        <p:cNvPr id="6" name="对象 5">
                          <a:extLst>
                            <a:ext uri="{FF2B5EF4-FFF2-40B4-BE49-F238E27FC236}">
                              <a16:creationId xmlns:a16="http://schemas.microsoft.com/office/drawing/2014/main" id="{3C365CCB-4A7D-3FF2-C2A4-B38D49977EFD}"/>
                            </a:ext>
                          </a:extLst>
                        </p:cNvPr>
                        <p:cNvPicPr/>
                        <p:nvPr/>
                      </p:nvPicPr>
                      <p:blipFill>
                        <a:blip r:embed="rId5"/>
                        <a:stretch>
                          <a:fillRect/>
                        </a:stretch>
                      </p:blipFill>
                      <p:spPr>
                        <a:xfrm>
                          <a:off x="4686921" y="2448095"/>
                          <a:ext cx="152400" cy="301625"/>
                        </a:xfrm>
                        <a:prstGeom prst="rect">
                          <a:avLst/>
                        </a:prstGeom>
                      </p:spPr>
                    </p:pic>
                  </p:oleObj>
                </mc:Fallback>
              </mc:AlternateContent>
            </a:graphicData>
          </a:graphic>
        </p:graphicFrame>
      </p:grpSp>
      <p:graphicFrame>
        <p:nvGraphicFramePr>
          <p:cNvPr id="25" name="对象 24">
            <a:extLst>
              <a:ext uri="{FF2B5EF4-FFF2-40B4-BE49-F238E27FC236}">
                <a16:creationId xmlns:a16="http://schemas.microsoft.com/office/drawing/2014/main" id="{C750F461-6FC6-0222-ED8E-CDA3F38D61D0}"/>
              </a:ext>
            </a:extLst>
          </p:cNvPr>
          <p:cNvGraphicFramePr>
            <a:graphicFrameLocks noChangeAspect="1"/>
          </p:cNvGraphicFramePr>
          <p:nvPr>
            <p:extLst>
              <p:ext uri="{D42A27DB-BD31-4B8C-83A1-F6EECF244321}">
                <p14:modId xmlns:p14="http://schemas.microsoft.com/office/powerpoint/2010/main" val="4022349222"/>
              </p:ext>
            </p:extLst>
          </p:nvPr>
        </p:nvGraphicFramePr>
        <p:xfrm>
          <a:off x="4137241" y="2676378"/>
          <a:ext cx="4029008" cy="752018"/>
        </p:xfrm>
        <a:graphic>
          <a:graphicData uri="http://schemas.openxmlformats.org/presentationml/2006/ole">
            <mc:AlternateContent xmlns:mc="http://schemas.openxmlformats.org/markup-compatibility/2006">
              <mc:Choice xmlns:v="urn:schemas-microsoft-com:vml" Requires="v">
                <p:oleObj name="AxMath" r:id="rId6" imgW="2212560" imgH="419040" progId="Equation.AxMath">
                  <p:embed/>
                </p:oleObj>
              </mc:Choice>
              <mc:Fallback>
                <p:oleObj name="AxMath" r:id="rId6" imgW="2212560" imgH="419040" progId="Equation.AxMath">
                  <p:embed/>
                  <p:pic>
                    <p:nvPicPr>
                      <p:cNvPr id="0" name="Object 3"/>
                      <p:cNvPicPr>
                        <a:picLocks noChangeAspect="1" noChangeArrowheads="1"/>
                      </p:cNvPicPr>
                      <p:nvPr/>
                    </p:nvPicPr>
                    <p:blipFill>
                      <a:blip r:embed="rId7"/>
                      <a:srcRect/>
                      <a:stretch>
                        <a:fillRect/>
                      </a:stretch>
                    </p:blipFill>
                    <p:spPr bwMode="auto">
                      <a:xfrm>
                        <a:off x="4137241" y="2676378"/>
                        <a:ext cx="4029008" cy="752018"/>
                      </a:xfrm>
                      <a:prstGeom prst="rect">
                        <a:avLst/>
                      </a:prstGeom>
                      <a:noFill/>
                    </p:spPr>
                  </p:pic>
                </p:oleObj>
              </mc:Fallback>
            </mc:AlternateContent>
          </a:graphicData>
        </a:graphic>
      </p:graphicFrame>
      <p:grpSp>
        <p:nvGrpSpPr>
          <p:cNvPr id="13" name="组合 12">
            <a:extLst>
              <a:ext uri="{FF2B5EF4-FFF2-40B4-BE49-F238E27FC236}">
                <a16:creationId xmlns:a16="http://schemas.microsoft.com/office/drawing/2014/main" id="{BBFE7A25-096B-6284-3ABF-FC0C34E2CD90}"/>
              </a:ext>
            </a:extLst>
          </p:cNvPr>
          <p:cNvGrpSpPr/>
          <p:nvPr/>
        </p:nvGrpSpPr>
        <p:grpSpPr>
          <a:xfrm>
            <a:off x="9037636" y="1259363"/>
            <a:ext cx="2890436" cy="657322"/>
            <a:chOff x="7423827" y="2188397"/>
            <a:chExt cx="2043770" cy="464780"/>
          </a:xfrm>
          <a:solidFill>
            <a:schemeClr val="accent1">
              <a:lumMod val="20000"/>
              <a:lumOff val="80000"/>
            </a:schemeClr>
          </a:solidFill>
        </p:grpSpPr>
        <p:sp>
          <p:nvSpPr>
            <p:cNvPr id="8" name="文本框 7">
              <a:extLst>
                <a:ext uri="{FF2B5EF4-FFF2-40B4-BE49-F238E27FC236}">
                  <a16:creationId xmlns:a16="http://schemas.microsoft.com/office/drawing/2014/main" id="{CEEB8120-3EE9-8E26-456D-188871C22E4A}"/>
                </a:ext>
              </a:extLst>
            </p:cNvPr>
            <p:cNvSpPr txBox="1"/>
            <p:nvPr/>
          </p:nvSpPr>
          <p:spPr>
            <a:xfrm>
              <a:off x="7423827" y="2191512"/>
              <a:ext cx="2043770" cy="461665"/>
            </a:xfrm>
            <a:prstGeom prst="rect">
              <a:avLst/>
            </a:prstGeom>
            <a:grp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7" name="对象 6">
              <a:extLst>
                <a:ext uri="{FF2B5EF4-FFF2-40B4-BE49-F238E27FC236}">
                  <a16:creationId xmlns:a16="http://schemas.microsoft.com/office/drawing/2014/main" id="{17C91FD8-C427-152F-5013-817196990920}"/>
                </a:ext>
              </a:extLst>
            </p:cNvPr>
            <p:cNvGraphicFramePr>
              <a:graphicFrameLocks noChangeAspect="1"/>
            </p:cNvGraphicFramePr>
            <p:nvPr>
              <p:extLst>
                <p:ext uri="{D42A27DB-BD31-4B8C-83A1-F6EECF244321}">
                  <p14:modId xmlns:p14="http://schemas.microsoft.com/office/powerpoint/2010/main" val="1219503688"/>
                </p:ext>
              </p:extLst>
            </p:nvPr>
          </p:nvGraphicFramePr>
          <p:xfrm>
            <a:off x="7611168" y="2188397"/>
            <a:ext cx="1592263" cy="403225"/>
          </p:xfrm>
          <a:graphic>
            <a:graphicData uri="http://schemas.openxmlformats.org/presentationml/2006/ole">
              <mc:AlternateContent xmlns:mc="http://schemas.openxmlformats.org/markup-compatibility/2006">
                <mc:Choice xmlns:v="urn:schemas-microsoft-com:vml" Requires="v">
                  <p:oleObj name="AxMath" r:id="rId8" imgW="1593874" imgH="404889" progId="Equation.AxMath">
                    <p:embed/>
                  </p:oleObj>
                </mc:Choice>
                <mc:Fallback>
                  <p:oleObj name="AxMath" r:id="rId8" imgW="1593874" imgH="404889" progId="Equation.AxMath">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11168" y="2188397"/>
                          <a:ext cx="1592263"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cxnSp>
        <p:nvCxnSpPr>
          <p:cNvPr id="16" name="直接连接符 15">
            <a:extLst>
              <a:ext uri="{FF2B5EF4-FFF2-40B4-BE49-F238E27FC236}">
                <a16:creationId xmlns:a16="http://schemas.microsoft.com/office/drawing/2014/main" id="{9F537475-F4A2-039A-6281-0656350A3AD2}"/>
              </a:ext>
            </a:extLst>
          </p:cNvPr>
          <p:cNvCxnSpPr/>
          <p:nvPr/>
        </p:nvCxnSpPr>
        <p:spPr>
          <a:xfrm>
            <a:off x="543351" y="3428396"/>
            <a:ext cx="10237304" cy="0"/>
          </a:xfrm>
          <a:prstGeom prst="line">
            <a:avLst/>
          </a:prstGeom>
          <a:ln w="12700">
            <a:solidFill>
              <a:srgbClr val="1D3C6B"/>
            </a:solidFill>
            <a:prstDash val="dashDot"/>
          </a:ln>
        </p:spPr>
        <p:style>
          <a:lnRef idx="1">
            <a:schemeClr val="dk1"/>
          </a:lnRef>
          <a:fillRef idx="0">
            <a:schemeClr val="dk1"/>
          </a:fillRef>
          <a:effectRef idx="0">
            <a:schemeClr val="dk1"/>
          </a:effectRef>
          <a:fontRef idx="minor">
            <a:schemeClr val="tx1"/>
          </a:fontRef>
        </p:style>
      </p:cxnSp>
      <p:graphicFrame>
        <p:nvGraphicFramePr>
          <p:cNvPr id="41" name="表格 40">
            <a:extLst>
              <a:ext uri="{FF2B5EF4-FFF2-40B4-BE49-F238E27FC236}">
                <a16:creationId xmlns:a16="http://schemas.microsoft.com/office/drawing/2014/main" id="{C156253D-17E4-B3E2-04BB-E8C3CE19ADCC}"/>
              </a:ext>
            </a:extLst>
          </p:cNvPr>
          <p:cNvGraphicFramePr>
            <a:graphicFrameLocks noGrp="1"/>
          </p:cNvGraphicFramePr>
          <p:nvPr>
            <p:extLst>
              <p:ext uri="{D42A27DB-BD31-4B8C-83A1-F6EECF244321}">
                <p14:modId xmlns:p14="http://schemas.microsoft.com/office/powerpoint/2010/main" val="2079780585"/>
              </p:ext>
            </p:extLst>
          </p:nvPr>
        </p:nvGraphicFramePr>
        <p:xfrm>
          <a:off x="2393229" y="3565875"/>
          <a:ext cx="8387425" cy="2632817"/>
        </p:xfrm>
        <a:graphic>
          <a:graphicData uri="http://schemas.openxmlformats.org/drawingml/2006/table">
            <a:tbl>
              <a:tblPr firstRow="1" firstCol="1" bandRow="1"/>
              <a:tblGrid>
                <a:gridCol w="8387425">
                  <a:extLst>
                    <a:ext uri="{9D8B030D-6E8A-4147-A177-3AD203B41FA5}">
                      <a16:colId xmlns:a16="http://schemas.microsoft.com/office/drawing/2014/main" val="448644821"/>
                    </a:ext>
                  </a:extLst>
                </a:gridCol>
              </a:tblGrid>
              <a:tr h="725970">
                <a:tc>
                  <a:txBody>
                    <a:bodyPr/>
                    <a:lstStyle/>
                    <a:p>
                      <a:pPr indent="125730" algn="just">
                        <a:lnSpc>
                          <a:spcPts val="2500"/>
                        </a:lnSpc>
                      </a:pPr>
                      <a:r>
                        <a:rPr lang="en-US" sz="2000" b="1" kern="100" dirty="0">
                          <a:effectLst/>
                          <a:latin typeface="Times New Roman" panose="02020603050405020304" pitchFamily="18" charset="0"/>
                          <a:ea typeface="楷体" panose="02010609060101010101" pitchFamily="49" charset="-122"/>
                          <a:cs typeface="Times New Roman" panose="02020603050405020304" pitchFamily="18" charset="0"/>
                        </a:rPr>
                        <a:t>AUC</a:t>
                      </a:r>
                      <a:r>
                        <a:rPr 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优化框架</a:t>
                      </a:r>
                      <a:r>
                        <a:rPr lang="en-US" sz="2000" b="1" kern="100" dirty="0">
                          <a:effectLst/>
                          <a:latin typeface="Times New Roman" panose="02020603050405020304" pitchFamily="18" charset="0"/>
                          <a:ea typeface="楷体" panose="02010609060101010101" pitchFamily="49" charset="-122"/>
                          <a:cs typeface="Times New Roman" panose="02020603050405020304" pitchFamily="18" charset="0"/>
                        </a:rPr>
                        <a:t> (AUC Maximization Framework)</a:t>
                      </a:r>
                      <a:endParaRPr 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indent="125730" algn="just">
                        <a:lnSpc>
                          <a:spcPts val="2500"/>
                        </a:lnSpc>
                      </a:pPr>
                      <a:r>
                        <a:rPr lang="zh-CN" sz="2000" b="1" kern="100" dirty="0">
                          <a:effectLst/>
                          <a:latin typeface="Times New Roman" panose="02020603050405020304" pitchFamily="18" charset="0"/>
                          <a:ea typeface="楷体" panose="02010609060101010101" pitchFamily="49" charset="-122"/>
                          <a:cs typeface="Times New Roman" panose="02020603050405020304" pitchFamily="18" charset="0"/>
                        </a:rPr>
                        <a:t>输入</a:t>
                      </a:r>
                      <a:r>
                        <a:rPr lang="en-US" sz="2000" b="1"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zh-CN" sz="2000" kern="100" dirty="0">
                          <a:effectLst/>
                          <a:latin typeface="Times New Roman" panose="02020603050405020304" pitchFamily="18" charset="0"/>
                          <a:ea typeface="楷体" panose="02010609060101010101" pitchFamily="49" charset="-122"/>
                          <a:cs typeface="Times New Roman" panose="02020603050405020304" pitchFamily="18" charset="0"/>
                        </a:rPr>
                        <a:t>预测得分</a:t>
                      </a:r>
                      <a:r>
                        <a:rPr lang="en-US" sz="2000" i="1" kern="100" dirty="0">
                          <a:effectLst/>
                          <a:latin typeface="Times New Roman" panose="02020603050405020304" pitchFamily="18" charset="0"/>
                          <a:ea typeface="楷体" panose="02010609060101010101" pitchFamily="49" charset="-122"/>
                          <a:cs typeface="Times New Roman" panose="02020603050405020304" pitchFamily="18" charset="0"/>
                        </a:rPr>
                        <a:t>l</a:t>
                      </a:r>
                      <a:r>
                        <a:rPr lang="zh-CN" sz="2000" kern="100" dirty="0">
                          <a:effectLst/>
                          <a:latin typeface="Times New Roman" panose="02020603050405020304" pitchFamily="18" charset="0"/>
                          <a:ea typeface="楷体" panose="02010609060101010101" pitchFamily="49" charset="-122"/>
                          <a:cs typeface="Times New Roman" panose="02020603050405020304" pitchFamily="18" charset="0"/>
                        </a:rPr>
                        <a:t>，鲁棒参数</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en-US" sz="2000" kern="100" dirty="0">
                          <a:effectLst/>
                          <a:latin typeface="Times New Roman" panose="02020603050405020304" pitchFamily="18" charset="0"/>
                          <a:ea typeface="楷体" panose="02010609060101010101" pitchFamily="49" charset="-122"/>
                          <a:cs typeface="Times New Roman" panose="02020603050405020304" pitchFamily="18" charset="0"/>
                        </a:rPr>
                        <a:t> </a:t>
                      </a:r>
                      <a:r>
                        <a:rPr lang="zh-CN" sz="2000" kern="100" dirty="0">
                          <a:effectLst/>
                          <a:latin typeface="Times New Roman" panose="02020603050405020304" pitchFamily="18" charset="0"/>
                          <a:ea typeface="楷体" panose="02010609060101010101" pitchFamily="49" charset="-122"/>
                          <a:cs typeface="Times New Roman" panose="02020603050405020304" pitchFamily="18" charset="0"/>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18804941"/>
                  </a:ext>
                </a:extLst>
              </a:tr>
              <a:tr h="1906847">
                <a:tc>
                  <a:txBody>
                    <a:bodyPr/>
                    <a:lstStyle/>
                    <a:p>
                      <a:pPr indent="126365" algn="just">
                        <a:lnSpc>
                          <a:spcPts val="2000"/>
                        </a:lnSpc>
                      </a:pPr>
                      <a:endParaRPr lang="en-US"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indent="126365" algn="just">
                        <a:lnSpc>
                          <a:spcPts val="2000"/>
                        </a:lnSpc>
                      </a:pPr>
                      <a:r>
                        <a:rPr lang="en-US" sz="2000" kern="100" dirty="0">
                          <a:effectLst/>
                          <a:latin typeface="Times New Roman" panose="02020603050405020304" pitchFamily="18" charset="0"/>
                          <a:ea typeface="楷体" panose="02010609060101010101" pitchFamily="49" charset="-122"/>
                          <a:cs typeface="Times New Roman" panose="02020603050405020304" pitchFamily="18" charset="0"/>
                        </a:rPr>
                        <a:t>WHILE NOT </a:t>
                      </a:r>
                      <a:endPar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indent="126365" algn="just">
                        <a:lnSpc>
                          <a:spcPts val="2000"/>
                        </a:lnSpc>
                      </a:pPr>
                      <a:endPar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indent="126365" algn="just">
                        <a:lnSpc>
                          <a:spcPts val="2000"/>
                        </a:lnSpc>
                      </a:pPr>
                      <a:endPar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indent="126365" algn="just">
                        <a:lnSpc>
                          <a:spcPts val="2000"/>
                        </a:lnSpc>
                      </a:pPr>
                      <a:endPar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indent="126365" algn="just">
                        <a:lnSpc>
                          <a:spcPts val="2000"/>
                        </a:lnSpc>
                      </a:pPr>
                      <a:endParaRPr 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3921896"/>
                  </a:ext>
                </a:extLst>
              </a:tr>
            </a:tbl>
          </a:graphicData>
        </a:graphic>
      </p:graphicFrame>
      <p:graphicFrame>
        <p:nvGraphicFramePr>
          <p:cNvPr id="42" name="对象 41">
            <a:extLst>
              <a:ext uri="{FF2B5EF4-FFF2-40B4-BE49-F238E27FC236}">
                <a16:creationId xmlns:a16="http://schemas.microsoft.com/office/drawing/2014/main" id="{A230FF99-FA39-8B80-54A1-F2E19C6472FE}"/>
              </a:ext>
            </a:extLst>
          </p:cNvPr>
          <p:cNvGraphicFramePr>
            <a:graphicFrameLocks noChangeAspect="1"/>
          </p:cNvGraphicFramePr>
          <p:nvPr>
            <p:extLst>
              <p:ext uri="{D42A27DB-BD31-4B8C-83A1-F6EECF244321}">
                <p14:modId xmlns:p14="http://schemas.microsoft.com/office/powerpoint/2010/main" val="898255876"/>
              </p:ext>
            </p:extLst>
          </p:nvPr>
        </p:nvGraphicFramePr>
        <p:xfrm>
          <a:off x="5592753" y="3867074"/>
          <a:ext cx="558992" cy="328550"/>
        </p:xfrm>
        <a:graphic>
          <a:graphicData uri="http://schemas.openxmlformats.org/presentationml/2006/ole">
            <mc:AlternateContent xmlns:mc="http://schemas.openxmlformats.org/markup-compatibility/2006">
              <mc:Choice xmlns:v="urn:schemas-microsoft-com:vml" Requires="v">
                <p:oleObj name="AxMath" r:id="rId10" imgW="386760" imgH="227372" progId="Equation.AxMath">
                  <p:embed/>
                </p:oleObj>
              </mc:Choice>
              <mc:Fallback>
                <p:oleObj name="AxMath" r:id="rId10" imgW="386760" imgH="227372" progId="Equation.AxMath">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92753" y="3867074"/>
                        <a:ext cx="558992" cy="328550"/>
                      </a:xfrm>
                      <a:prstGeom prst="rect">
                        <a:avLst/>
                      </a:prstGeom>
                      <a:noFill/>
                    </p:spPr>
                  </p:pic>
                </p:oleObj>
              </mc:Fallback>
            </mc:AlternateContent>
          </a:graphicData>
        </a:graphic>
      </p:graphicFrame>
      <p:graphicFrame>
        <p:nvGraphicFramePr>
          <p:cNvPr id="44" name="对象 43">
            <a:extLst>
              <a:ext uri="{FF2B5EF4-FFF2-40B4-BE49-F238E27FC236}">
                <a16:creationId xmlns:a16="http://schemas.microsoft.com/office/drawing/2014/main" id="{5F37926C-F91D-3969-83E6-62CBB20CDA66}"/>
              </a:ext>
            </a:extLst>
          </p:cNvPr>
          <p:cNvGraphicFramePr>
            <a:graphicFrameLocks noChangeAspect="1"/>
          </p:cNvGraphicFramePr>
          <p:nvPr>
            <p:extLst>
              <p:ext uri="{D42A27DB-BD31-4B8C-83A1-F6EECF244321}">
                <p14:modId xmlns:p14="http://schemas.microsoft.com/office/powerpoint/2010/main" val="2999529147"/>
              </p:ext>
            </p:extLst>
          </p:nvPr>
        </p:nvGraphicFramePr>
        <p:xfrm>
          <a:off x="4137241" y="4471337"/>
          <a:ext cx="2000508" cy="410946"/>
        </p:xfrm>
        <a:graphic>
          <a:graphicData uri="http://schemas.openxmlformats.org/presentationml/2006/ole">
            <mc:AlternateContent xmlns:mc="http://schemas.openxmlformats.org/markup-compatibility/2006">
              <mc:Choice xmlns:v="urn:schemas-microsoft-com:vml" Requires="v">
                <p:oleObj name="AxMath" r:id="rId12" imgW="1113823" imgH="229261" progId="Equation.AxMath">
                  <p:embed/>
                </p:oleObj>
              </mc:Choice>
              <mc:Fallback>
                <p:oleObj name="AxMath" r:id="rId12" imgW="1113823" imgH="229261" progId="Equation.AxMath">
                  <p:embed/>
                  <p:pic>
                    <p:nvPicPr>
                      <p:cNvPr id="0" name="Object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37241" y="4471337"/>
                        <a:ext cx="2000508" cy="410946"/>
                      </a:xfrm>
                      <a:prstGeom prst="rect">
                        <a:avLst/>
                      </a:prstGeom>
                      <a:noFill/>
                    </p:spPr>
                  </p:pic>
                </p:oleObj>
              </mc:Fallback>
            </mc:AlternateContent>
          </a:graphicData>
        </a:graphic>
      </p:graphicFrame>
      <p:graphicFrame>
        <p:nvGraphicFramePr>
          <p:cNvPr id="45" name="对象 44">
            <a:extLst>
              <a:ext uri="{FF2B5EF4-FFF2-40B4-BE49-F238E27FC236}">
                <a16:creationId xmlns:a16="http://schemas.microsoft.com/office/drawing/2014/main" id="{D77F166C-1D81-2211-2635-67CC2CD5BFFE}"/>
              </a:ext>
            </a:extLst>
          </p:cNvPr>
          <p:cNvGraphicFramePr>
            <a:graphicFrameLocks noChangeAspect="1"/>
          </p:cNvGraphicFramePr>
          <p:nvPr>
            <p:extLst>
              <p:ext uri="{D42A27DB-BD31-4B8C-83A1-F6EECF244321}">
                <p14:modId xmlns:p14="http://schemas.microsoft.com/office/powerpoint/2010/main" val="878139748"/>
              </p:ext>
            </p:extLst>
          </p:nvPr>
        </p:nvGraphicFramePr>
        <p:xfrm>
          <a:off x="3071428" y="4846274"/>
          <a:ext cx="7411426" cy="733754"/>
        </p:xfrm>
        <a:graphic>
          <a:graphicData uri="http://schemas.openxmlformats.org/presentationml/2006/ole">
            <mc:AlternateContent xmlns:mc="http://schemas.openxmlformats.org/markup-compatibility/2006">
              <mc:Choice xmlns:v="urn:schemas-microsoft-com:vml" Requires="v">
                <p:oleObj name="AxMath" r:id="rId14" imgW="4619987" imgH="449643" progId="Equation.AxMath">
                  <p:embed/>
                </p:oleObj>
              </mc:Choice>
              <mc:Fallback>
                <p:oleObj name="AxMath" r:id="rId14" imgW="4619987" imgH="449643" progId="Equation.AxMath">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71428" y="4846274"/>
                        <a:ext cx="7411426" cy="733754"/>
                      </a:xfrm>
                      <a:prstGeom prst="rect">
                        <a:avLst/>
                      </a:prstGeom>
                      <a:noFill/>
                    </p:spPr>
                  </p:pic>
                </p:oleObj>
              </mc:Fallback>
            </mc:AlternateContent>
          </a:graphicData>
        </a:graphic>
      </p:graphicFrame>
      <p:graphicFrame>
        <p:nvGraphicFramePr>
          <p:cNvPr id="46" name="对象 45">
            <a:extLst>
              <a:ext uri="{FF2B5EF4-FFF2-40B4-BE49-F238E27FC236}">
                <a16:creationId xmlns:a16="http://schemas.microsoft.com/office/drawing/2014/main" id="{028D7277-A251-D519-E903-AA9FA8C7CCF3}"/>
              </a:ext>
            </a:extLst>
          </p:cNvPr>
          <p:cNvGraphicFramePr>
            <a:graphicFrameLocks noChangeAspect="1"/>
          </p:cNvGraphicFramePr>
          <p:nvPr>
            <p:extLst>
              <p:ext uri="{D42A27DB-BD31-4B8C-83A1-F6EECF244321}">
                <p14:modId xmlns:p14="http://schemas.microsoft.com/office/powerpoint/2010/main" val="3812425488"/>
              </p:ext>
            </p:extLst>
          </p:nvPr>
        </p:nvGraphicFramePr>
        <p:xfrm>
          <a:off x="3131339" y="5503694"/>
          <a:ext cx="3884248" cy="673824"/>
        </p:xfrm>
        <a:graphic>
          <a:graphicData uri="http://schemas.openxmlformats.org/presentationml/2006/ole">
            <mc:AlternateContent xmlns:mc="http://schemas.openxmlformats.org/markup-compatibility/2006">
              <mc:Choice xmlns:v="urn:schemas-microsoft-com:vml" Requires="v">
                <p:oleObj name="AxMath" r:id="rId16" imgW="2368149" imgH="416975" progId="Equation.AxMath">
                  <p:embed/>
                </p:oleObj>
              </mc:Choice>
              <mc:Fallback>
                <p:oleObj name="AxMath" r:id="rId16" imgW="2368149" imgH="416975" progId="Equation.AxMath">
                  <p:embed/>
                  <p:pic>
                    <p:nvPicPr>
                      <p:cNvPr id="0" name="Object 1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31339" y="5503694"/>
                        <a:ext cx="3884248" cy="673824"/>
                      </a:xfrm>
                      <a:prstGeom prst="rect">
                        <a:avLst/>
                      </a:prstGeom>
                      <a:noFill/>
                    </p:spPr>
                  </p:pic>
                </p:oleObj>
              </mc:Fallback>
            </mc:AlternateContent>
          </a:graphicData>
        </a:graphic>
      </p:graphicFrame>
      <p:sp>
        <p:nvSpPr>
          <p:cNvPr id="47" name="文本框 46">
            <a:extLst>
              <a:ext uri="{FF2B5EF4-FFF2-40B4-BE49-F238E27FC236}">
                <a16:creationId xmlns:a16="http://schemas.microsoft.com/office/drawing/2014/main" id="{3DBB78CF-67B2-8591-A6D9-20E81F021215}"/>
              </a:ext>
            </a:extLst>
          </p:cNvPr>
          <p:cNvSpPr txBox="1"/>
          <p:nvPr/>
        </p:nvSpPr>
        <p:spPr>
          <a:xfrm>
            <a:off x="543351" y="3550092"/>
            <a:ext cx="1626693" cy="461665"/>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算法流程</a:t>
            </a:r>
          </a:p>
        </p:txBody>
      </p:sp>
    </p:spTree>
    <p:extLst>
      <p:ext uri="{BB962C8B-B14F-4D97-AF65-F5344CB8AC3E}">
        <p14:creationId xmlns:p14="http://schemas.microsoft.com/office/powerpoint/2010/main" val="4059102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A6662D-FB78-9A9E-0F4A-81EEE71E2315}"/>
              </a:ext>
            </a:extLst>
          </p:cNvPr>
          <p:cNvSpPr>
            <a:spLocks noGrp="1"/>
          </p:cNvSpPr>
          <p:nvPr>
            <p:ph type="ctrTitle"/>
          </p:nvPr>
        </p:nvSpPr>
        <p:spPr>
          <a:xfrm>
            <a:off x="1524000" y="2133600"/>
            <a:ext cx="9144000" cy="1170640"/>
          </a:xfrm>
        </p:spPr>
        <p:txBody>
          <a:bodyPr>
            <a:normAutofit/>
          </a:bodyPr>
          <a:lstStyle/>
          <a:p>
            <a:r>
              <a:rPr lang="en-US" altLang="zh-CN" sz="5400" b="1" dirty="0">
                <a:latin typeface="Times New Roman" panose="02020603050405020304" pitchFamily="18" charset="0"/>
                <a:cs typeface="Times New Roman" panose="02020603050405020304" pitchFamily="18" charset="0"/>
              </a:rPr>
              <a:t>4  </a:t>
            </a:r>
            <a:r>
              <a:rPr lang="zh-CN" altLang="en-US" sz="5400" b="1" dirty="0">
                <a:latin typeface="Times New Roman" panose="02020603050405020304" pitchFamily="18" charset="0"/>
                <a:cs typeface="Times New Roman" panose="02020603050405020304" pitchFamily="18" charset="0"/>
              </a:rPr>
              <a:t>实验结果</a:t>
            </a:r>
          </a:p>
        </p:txBody>
      </p:sp>
      <p:sp>
        <p:nvSpPr>
          <p:cNvPr id="4" name="灯片编号占位符 3">
            <a:extLst>
              <a:ext uri="{FF2B5EF4-FFF2-40B4-BE49-F238E27FC236}">
                <a16:creationId xmlns:a16="http://schemas.microsoft.com/office/drawing/2014/main" id="{B35D4A2F-1955-46D8-2A12-84F29DF3C15A}"/>
              </a:ext>
            </a:extLst>
          </p:cNvPr>
          <p:cNvSpPr>
            <a:spLocks noGrp="1"/>
          </p:cNvSpPr>
          <p:nvPr>
            <p:ph type="sldNum" sz="quarter" idx="12"/>
          </p:nvPr>
        </p:nvSpPr>
        <p:spPr/>
        <p:txBody>
          <a:bodyPr/>
          <a:lstStyle/>
          <a:p>
            <a:fld id="{A290DF1A-1B4B-4FE9-B9C1-10AC9C5D423D}" type="slidenum">
              <a:rPr lang="zh-CN" altLang="en-US" smtClean="0">
                <a:latin typeface="Times New Roman" panose="02020603050405020304" pitchFamily="18" charset="0"/>
                <a:cs typeface="Times New Roman" panose="02020603050405020304" pitchFamily="18" charset="0"/>
              </a:rPr>
              <a:t>18</a:t>
            </a:fld>
            <a:endParaRPr lang="zh-CN" altLang="en-US" dirty="0">
              <a:latin typeface="Times New Roman" panose="02020603050405020304" pitchFamily="18" charset="0"/>
              <a:cs typeface="Times New Roman" panose="02020603050405020304" pitchFamily="18" charset="0"/>
            </a:endParaRPr>
          </a:p>
        </p:txBody>
      </p:sp>
      <p:cxnSp>
        <p:nvCxnSpPr>
          <p:cNvPr id="3" name="直接连接符 2">
            <a:extLst>
              <a:ext uri="{FF2B5EF4-FFF2-40B4-BE49-F238E27FC236}">
                <a16:creationId xmlns:a16="http://schemas.microsoft.com/office/drawing/2014/main" id="{7309E07E-3374-1A0B-C6B3-472A66FF56D9}"/>
              </a:ext>
            </a:extLst>
          </p:cNvPr>
          <p:cNvCxnSpPr>
            <a:cxnSpLocks/>
          </p:cNvCxnSpPr>
          <p:nvPr/>
        </p:nvCxnSpPr>
        <p:spPr>
          <a:xfrm>
            <a:off x="4292600" y="3429000"/>
            <a:ext cx="3530600" cy="0"/>
          </a:xfrm>
          <a:prstGeom prst="line">
            <a:avLst/>
          </a:prstGeom>
          <a:ln w="12700"/>
        </p:spPr>
        <p:style>
          <a:lnRef idx="1">
            <a:schemeClr val="dk1"/>
          </a:lnRef>
          <a:fillRef idx="0">
            <a:schemeClr val="dk1"/>
          </a:fillRef>
          <a:effectRef idx="0">
            <a:schemeClr val="dk1"/>
          </a:effectRef>
          <a:fontRef idx="minor">
            <a:schemeClr val="tx1"/>
          </a:fontRef>
        </p:style>
      </p:cxnSp>
      <p:sp>
        <p:nvSpPr>
          <p:cNvPr id="5" name="文本框 4">
            <a:extLst>
              <a:ext uri="{FF2B5EF4-FFF2-40B4-BE49-F238E27FC236}">
                <a16:creationId xmlns:a16="http://schemas.microsoft.com/office/drawing/2014/main" id="{84F83633-B117-F9AD-52DF-E9160B5FE358}"/>
              </a:ext>
            </a:extLst>
          </p:cNvPr>
          <p:cNvSpPr txBox="1"/>
          <p:nvPr/>
        </p:nvSpPr>
        <p:spPr>
          <a:xfrm>
            <a:off x="4207939" y="3502145"/>
            <a:ext cx="1888061"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CIFAR10-LT</a:t>
            </a:r>
            <a:endParaRPr lang="zh-CN" altLang="en-US" sz="24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4422975E-C451-129C-8650-1B392B92DD0B}"/>
              </a:ext>
            </a:extLst>
          </p:cNvPr>
          <p:cNvSpPr txBox="1"/>
          <p:nvPr/>
        </p:nvSpPr>
        <p:spPr>
          <a:xfrm>
            <a:off x="6282109" y="3502145"/>
            <a:ext cx="2023685"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CIFAR100-LT</a:t>
            </a:r>
            <a:endParaRPr lang="zh-CN" altLang="en-US" sz="2400" dirty="0">
              <a:latin typeface="Times New Roman" panose="02020603050405020304" pitchFamily="18" charset="0"/>
              <a:cs typeface="Times New Roman" panose="02020603050405020304" pitchFamily="18" charset="0"/>
            </a:endParaRPr>
          </a:p>
        </p:txBody>
      </p:sp>
      <p:cxnSp>
        <p:nvCxnSpPr>
          <p:cNvPr id="7" name="直接连接符 6">
            <a:extLst>
              <a:ext uri="{FF2B5EF4-FFF2-40B4-BE49-F238E27FC236}">
                <a16:creationId xmlns:a16="http://schemas.microsoft.com/office/drawing/2014/main" id="{81E4F79F-E7A5-3203-87BC-9DA4159D7FAE}"/>
              </a:ext>
            </a:extLst>
          </p:cNvPr>
          <p:cNvCxnSpPr>
            <a:cxnSpLocks/>
          </p:cNvCxnSpPr>
          <p:nvPr/>
        </p:nvCxnSpPr>
        <p:spPr>
          <a:xfrm>
            <a:off x="6121396" y="3553761"/>
            <a:ext cx="0" cy="358435"/>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33510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189CE-B008-F001-4E89-10E5D1FA8F56}"/>
              </a:ext>
            </a:extLst>
          </p:cNvPr>
          <p:cNvSpPr>
            <a:spLocks noGrp="1"/>
          </p:cNvSpPr>
          <p:nvPr>
            <p:ph type="title"/>
          </p:nvPr>
        </p:nvSpPr>
        <p:spPr>
          <a:xfrm>
            <a:off x="337010" y="147314"/>
            <a:ext cx="5611305" cy="1029719"/>
          </a:xfrm>
        </p:spPr>
        <p:txBody>
          <a:bodyPr>
            <a:normAutofit/>
          </a:bodyPr>
          <a:lstStyle/>
          <a:p>
            <a:r>
              <a:rPr lang="zh-CN" altLang="en-US" sz="4000" b="1" dirty="0"/>
              <a:t>实验结果</a:t>
            </a:r>
          </a:p>
        </p:txBody>
      </p:sp>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19</a:t>
            </a:fld>
            <a:endParaRPr lang="zh-CN" altLang="en-US" dirty="0"/>
          </a:p>
        </p:txBody>
      </p:sp>
      <p:cxnSp>
        <p:nvCxnSpPr>
          <p:cNvPr id="14" name="直接连接符 13">
            <a:extLst>
              <a:ext uri="{FF2B5EF4-FFF2-40B4-BE49-F238E27FC236}">
                <a16:creationId xmlns:a16="http://schemas.microsoft.com/office/drawing/2014/main" id="{A52245BC-E6B0-F7D8-74A7-14D2F143F257}"/>
              </a:ext>
            </a:extLst>
          </p:cNvPr>
          <p:cNvCxnSpPr>
            <a:cxnSpLocks/>
          </p:cNvCxnSpPr>
          <p:nvPr/>
        </p:nvCxnSpPr>
        <p:spPr>
          <a:xfrm>
            <a:off x="284723" y="1001040"/>
            <a:ext cx="2414934" cy="0"/>
          </a:xfrm>
          <a:prstGeom prst="line">
            <a:avLst/>
          </a:prstGeom>
          <a:ln w="28575"/>
        </p:spPr>
        <p:style>
          <a:lnRef idx="1">
            <a:schemeClr val="dk1"/>
          </a:lnRef>
          <a:fillRef idx="0">
            <a:schemeClr val="dk1"/>
          </a:fillRef>
          <a:effectRef idx="0">
            <a:schemeClr val="dk1"/>
          </a:effectRef>
          <a:fontRef idx="minor">
            <a:schemeClr val="tx1"/>
          </a:fontRef>
        </p:style>
      </p:cxnSp>
      <p:sp>
        <p:nvSpPr>
          <p:cNvPr id="3" name="文本框 2">
            <a:extLst>
              <a:ext uri="{FF2B5EF4-FFF2-40B4-BE49-F238E27FC236}">
                <a16:creationId xmlns:a16="http://schemas.microsoft.com/office/drawing/2014/main" id="{1B12B3B6-EEDD-084E-C51A-644092222BCF}"/>
              </a:ext>
            </a:extLst>
          </p:cNvPr>
          <p:cNvSpPr txBox="1"/>
          <p:nvPr/>
        </p:nvSpPr>
        <p:spPr>
          <a:xfrm>
            <a:off x="3142662" y="396435"/>
            <a:ext cx="2085547" cy="523220"/>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长尾数据集</a:t>
            </a:r>
          </a:p>
        </p:txBody>
      </p:sp>
      <p:graphicFrame>
        <p:nvGraphicFramePr>
          <p:cNvPr id="5" name="表格 4">
            <a:extLst>
              <a:ext uri="{FF2B5EF4-FFF2-40B4-BE49-F238E27FC236}">
                <a16:creationId xmlns:a16="http://schemas.microsoft.com/office/drawing/2014/main" id="{3D95D95E-D2F3-54F1-EB67-32F867B42182}"/>
              </a:ext>
            </a:extLst>
          </p:cNvPr>
          <p:cNvGraphicFramePr>
            <a:graphicFrameLocks noGrp="1"/>
          </p:cNvGraphicFramePr>
          <p:nvPr>
            <p:extLst>
              <p:ext uri="{D42A27DB-BD31-4B8C-83A1-F6EECF244321}">
                <p14:modId xmlns:p14="http://schemas.microsoft.com/office/powerpoint/2010/main" val="3087788421"/>
              </p:ext>
            </p:extLst>
          </p:nvPr>
        </p:nvGraphicFramePr>
        <p:xfrm>
          <a:off x="284723" y="1429061"/>
          <a:ext cx="8518037" cy="3999878"/>
        </p:xfrm>
        <a:graphic>
          <a:graphicData uri="http://schemas.openxmlformats.org/drawingml/2006/table">
            <a:tbl>
              <a:tblPr firstRow="1" firstCol="1" bandRow="1">
                <a:tableStyleId>{073A0DAA-6AF3-43AB-8588-CEC1D06C72B9}</a:tableStyleId>
              </a:tblPr>
              <a:tblGrid>
                <a:gridCol w="1703198">
                  <a:extLst>
                    <a:ext uri="{9D8B030D-6E8A-4147-A177-3AD203B41FA5}">
                      <a16:colId xmlns:a16="http://schemas.microsoft.com/office/drawing/2014/main" val="2637285771"/>
                    </a:ext>
                  </a:extLst>
                </a:gridCol>
                <a:gridCol w="1782200">
                  <a:extLst>
                    <a:ext uri="{9D8B030D-6E8A-4147-A177-3AD203B41FA5}">
                      <a16:colId xmlns:a16="http://schemas.microsoft.com/office/drawing/2014/main" val="3087061447"/>
                    </a:ext>
                  </a:extLst>
                </a:gridCol>
                <a:gridCol w="1624193">
                  <a:extLst>
                    <a:ext uri="{9D8B030D-6E8A-4147-A177-3AD203B41FA5}">
                      <a16:colId xmlns:a16="http://schemas.microsoft.com/office/drawing/2014/main" val="1165706042"/>
                    </a:ext>
                  </a:extLst>
                </a:gridCol>
                <a:gridCol w="1704223">
                  <a:extLst>
                    <a:ext uri="{9D8B030D-6E8A-4147-A177-3AD203B41FA5}">
                      <a16:colId xmlns:a16="http://schemas.microsoft.com/office/drawing/2014/main" val="392039792"/>
                    </a:ext>
                  </a:extLst>
                </a:gridCol>
                <a:gridCol w="1704223">
                  <a:extLst>
                    <a:ext uri="{9D8B030D-6E8A-4147-A177-3AD203B41FA5}">
                      <a16:colId xmlns:a16="http://schemas.microsoft.com/office/drawing/2014/main" val="3962879689"/>
                    </a:ext>
                  </a:extLst>
                </a:gridCol>
              </a:tblGrid>
              <a:tr h="362478">
                <a:tc>
                  <a:txBody>
                    <a:bodyPr/>
                    <a:lstStyle/>
                    <a:p>
                      <a:pPr indent="127000" algn="ctr">
                        <a:lnSpc>
                          <a:spcPts val="2000"/>
                        </a:lnSpc>
                      </a:pPr>
                      <a:r>
                        <a:rPr lang="zh-CN" sz="16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数据集</a:t>
                      </a:r>
                      <a:endParaRPr lang="zh-CN" sz="18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zh-CN" sz="16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正类</a:t>
                      </a:r>
                      <a:r>
                        <a:rPr lang="en-US" sz="16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ID</a:t>
                      </a:r>
                      <a:endParaRPr lang="zh-CN" sz="18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zh-CN" sz="16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正类名称</a:t>
                      </a:r>
                      <a:endParaRPr lang="zh-CN" sz="18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zh-CN" sz="16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正类样本数量</a:t>
                      </a:r>
                      <a:endParaRPr lang="zh-CN" sz="18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zh-CN" sz="16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rPr>
                        <a:t>负类样本数量</a:t>
                      </a:r>
                      <a:endParaRPr lang="zh-CN" sz="180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1489593"/>
                  </a:ext>
                </a:extLst>
              </a:tr>
              <a:tr h="363740">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CIFAR10-LT-1</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1</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automobile</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546</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4872</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0252656"/>
                  </a:ext>
                </a:extLst>
              </a:tr>
              <a:tr h="363740">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CIFAR10-LT-2</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2</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bird</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338</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3016</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930939"/>
                  </a:ext>
                </a:extLst>
              </a:tr>
              <a:tr h="363740">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CIFAR10-LT-3</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3</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cat</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234</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2088</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4965013"/>
                  </a:ext>
                </a:extLst>
              </a:tr>
              <a:tr h="363740">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CIFAR10-LT-4</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4</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deer</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247</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2204</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5346015"/>
                  </a:ext>
                </a:extLst>
              </a:tr>
              <a:tr h="363740">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CIFAR10-LT-5</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5</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dog</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247</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2204</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962891"/>
                  </a:ext>
                </a:extLst>
              </a:tr>
              <a:tr h="363740">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CIFAR100-LT-1</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6, 7, 14, 18, 24</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insect</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429</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3828</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6004103"/>
                  </a:ext>
                </a:extLst>
              </a:tr>
              <a:tr h="363740">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CIFAR100-LT-2</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1, 32, 67, 73, 91</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fish</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377</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3364</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8971967"/>
                  </a:ext>
                </a:extLst>
              </a:tr>
              <a:tr h="363740">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CIFAR100-LT-3</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54, 62, 70, 82, 92</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flower</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338</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3016</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834752"/>
                  </a:ext>
                </a:extLst>
              </a:tr>
              <a:tr h="363740">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CIFAR100-LT-4</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8, 13, 48, 58, 90</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vehicle</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351</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3132</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0671926"/>
                  </a:ext>
                </a:extLst>
              </a:tr>
              <a:tr h="363740">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CIFAR100-LT-5</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a:solidFill>
                            <a:schemeClr val="tx1"/>
                          </a:solidFill>
                          <a:effectLst/>
                          <a:latin typeface="Times New Roman" panose="02020603050405020304" pitchFamily="18" charset="0"/>
                          <a:cs typeface="Times New Roman" panose="02020603050405020304" pitchFamily="18" charset="0"/>
                        </a:rPr>
                        <a:t>2, 11, 35, 46, 98</a:t>
                      </a:r>
                      <a:endParaRPr lang="zh-CN" sz="1800"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people</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351</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127000" algn="ctr">
                        <a:lnSpc>
                          <a:spcPts val="2000"/>
                        </a:lnSpc>
                      </a:pPr>
                      <a:r>
                        <a:rPr lang="en-US" sz="1600" kern="100" dirty="0">
                          <a:solidFill>
                            <a:schemeClr val="tx1"/>
                          </a:solidFill>
                          <a:effectLst/>
                          <a:latin typeface="Times New Roman" panose="02020603050405020304" pitchFamily="18" charset="0"/>
                          <a:cs typeface="Times New Roman" panose="02020603050405020304" pitchFamily="18" charset="0"/>
                        </a:rPr>
                        <a:t>3132</a:t>
                      </a:r>
                      <a:endParaRPr lang="zh-CN" sz="1800"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49467" marR="49467"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0426429"/>
                  </a:ext>
                </a:extLst>
              </a:tr>
            </a:tbl>
          </a:graphicData>
        </a:graphic>
      </p:graphicFrame>
      <p:sp>
        <p:nvSpPr>
          <p:cNvPr id="7" name="文本框 6">
            <a:extLst>
              <a:ext uri="{FF2B5EF4-FFF2-40B4-BE49-F238E27FC236}">
                <a16:creationId xmlns:a16="http://schemas.microsoft.com/office/drawing/2014/main" id="{53897DA8-EC0C-3D79-D917-B55957DA605B}"/>
              </a:ext>
            </a:extLst>
          </p:cNvPr>
          <p:cNvSpPr txBox="1"/>
          <p:nvPr/>
        </p:nvSpPr>
        <p:spPr>
          <a:xfrm>
            <a:off x="9000066" y="1429061"/>
            <a:ext cx="2984241" cy="3595793"/>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a:spAutoFit/>
          </a:bodyPr>
          <a:lstStyle/>
          <a:p>
            <a:pPr marL="285750" indent="-285750" algn="just">
              <a:lnSpc>
                <a:spcPts val="2500"/>
              </a:lnSpc>
              <a:buFont typeface="Wingdings" panose="05000000000000000000" pitchFamily="2" charset="2"/>
              <a:buChar char="Ø"/>
            </a:pP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将</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CIFAR-10</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和</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CIFAR-100</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调整为二分类，实现不平衡分布</a:t>
            </a:r>
            <a:endPar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ts val="2500"/>
              </a:lnSpc>
              <a:buFont typeface="Wingdings" panose="05000000000000000000" pitchFamily="2" charset="2"/>
              <a:buChar char="Ø"/>
            </a:pPr>
            <a:endPar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latinLnBrk="1">
              <a:lnSpc>
                <a:spcPts val="2500"/>
              </a:lnSpc>
              <a:buFont typeface="Wingdings" panose="05000000000000000000" pitchFamily="2" charset="2"/>
              <a:buChar char="Ø"/>
            </a:pP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构造训练集时，本文基于</a:t>
            </a:r>
            <a:r>
              <a:rPr lang="en-US" altLang="zh-CN" sz="2000" kern="100" dirty="0" err="1">
                <a:effectLst/>
                <a:latin typeface="Times New Roman" panose="02020603050405020304" pitchFamily="18" charset="0"/>
                <a:ea typeface="楷体" panose="02010609060101010101" pitchFamily="49" charset="-122"/>
                <a:cs typeface="Times New Roman" panose="02020603050405020304" pitchFamily="18" charset="0"/>
              </a:rPr>
              <a:t>torch.utils.data.Sampler</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，自定义训练集中正负样本采样的比例，从而可以验证模型在不同数据分布下的性能表现</a:t>
            </a:r>
          </a:p>
        </p:txBody>
      </p:sp>
    </p:spTree>
    <p:extLst>
      <p:ext uri="{BB962C8B-B14F-4D97-AF65-F5344CB8AC3E}">
        <p14:creationId xmlns:p14="http://schemas.microsoft.com/office/powerpoint/2010/main" val="2516433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189CE-B008-F001-4E89-10E5D1FA8F56}"/>
              </a:ext>
            </a:extLst>
          </p:cNvPr>
          <p:cNvSpPr>
            <a:spLocks noGrp="1"/>
          </p:cNvSpPr>
          <p:nvPr>
            <p:ph type="title"/>
          </p:nvPr>
        </p:nvSpPr>
        <p:spPr>
          <a:xfrm>
            <a:off x="337010" y="147314"/>
            <a:ext cx="5611305" cy="1029719"/>
          </a:xfrm>
        </p:spPr>
        <p:txBody>
          <a:bodyPr>
            <a:normAutofit/>
          </a:bodyPr>
          <a:lstStyle/>
          <a:p>
            <a:r>
              <a:rPr lang="zh-CN" altLang="en-US" sz="4000" b="1" dirty="0"/>
              <a:t>实验结果</a:t>
            </a:r>
          </a:p>
        </p:txBody>
      </p:sp>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20</a:t>
            </a:fld>
            <a:endParaRPr lang="zh-CN" altLang="en-US" dirty="0"/>
          </a:p>
        </p:txBody>
      </p:sp>
      <p:cxnSp>
        <p:nvCxnSpPr>
          <p:cNvPr id="14" name="直接连接符 13">
            <a:extLst>
              <a:ext uri="{FF2B5EF4-FFF2-40B4-BE49-F238E27FC236}">
                <a16:creationId xmlns:a16="http://schemas.microsoft.com/office/drawing/2014/main" id="{A52245BC-E6B0-F7D8-74A7-14D2F143F257}"/>
              </a:ext>
            </a:extLst>
          </p:cNvPr>
          <p:cNvCxnSpPr>
            <a:cxnSpLocks/>
          </p:cNvCxnSpPr>
          <p:nvPr/>
        </p:nvCxnSpPr>
        <p:spPr>
          <a:xfrm>
            <a:off x="284723" y="1001040"/>
            <a:ext cx="2135016" cy="0"/>
          </a:xfrm>
          <a:prstGeom prst="line">
            <a:avLst/>
          </a:prstGeom>
          <a:ln w="28575"/>
        </p:spPr>
        <p:style>
          <a:lnRef idx="1">
            <a:schemeClr val="dk1"/>
          </a:lnRef>
          <a:fillRef idx="0">
            <a:schemeClr val="dk1"/>
          </a:fillRef>
          <a:effectRef idx="0">
            <a:schemeClr val="dk1"/>
          </a:effectRef>
          <a:fontRef idx="minor">
            <a:schemeClr val="tx1"/>
          </a:fontRef>
        </p:style>
      </p:cxnSp>
      <p:sp>
        <p:nvSpPr>
          <p:cNvPr id="3" name="文本框 2">
            <a:extLst>
              <a:ext uri="{FF2B5EF4-FFF2-40B4-BE49-F238E27FC236}">
                <a16:creationId xmlns:a16="http://schemas.microsoft.com/office/drawing/2014/main" id="{1B12B3B6-EEDD-084E-C51A-644092222BCF}"/>
              </a:ext>
            </a:extLst>
          </p:cNvPr>
          <p:cNvSpPr txBox="1"/>
          <p:nvPr/>
        </p:nvSpPr>
        <p:spPr>
          <a:xfrm>
            <a:off x="3142662" y="431340"/>
            <a:ext cx="2223779" cy="461665"/>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CIFAR10-LT-5</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6" name="表格 5">
            <a:extLst>
              <a:ext uri="{FF2B5EF4-FFF2-40B4-BE49-F238E27FC236}">
                <a16:creationId xmlns:a16="http://schemas.microsoft.com/office/drawing/2014/main" id="{77D83C71-AA6A-3EA0-7780-176636EFAE25}"/>
              </a:ext>
            </a:extLst>
          </p:cNvPr>
          <p:cNvGraphicFramePr>
            <a:graphicFrameLocks noGrp="1"/>
          </p:cNvGraphicFramePr>
          <p:nvPr>
            <p:extLst>
              <p:ext uri="{D42A27DB-BD31-4B8C-83A1-F6EECF244321}">
                <p14:modId xmlns:p14="http://schemas.microsoft.com/office/powerpoint/2010/main" val="2810539724"/>
              </p:ext>
            </p:extLst>
          </p:nvPr>
        </p:nvGraphicFramePr>
        <p:xfrm>
          <a:off x="329682" y="1311091"/>
          <a:ext cx="8016897" cy="4370038"/>
        </p:xfrm>
        <a:graphic>
          <a:graphicData uri="http://schemas.openxmlformats.org/drawingml/2006/table">
            <a:tbl>
              <a:tblPr firstRow="1" firstCol="1" bandRow="1"/>
              <a:tblGrid>
                <a:gridCol w="1145271">
                  <a:extLst>
                    <a:ext uri="{9D8B030D-6E8A-4147-A177-3AD203B41FA5}">
                      <a16:colId xmlns:a16="http://schemas.microsoft.com/office/drawing/2014/main" val="3175990473"/>
                    </a:ext>
                  </a:extLst>
                </a:gridCol>
                <a:gridCol w="1145271">
                  <a:extLst>
                    <a:ext uri="{9D8B030D-6E8A-4147-A177-3AD203B41FA5}">
                      <a16:colId xmlns:a16="http://schemas.microsoft.com/office/drawing/2014/main" val="1078759955"/>
                    </a:ext>
                  </a:extLst>
                </a:gridCol>
                <a:gridCol w="1145271">
                  <a:extLst>
                    <a:ext uri="{9D8B030D-6E8A-4147-A177-3AD203B41FA5}">
                      <a16:colId xmlns:a16="http://schemas.microsoft.com/office/drawing/2014/main" val="3483312326"/>
                    </a:ext>
                  </a:extLst>
                </a:gridCol>
                <a:gridCol w="1145271">
                  <a:extLst>
                    <a:ext uri="{9D8B030D-6E8A-4147-A177-3AD203B41FA5}">
                      <a16:colId xmlns:a16="http://schemas.microsoft.com/office/drawing/2014/main" val="39899146"/>
                    </a:ext>
                  </a:extLst>
                </a:gridCol>
                <a:gridCol w="1145271">
                  <a:extLst>
                    <a:ext uri="{9D8B030D-6E8A-4147-A177-3AD203B41FA5}">
                      <a16:colId xmlns:a16="http://schemas.microsoft.com/office/drawing/2014/main" val="2891566953"/>
                    </a:ext>
                  </a:extLst>
                </a:gridCol>
                <a:gridCol w="1145271">
                  <a:extLst>
                    <a:ext uri="{9D8B030D-6E8A-4147-A177-3AD203B41FA5}">
                      <a16:colId xmlns:a16="http://schemas.microsoft.com/office/drawing/2014/main" val="1880664775"/>
                    </a:ext>
                  </a:extLst>
                </a:gridCol>
                <a:gridCol w="1145271">
                  <a:extLst>
                    <a:ext uri="{9D8B030D-6E8A-4147-A177-3AD203B41FA5}">
                      <a16:colId xmlns:a16="http://schemas.microsoft.com/office/drawing/2014/main" val="3660826302"/>
                    </a:ext>
                  </a:extLst>
                </a:gridCol>
              </a:tblGrid>
              <a:tr h="365050">
                <a:tc>
                  <a:txBody>
                    <a:bodyPr/>
                    <a:lstStyle/>
                    <a:p>
                      <a:pPr algn="ctr"/>
                      <a:r>
                        <a:rPr lang="zh-CN" sz="1600" b="1" kern="100" dirty="0">
                          <a:effectLst/>
                          <a:latin typeface="楷体" panose="02010609060101010101" pitchFamily="49" charset="-122"/>
                          <a:ea typeface="楷体" panose="02010609060101010101" pitchFamily="49" charset="-122"/>
                        </a:rPr>
                        <a:t>指标</a:t>
                      </a:r>
                    </a:p>
                  </a:txBody>
                  <a:tcPr marL="68580" marR="68580" marT="0" marB="0" anchor="ctr">
                    <a:lnL>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b="1" kern="100" dirty="0">
                          <a:effectLst/>
                          <a:latin typeface="Times New Roman" panose="02020603050405020304" pitchFamily="18" charset="0"/>
                          <a:ea typeface="宋体" panose="02010600030101010101" pitchFamily="2" charset="-122"/>
                        </a:rPr>
                        <a:t>AUC</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b="1" kern="100" dirty="0" err="1">
                          <a:effectLst/>
                          <a:latin typeface="Times New Roman" panose="02020603050405020304" pitchFamily="18" charset="0"/>
                          <a:ea typeface="宋体" panose="02010600030101010101" pitchFamily="2" charset="-122"/>
                        </a:rPr>
                        <a:t>pAUC</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b="1" kern="100" dirty="0">
                          <a:effectLst/>
                          <a:latin typeface="Times New Roman" panose="02020603050405020304" pitchFamily="18" charset="0"/>
                          <a:ea typeface="宋体" panose="02010600030101010101" pitchFamily="2" charset="-122"/>
                        </a:rPr>
                        <a:t>AUC</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b="1" kern="100" dirty="0" err="1">
                          <a:effectLst/>
                          <a:latin typeface="Times New Roman" panose="02020603050405020304" pitchFamily="18" charset="0"/>
                          <a:ea typeface="宋体" panose="02010600030101010101" pitchFamily="2" charset="-122"/>
                        </a:rPr>
                        <a:t>pAUC</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b="1" kern="100" dirty="0">
                          <a:effectLst/>
                          <a:latin typeface="Times New Roman" panose="02020603050405020304" pitchFamily="18" charset="0"/>
                          <a:ea typeface="宋体" panose="02010600030101010101" pitchFamily="2" charset="-122"/>
                        </a:rPr>
                        <a:t>AUC</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b="1" kern="100" dirty="0" err="1">
                          <a:effectLst/>
                          <a:latin typeface="Times New Roman" panose="02020603050405020304" pitchFamily="18" charset="0"/>
                          <a:ea typeface="宋体" panose="02010600030101010101" pitchFamily="2" charset="-122"/>
                        </a:rPr>
                        <a:t>pAUC</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57624593"/>
                  </a:ext>
                </a:extLst>
              </a:tr>
              <a:tr h="365050">
                <a:tc>
                  <a:txBody>
                    <a:bodyPr/>
                    <a:lstStyle/>
                    <a:p>
                      <a:pPr algn="ctr"/>
                      <a:r>
                        <a:rPr lang="zh-CN" sz="1600" b="1" kern="100" dirty="0">
                          <a:effectLst/>
                          <a:latin typeface="楷体" panose="02010609060101010101" pitchFamily="49" charset="-122"/>
                          <a:ea typeface="楷体" panose="02010609060101010101" pitchFamily="49" charset="-122"/>
                        </a:rPr>
                        <a:t>采样比例</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gridSpan="2">
                  <a:txBody>
                    <a:bodyPr/>
                    <a:lstStyle/>
                    <a:p>
                      <a:pPr algn="ctr"/>
                      <a:r>
                        <a:rPr lang="en-US" sz="1600" kern="100" dirty="0">
                          <a:effectLst/>
                          <a:latin typeface="Times New Roman" panose="02020603050405020304" pitchFamily="18" charset="0"/>
                          <a:ea typeface="宋体" panose="02010600030101010101" pitchFamily="2" charset="-122"/>
                        </a:rPr>
                        <a:t>1:1</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a:r>
                        <a:rPr lang="en-US" sz="1600" kern="100" dirty="0">
                          <a:effectLst/>
                          <a:latin typeface="Times New Roman" panose="02020603050405020304" pitchFamily="18" charset="0"/>
                          <a:ea typeface="宋体" panose="02010600030101010101" pitchFamily="2" charset="-122"/>
                        </a:rPr>
                        <a:t>1:4</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a:r>
                        <a:rPr lang="en-US" sz="1600" kern="100" dirty="0">
                          <a:effectLst/>
                          <a:latin typeface="Times New Roman" panose="02020603050405020304" pitchFamily="18" charset="0"/>
                          <a:ea typeface="宋体" panose="02010600030101010101" pitchFamily="2" charset="-122"/>
                        </a:rPr>
                        <a:t>1:9</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462407287"/>
                  </a:ext>
                </a:extLst>
              </a:tr>
              <a:tr h="365050">
                <a:tc>
                  <a:txBody>
                    <a:bodyPr/>
                    <a:lstStyle/>
                    <a:p>
                      <a:pPr algn="ctr"/>
                      <a:r>
                        <a:rPr lang="en-US" sz="1600" b="1" kern="100" dirty="0">
                          <a:effectLst/>
                          <a:latin typeface="Times New Roman" panose="02020603050405020304" pitchFamily="18" charset="0"/>
                          <a:ea typeface="宋体" panose="02010600030101010101" pitchFamily="2" charset="-122"/>
                        </a:rPr>
                        <a:t>CBCE</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0.8630</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0.5395</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0.8898</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0.6281</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0.8721</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0.5547</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038048840"/>
                  </a:ext>
                </a:extLst>
              </a:tr>
              <a:tr h="365050">
                <a:tc>
                  <a:txBody>
                    <a:bodyPr/>
                    <a:lstStyle/>
                    <a:p>
                      <a:pPr algn="ctr"/>
                      <a:r>
                        <a:rPr lang="en-US" sz="1600" b="1" kern="100" dirty="0">
                          <a:effectLst/>
                          <a:latin typeface="Times New Roman" panose="02020603050405020304" pitchFamily="18" charset="0"/>
                          <a:ea typeface="宋体" panose="02010600030101010101" pitchFamily="2" charset="-122"/>
                        </a:rPr>
                        <a:t>CE</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0.8673</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b="1" kern="100">
                          <a:effectLst/>
                          <a:latin typeface="Times New Roman" panose="02020603050405020304" pitchFamily="18" charset="0"/>
                          <a:ea typeface="宋体" panose="02010600030101010101" pitchFamily="2" charset="-122"/>
                        </a:rPr>
                        <a:t>0.5486</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0.8541</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0.5088</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0.8305</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0.4346</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extLst>
                  <a:ext uri="{0D108BD9-81ED-4DB2-BD59-A6C34878D82A}">
                    <a16:rowId xmlns:a16="http://schemas.microsoft.com/office/drawing/2014/main" val="1267374110"/>
                  </a:ext>
                </a:extLst>
              </a:tr>
              <a:tr h="365050">
                <a:tc>
                  <a:txBody>
                    <a:bodyPr/>
                    <a:lstStyle/>
                    <a:p>
                      <a:pPr algn="ctr"/>
                      <a:r>
                        <a:rPr lang="en-US" sz="1600" b="1" kern="100" dirty="0">
                          <a:effectLst/>
                          <a:latin typeface="Times New Roman" panose="02020603050405020304" pitchFamily="18" charset="0"/>
                          <a:ea typeface="宋体" panose="02010600030101010101" pitchFamily="2" charset="-122"/>
                        </a:rPr>
                        <a:t>TPAUC</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b="1" kern="100">
                          <a:effectLst/>
                          <a:latin typeface="Times New Roman" panose="02020603050405020304" pitchFamily="18" charset="0"/>
                          <a:ea typeface="宋体" panose="02010600030101010101" pitchFamily="2" charset="-122"/>
                        </a:rPr>
                        <a:t>0.8674</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0.5395</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0.8898</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0.6281</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0.8721</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0.5547</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extLst>
                  <a:ext uri="{0D108BD9-81ED-4DB2-BD59-A6C34878D82A}">
                    <a16:rowId xmlns:a16="http://schemas.microsoft.com/office/drawing/2014/main" val="4141165075"/>
                  </a:ext>
                </a:extLst>
              </a:tr>
              <a:tr h="542294">
                <a:tc>
                  <a:txBody>
                    <a:bodyPr/>
                    <a:lstStyle/>
                    <a:p>
                      <a:pPr algn="ctr"/>
                      <a:r>
                        <a:rPr lang="en-US" sz="1600" b="1" kern="100" dirty="0">
                          <a:effectLst/>
                          <a:latin typeface="Times New Roman" panose="02020603050405020304" pitchFamily="18" charset="0"/>
                          <a:ea typeface="宋体" panose="02010600030101010101" pitchFamily="2" charset="-122"/>
                        </a:rPr>
                        <a:t>DRO-AUC</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a:txBody>
                    <a:bodyPr/>
                    <a:lstStyle/>
                    <a:p>
                      <a:pPr algn="ctr"/>
                      <a:r>
                        <a:rPr lang="en-US" sz="1600" kern="100">
                          <a:effectLst/>
                          <a:latin typeface="Times New Roman" panose="02020603050405020304" pitchFamily="18" charset="0"/>
                          <a:ea typeface="黑体" panose="02010609060101010101" pitchFamily="49" charset="-122"/>
                        </a:rPr>
                        <a:t>0.8658</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tcPr>
                </a:tc>
                <a:tc>
                  <a:txBody>
                    <a:bodyPr/>
                    <a:lstStyle/>
                    <a:p>
                      <a:pPr algn="ctr"/>
                      <a:r>
                        <a:rPr lang="en-US" sz="1600" kern="100">
                          <a:effectLst/>
                          <a:latin typeface="Times New Roman" panose="02020603050405020304" pitchFamily="18" charset="0"/>
                          <a:ea typeface="黑体" panose="02010609060101010101" pitchFamily="49" charset="-122"/>
                        </a:rPr>
                        <a:t>0.5296</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黑体" panose="02010609060101010101" pitchFamily="49" charset="-122"/>
                        </a:rPr>
                        <a:t>0.8987</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黑体" panose="02010609060101010101" pitchFamily="49" charset="-122"/>
                        </a:rPr>
                        <a:t>0.6322</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黑体" panose="02010609060101010101" pitchFamily="49" charset="-122"/>
                        </a:rPr>
                        <a:t>0.8777</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黑体" panose="02010609060101010101" pitchFamily="49" charset="-122"/>
                        </a:rPr>
                        <a:t>0.5652</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5112305"/>
                  </a:ext>
                </a:extLst>
              </a:tr>
              <a:tr h="365050">
                <a:tc>
                  <a:txBody>
                    <a:bodyPr/>
                    <a:lstStyle/>
                    <a:p>
                      <a:pPr algn="ctr"/>
                      <a:r>
                        <a:rPr lang="zh-CN" sz="1600" b="1" kern="100" dirty="0">
                          <a:effectLst/>
                          <a:latin typeface="楷体" panose="02010609060101010101" pitchFamily="49" charset="-122"/>
                          <a:ea typeface="楷体" panose="02010609060101010101" pitchFamily="49" charset="-122"/>
                        </a:rPr>
                        <a:t>采样比例</a:t>
                      </a: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r>
                        <a:rPr lang="en-US" sz="1600" kern="100">
                          <a:effectLst/>
                          <a:latin typeface="Times New Roman" panose="02020603050405020304" pitchFamily="18" charset="0"/>
                          <a:ea typeface="宋体" panose="02010600030101010101" pitchFamily="2" charset="-122"/>
                        </a:rPr>
                        <a:t>1:14</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a:r>
                        <a:rPr lang="en-US" sz="1600" kern="100">
                          <a:effectLst/>
                          <a:latin typeface="Times New Roman" panose="02020603050405020304" pitchFamily="18" charset="0"/>
                          <a:ea typeface="宋体" panose="02010600030101010101" pitchFamily="2" charset="-122"/>
                        </a:rPr>
                        <a:t>1:19</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a:r>
                        <a:rPr lang="en-US" sz="1600" kern="100">
                          <a:effectLst/>
                          <a:latin typeface="Times New Roman" panose="02020603050405020304" pitchFamily="18" charset="0"/>
                          <a:ea typeface="宋体" panose="02010600030101010101" pitchFamily="2" charset="-122"/>
                        </a:rPr>
                        <a:t>1:24</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872588262"/>
                  </a:ext>
                </a:extLst>
              </a:tr>
              <a:tr h="365050">
                <a:tc>
                  <a:txBody>
                    <a:bodyPr/>
                    <a:lstStyle/>
                    <a:p>
                      <a:pPr algn="ctr"/>
                      <a:r>
                        <a:rPr lang="en-US" sz="1600" b="1" kern="100" dirty="0">
                          <a:effectLst/>
                          <a:latin typeface="Times New Roman" panose="02020603050405020304" pitchFamily="18" charset="0"/>
                          <a:ea typeface="宋体" panose="02010600030101010101" pitchFamily="2" charset="-122"/>
                        </a:rPr>
                        <a:t>CBCE</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0.8743</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0.5563</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0.8406</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0.4375</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0.8513</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0.5029</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508257494"/>
                  </a:ext>
                </a:extLst>
              </a:tr>
              <a:tr h="365050">
                <a:tc>
                  <a:txBody>
                    <a:bodyPr/>
                    <a:lstStyle/>
                    <a:p>
                      <a:pPr algn="ctr"/>
                      <a:r>
                        <a:rPr lang="en-US" sz="1600" b="1" kern="100" dirty="0">
                          <a:effectLst/>
                          <a:latin typeface="Times New Roman" panose="02020603050405020304" pitchFamily="18" charset="0"/>
                          <a:ea typeface="宋体" panose="02010600030101010101" pitchFamily="2" charset="-122"/>
                        </a:rPr>
                        <a:t>CE</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0.8379</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0.4316</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0.7646</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0.3049</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0.7996</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0.3874</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extLst>
                  <a:ext uri="{0D108BD9-81ED-4DB2-BD59-A6C34878D82A}">
                    <a16:rowId xmlns:a16="http://schemas.microsoft.com/office/drawing/2014/main" val="3895655926"/>
                  </a:ext>
                </a:extLst>
              </a:tr>
              <a:tr h="365050">
                <a:tc>
                  <a:txBody>
                    <a:bodyPr/>
                    <a:lstStyle/>
                    <a:p>
                      <a:pPr algn="ctr"/>
                      <a:r>
                        <a:rPr lang="en-US" sz="1600" b="1" kern="100" dirty="0">
                          <a:effectLst/>
                          <a:latin typeface="Times New Roman" panose="02020603050405020304" pitchFamily="18" charset="0"/>
                          <a:ea typeface="宋体" panose="02010600030101010101" pitchFamily="2" charset="-122"/>
                        </a:rPr>
                        <a:t>TPAUC</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0.8743</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0.5563</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0.8406</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0.4375</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0.8513</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宋体" panose="02010600030101010101" pitchFamily="2" charset="-122"/>
                        </a:rPr>
                        <a:t>0.5029</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a:noFill/>
                    </a:lnB>
                  </a:tcPr>
                </a:tc>
                <a:extLst>
                  <a:ext uri="{0D108BD9-81ED-4DB2-BD59-A6C34878D82A}">
                    <a16:rowId xmlns:a16="http://schemas.microsoft.com/office/drawing/2014/main" val="143075906"/>
                  </a:ext>
                </a:extLst>
              </a:tr>
              <a:tr h="542294">
                <a:tc>
                  <a:txBody>
                    <a:bodyPr/>
                    <a:lstStyle/>
                    <a:p>
                      <a:pPr algn="ctr"/>
                      <a:r>
                        <a:rPr lang="en-US" sz="1600" b="1" kern="100" dirty="0">
                          <a:effectLst/>
                          <a:latin typeface="Times New Roman" panose="02020603050405020304" pitchFamily="18" charset="0"/>
                          <a:ea typeface="宋体" panose="02010600030101010101" pitchFamily="2" charset="-122"/>
                        </a:rPr>
                        <a:t>DRO-AUC</a:t>
                      </a:r>
                      <a:endParaRPr lang="zh-CN" sz="1600" b="1" kern="100" dirty="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tcPr>
                </a:tc>
                <a:tc>
                  <a:txBody>
                    <a:bodyPr/>
                    <a:lstStyle/>
                    <a:p>
                      <a:pPr algn="ctr"/>
                      <a:r>
                        <a:rPr lang="en-US" sz="1600" b="1" kern="100" dirty="0">
                          <a:effectLst/>
                          <a:latin typeface="Times New Roman" panose="02020603050405020304" pitchFamily="18" charset="0"/>
                          <a:ea typeface="宋体" panose="02010600030101010101" pitchFamily="2" charset="-122"/>
                        </a:rPr>
                        <a:t>0.8746</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28575"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宋体" panose="02010600030101010101" pitchFamily="2" charset="-122"/>
                        </a:rPr>
                        <a:t>0.5621</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宋体" panose="02010600030101010101" pitchFamily="2" charset="-122"/>
                        </a:rPr>
                        <a:t>0.8494</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28575"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宋体" panose="02010600030101010101" pitchFamily="2" charset="-122"/>
                        </a:rPr>
                        <a:t>0.4720</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宋体" panose="02010600030101010101" pitchFamily="2" charset="-122"/>
                        </a:rPr>
                        <a:t>0.8640</a:t>
                      </a:r>
                      <a:endParaRPr lang="zh-CN" sz="16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28575" cap="flat" cmpd="sng" algn="ctr">
                      <a:solidFill>
                        <a:srgbClr val="000000"/>
                      </a:solidFill>
                      <a:prstDash val="solid"/>
                      <a:round/>
                      <a:headEnd type="none" w="med" len="med"/>
                      <a:tailEnd type="none" w="med" len="med"/>
                    </a:lnB>
                  </a:tcPr>
                </a:tc>
                <a:tc>
                  <a:txBody>
                    <a:bodyPr/>
                    <a:lstStyle/>
                    <a:p>
                      <a:pPr algn="ctr"/>
                      <a:r>
                        <a:rPr lang="en-US" sz="1600" b="1" kern="100" dirty="0">
                          <a:effectLst/>
                          <a:latin typeface="Times New Roman" panose="02020603050405020304" pitchFamily="18" charset="0"/>
                          <a:ea typeface="宋体" panose="02010600030101010101" pitchFamily="2" charset="-122"/>
                        </a:rPr>
                        <a:t>0.5164</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lnL>
                      <a:noFill/>
                    </a:lnL>
                    <a:lnR>
                      <a:noFill/>
                    </a:lnR>
                    <a:lnT>
                      <a:noFill/>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1302033"/>
                  </a:ext>
                </a:extLst>
              </a:tr>
            </a:tbl>
          </a:graphicData>
        </a:graphic>
      </p:graphicFrame>
      <p:sp>
        <p:nvSpPr>
          <p:cNvPr id="8" name="文本框 7">
            <a:extLst>
              <a:ext uri="{FF2B5EF4-FFF2-40B4-BE49-F238E27FC236}">
                <a16:creationId xmlns:a16="http://schemas.microsoft.com/office/drawing/2014/main" id="{91B6B90E-30E7-7C22-901D-2132448DE00E}"/>
              </a:ext>
            </a:extLst>
          </p:cNvPr>
          <p:cNvSpPr txBox="1"/>
          <p:nvPr/>
        </p:nvSpPr>
        <p:spPr>
          <a:xfrm>
            <a:off x="8610600" y="1311091"/>
            <a:ext cx="3390122" cy="3590085"/>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a:spAutoFit/>
          </a:bodyPr>
          <a:lstStyle/>
          <a:p>
            <a:pPr marL="285750" indent="-285750" algn="just">
              <a:lnSpc>
                <a:spcPts val="2500"/>
              </a:lnSpc>
              <a:buFont typeface="Wingdings" panose="05000000000000000000" pitchFamily="2" charset="2"/>
              <a:buChar char="Ø"/>
            </a:pP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本文提出的</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DRO-AUC</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在五个</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CIFAR10-LT</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子数据集上达到了优异的效果，在</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1:24</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的采样比例下的</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AUC</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指标领先</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TPAUC</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平均约</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0.007</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，领先</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CE</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损失平均约</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0.06</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ts val="2500"/>
              </a:lnSpc>
              <a:buFont typeface="Wingdings" panose="05000000000000000000" pitchFamily="2" charset="2"/>
              <a:buChar char="Ø"/>
            </a:pPr>
            <a:endPar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ts val="2500"/>
              </a:lnSpc>
              <a:buFont typeface="Wingdings" panose="05000000000000000000" pitchFamily="2" charset="2"/>
              <a:buChar char="Ø"/>
            </a:pP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在</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CIFAR10-LT-5</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上的</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AUC</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指标领先</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TPAUC</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约</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0.013</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，领先</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CE</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约</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0.064</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724224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21</a:t>
            </a:fld>
            <a:endParaRPr lang="zh-CN" altLang="en-US" dirty="0"/>
          </a:p>
        </p:txBody>
      </p:sp>
      <p:sp>
        <p:nvSpPr>
          <p:cNvPr id="3" name="文本框 2">
            <a:extLst>
              <a:ext uri="{FF2B5EF4-FFF2-40B4-BE49-F238E27FC236}">
                <a16:creationId xmlns:a16="http://schemas.microsoft.com/office/drawing/2014/main" id="{1B12B3B6-EEDD-084E-C51A-644092222BCF}"/>
              </a:ext>
            </a:extLst>
          </p:cNvPr>
          <p:cNvSpPr txBox="1"/>
          <p:nvPr/>
        </p:nvSpPr>
        <p:spPr>
          <a:xfrm>
            <a:off x="3543962" y="431340"/>
            <a:ext cx="2143159" cy="461665"/>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CIFAR10-LT</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4" name="图表 3">
            <a:extLst>
              <a:ext uri="{FF2B5EF4-FFF2-40B4-BE49-F238E27FC236}">
                <a16:creationId xmlns:a16="http://schemas.microsoft.com/office/drawing/2014/main" id="{986B98FC-9AD0-C529-74C5-DBCB7EB914D2}"/>
              </a:ext>
            </a:extLst>
          </p:cNvPr>
          <p:cNvGraphicFramePr/>
          <p:nvPr>
            <p:extLst>
              <p:ext uri="{D42A27DB-BD31-4B8C-83A1-F6EECF244321}">
                <p14:modId xmlns:p14="http://schemas.microsoft.com/office/powerpoint/2010/main" val="2402739013"/>
              </p:ext>
            </p:extLst>
          </p:nvPr>
        </p:nvGraphicFramePr>
        <p:xfrm>
          <a:off x="550908" y="1204635"/>
          <a:ext cx="4935492" cy="302869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图表 4">
            <a:extLst>
              <a:ext uri="{FF2B5EF4-FFF2-40B4-BE49-F238E27FC236}">
                <a16:creationId xmlns:a16="http://schemas.microsoft.com/office/drawing/2014/main" id="{3E60D22D-8F6C-7C42-7B85-5D43230FDBC5}"/>
              </a:ext>
            </a:extLst>
          </p:cNvPr>
          <p:cNvGraphicFramePr/>
          <p:nvPr>
            <p:extLst>
              <p:ext uri="{D42A27DB-BD31-4B8C-83A1-F6EECF244321}">
                <p14:modId xmlns:p14="http://schemas.microsoft.com/office/powerpoint/2010/main" val="2246514911"/>
              </p:ext>
            </p:extLst>
          </p:nvPr>
        </p:nvGraphicFramePr>
        <p:xfrm>
          <a:off x="5742992" y="1204636"/>
          <a:ext cx="5179008" cy="3028696"/>
        </p:xfrm>
        <a:graphic>
          <a:graphicData uri="http://schemas.openxmlformats.org/drawingml/2006/chart">
            <c:chart xmlns:c="http://schemas.openxmlformats.org/drawingml/2006/chart" xmlns:r="http://schemas.openxmlformats.org/officeDocument/2006/relationships" r:id="rId3"/>
          </a:graphicData>
        </a:graphic>
      </p:graphicFrame>
      <p:sp>
        <p:nvSpPr>
          <p:cNvPr id="7" name="文本框 6">
            <a:extLst>
              <a:ext uri="{FF2B5EF4-FFF2-40B4-BE49-F238E27FC236}">
                <a16:creationId xmlns:a16="http://schemas.microsoft.com/office/drawing/2014/main" id="{B1DDFCF9-B7F4-2F9C-868E-02C588C4249B}"/>
              </a:ext>
            </a:extLst>
          </p:cNvPr>
          <p:cNvSpPr txBox="1"/>
          <p:nvPr/>
        </p:nvSpPr>
        <p:spPr>
          <a:xfrm>
            <a:off x="1484776" y="4160105"/>
            <a:ext cx="3240833" cy="369332"/>
          </a:xfrm>
          <a:prstGeom prst="rect">
            <a:avLst/>
          </a:prstGeom>
          <a:noFill/>
        </p:spPr>
        <p:txBody>
          <a:bodyPr wrap="square">
            <a:spAutoFit/>
          </a:bodyPr>
          <a:lstStyle/>
          <a:p>
            <a:r>
              <a:rPr lang="en-US" altLang="zh-CN" kern="100" dirty="0">
                <a:effectLst/>
                <a:latin typeface="Times New Roman" panose="02020603050405020304" pitchFamily="18" charset="0"/>
                <a:ea typeface="楷体" panose="02010609060101010101" pitchFamily="49" charset="-122"/>
                <a:cs typeface="Times New Roman" panose="02020603050405020304" pitchFamily="18" charset="0"/>
              </a:rPr>
              <a:t>CIFAR-10-LT</a:t>
            </a:r>
            <a:r>
              <a:rPr lang="zh-CN" altLang="zh-CN" kern="100" dirty="0">
                <a:effectLst/>
                <a:latin typeface="Times New Roman" panose="02020603050405020304" pitchFamily="18" charset="0"/>
                <a:ea typeface="楷体" panose="02010609060101010101" pitchFamily="49" charset="-122"/>
                <a:cs typeface="Times New Roman" panose="02020603050405020304" pitchFamily="18" charset="0"/>
              </a:rPr>
              <a:t>的平均</a:t>
            </a:r>
            <a:r>
              <a:rPr lang="en-US" altLang="zh-CN" kern="100" dirty="0">
                <a:effectLst/>
                <a:latin typeface="Times New Roman" panose="02020603050405020304" pitchFamily="18" charset="0"/>
                <a:ea typeface="楷体" panose="02010609060101010101" pitchFamily="49" charset="-122"/>
                <a:cs typeface="Times New Roman" panose="02020603050405020304" pitchFamily="18" charset="0"/>
              </a:rPr>
              <a:t>AUC</a:t>
            </a:r>
            <a:r>
              <a:rPr lang="zh-CN" altLang="zh-CN" kern="100" dirty="0">
                <a:effectLst/>
                <a:latin typeface="Times New Roman" panose="02020603050405020304" pitchFamily="18" charset="0"/>
                <a:ea typeface="楷体" panose="02010609060101010101" pitchFamily="49" charset="-122"/>
                <a:cs typeface="Times New Roman" panose="02020603050405020304" pitchFamily="18" charset="0"/>
              </a:rPr>
              <a:t>性能</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2" name="标题 1">
            <a:extLst>
              <a:ext uri="{FF2B5EF4-FFF2-40B4-BE49-F238E27FC236}">
                <a16:creationId xmlns:a16="http://schemas.microsoft.com/office/drawing/2014/main" id="{2DC14781-7A8F-D835-C2F9-A338C43EFB98}"/>
              </a:ext>
            </a:extLst>
          </p:cNvPr>
          <p:cNvSpPr txBox="1">
            <a:spLocks/>
          </p:cNvSpPr>
          <p:nvPr/>
        </p:nvSpPr>
        <p:spPr>
          <a:xfrm>
            <a:off x="337010" y="147314"/>
            <a:ext cx="5611305" cy="10297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000" b="1">
                <a:latin typeface="Times New Roman" panose="02020603050405020304" pitchFamily="18" charset="0"/>
                <a:ea typeface="楷体" panose="02010609060101010101" pitchFamily="49" charset="-122"/>
                <a:cs typeface="Times New Roman" panose="02020603050405020304" pitchFamily="18" charset="0"/>
              </a:rPr>
              <a:t>实验结果</a:t>
            </a:r>
            <a:endParaRPr lang="zh-CN" altLang="en-US" sz="4000" b="1" dirty="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13" name="直接连接符 12">
            <a:extLst>
              <a:ext uri="{FF2B5EF4-FFF2-40B4-BE49-F238E27FC236}">
                <a16:creationId xmlns:a16="http://schemas.microsoft.com/office/drawing/2014/main" id="{83F5AADC-DB52-B23A-2A3F-BA2E4B3BA290}"/>
              </a:ext>
            </a:extLst>
          </p:cNvPr>
          <p:cNvCxnSpPr>
            <a:cxnSpLocks/>
          </p:cNvCxnSpPr>
          <p:nvPr/>
        </p:nvCxnSpPr>
        <p:spPr>
          <a:xfrm>
            <a:off x="284723" y="1001040"/>
            <a:ext cx="2414934" cy="0"/>
          </a:xfrm>
          <a:prstGeom prst="line">
            <a:avLst/>
          </a:prstGeom>
          <a:ln w="28575"/>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D6DEE16B-FE8C-DA26-E7D2-14604F94F2BB}"/>
              </a:ext>
            </a:extLst>
          </p:cNvPr>
          <p:cNvSpPr txBox="1"/>
          <p:nvPr/>
        </p:nvSpPr>
        <p:spPr>
          <a:xfrm>
            <a:off x="745068" y="4705643"/>
            <a:ext cx="10176932" cy="1354602"/>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a:spAutoFit/>
          </a:bodyPr>
          <a:lstStyle/>
          <a:p>
            <a:pPr marL="285750" indent="-285750">
              <a:lnSpc>
                <a:spcPts val="2500"/>
              </a:lnSpc>
              <a:buFont typeface="Wingdings" panose="05000000000000000000" pitchFamily="2" charset="2"/>
              <a:buChar char="Ø"/>
            </a:pP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基于交叉熵</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CE</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损失的方法，其性能随着采样比例的失衡下降得十分明显，其趋势几乎为线性下降</a:t>
            </a:r>
            <a:endParaRPr lang="en-US" altLang="zh-CN" sz="2000" kern="1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nSpc>
                <a:spcPts val="2500"/>
              </a:lnSpc>
              <a:buFont typeface="Wingdings" panose="05000000000000000000" pitchFamily="2" charset="2"/>
              <a:buChar char="Ø"/>
            </a:pP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本文提出的</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DRO-AUC</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方法，其性能指标始终在小范围内波动，并略胜于同样基于</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AUC</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设计的方法</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 name="文本框 17">
            <a:extLst>
              <a:ext uri="{FF2B5EF4-FFF2-40B4-BE49-F238E27FC236}">
                <a16:creationId xmlns:a16="http://schemas.microsoft.com/office/drawing/2014/main" id="{D350D774-D9BE-A28A-EBA9-36926F20BE57}"/>
              </a:ext>
            </a:extLst>
          </p:cNvPr>
          <p:cNvSpPr txBox="1"/>
          <p:nvPr/>
        </p:nvSpPr>
        <p:spPr>
          <a:xfrm>
            <a:off x="6705602" y="4160105"/>
            <a:ext cx="3240833" cy="369332"/>
          </a:xfrm>
          <a:prstGeom prst="rect">
            <a:avLst/>
          </a:prstGeom>
          <a:noFill/>
        </p:spPr>
        <p:txBody>
          <a:bodyPr wrap="square">
            <a:spAutoFit/>
          </a:bodyPr>
          <a:lstStyle/>
          <a:p>
            <a:r>
              <a:rPr lang="en-US" altLang="zh-CN" kern="100" dirty="0">
                <a:effectLst/>
                <a:latin typeface="Times New Roman" panose="02020603050405020304" pitchFamily="18" charset="0"/>
                <a:ea typeface="楷体" panose="02010609060101010101" pitchFamily="49" charset="-122"/>
                <a:cs typeface="Times New Roman" panose="02020603050405020304" pitchFamily="18" charset="0"/>
              </a:rPr>
              <a:t>CIFAR-10-LT</a:t>
            </a:r>
            <a:r>
              <a:rPr lang="zh-CN" altLang="zh-CN" kern="100" dirty="0">
                <a:effectLst/>
                <a:latin typeface="Times New Roman" panose="02020603050405020304" pitchFamily="18" charset="0"/>
                <a:ea typeface="楷体" panose="02010609060101010101" pitchFamily="49" charset="-122"/>
                <a:cs typeface="Times New Roman" panose="02020603050405020304" pitchFamily="18" charset="0"/>
              </a:rPr>
              <a:t>的平均</a:t>
            </a:r>
            <a:r>
              <a:rPr lang="en-US" altLang="zh-CN" kern="100" dirty="0" err="1">
                <a:effectLst/>
                <a:latin typeface="Times New Roman" panose="02020603050405020304" pitchFamily="18" charset="0"/>
                <a:ea typeface="楷体" panose="02010609060101010101" pitchFamily="49" charset="-122"/>
                <a:cs typeface="Times New Roman" panose="02020603050405020304" pitchFamily="18" charset="0"/>
              </a:rPr>
              <a:t>pAUC</a:t>
            </a:r>
            <a:r>
              <a:rPr lang="zh-CN" altLang="zh-CN" kern="100" dirty="0">
                <a:effectLst/>
                <a:latin typeface="Times New Roman" panose="02020603050405020304" pitchFamily="18" charset="0"/>
                <a:ea typeface="楷体" panose="02010609060101010101" pitchFamily="49" charset="-122"/>
                <a:cs typeface="Times New Roman" panose="02020603050405020304" pitchFamily="18" charset="0"/>
              </a:rPr>
              <a:t>性能</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036127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22</a:t>
            </a:fld>
            <a:endParaRPr lang="zh-CN" altLang="en-US" dirty="0"/>
          </a:p>
        </p:txBody>
      </p:sp>
      <p:sp>
        <p:nvSpPr>
          <p:cNvPr id="3" name="文本框 2">
            <a:extLst>
              <a:ext uri="{FF2B5EF4-FFF2-40B4-BE49-F238E27FC236}">
                <a16:creationId xmlns:a16="http://schemas.microsoft.com/office/drawing/2014/main" id="{1B12B3B6-EEDD-084E-C51A-644092222BCF}"/>
              </a:ext>
            </a:extLst>
          </p:cNvPr>
          <p:cNvSpPr txBox="1"/>
          <p:nvPr/>
        </p:nvSpPr>
        <p:spPr>
          <a:xfrm>
            <a:off x="3336764" y="431340"/>
            <a:ext cx="2414934" cy="461665"/>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CIFAR100-LT-4</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79E378F8-F8CD-99EB-0FEF-4E4FB8CDB755}"/>
              </a:ext>
            </a:extLst>
          </p:cNvPr>
          <p:cNvGraphicFramePr>
            <a:graphicFrameLocks noGrp="1"/>
          </p:cNvGraphicFramePr>
          <p:nvPr>
            <p:extLst>
              <p:ext uri="{D42A27DB-BD31-4B8C-83A1-F6EECF244321}">
                <p14:modId xmlns:p14="http://schemas.microsoft.com/office/powerpoint/2010/main" val="2101248743"/>
              </p:ext>
            </p:extLst>
          </p:nvPr>
        </p:nvGraphicFramePr>
        <p:xfrm>
          <a:off x="284723" y="1328633"/>
          <a:ext cx="7911008" cy="3996898"/>
        </p:xfrm>
        <a:graphic>
          <a:graphicData uri="http://schemas.openxmlformats.org/drawingml/2006/table">
            <a:tbl>
              <a:tblPr firstRow="1" firstCol="1" bandRow="1"/>
              <a:tblGrid>
                <a:gridCol w="1130144">
                  <a:extLst>
                    <a:ext uri="{9D8B030D-6E8A-4147-A177-3AD203B41FA5}">
                      <a16:colId xmlns:a16="http://schemas.microsoft.com/office/drawing/2014/main" val="1731421538"/>
                    </a:ext>
                  </a:extLst>
                </a:gridCol>
                <a:gridCol w="1130144">
                  <a:extLst>
                    <a:ext uri="{9D8B030D-6E8A-4147-A177-3AD203B41FA5}">
                      <a16:colId xmlns:a16="http://schemas.microsoft.com/office/drawing/2014/main" val="1671629030"/>
                    </a:ext>
                  </a:extLst>
                </a:gridCol>
                <a:gridCol w="1130144">
                  <a:extLst>
                    <a:ext uri="{9D8B030D-6E8A-4147-A177-3AD203B41FA5}">
                      <a16:colId xmlns:a16="http://schemas.microsoft.com/office/drawing/2014/main" val="2171756300"/>
                    </a:ext>
                  </a:extLst>
                </a:gridCol>
                <a:gridCol w="1130144">
                  <a:extLst>
                    <a:ext uri="{9D8B030D-6E8A-4147-A177-3AD203B41FA5}">
                      <a16:colId xmlns:a16="http://schemas.microsoft.com/office/drawing/2014/main" val="4020283886"/>
                    </a:ext>
                  </a:extLst>
                </a:gridCol>
                <a:gridCol w="1130144">
                  <a:extLst>
                    <a:ext uri="{9D8B030D-6E8A-4147-A177-3AD203B41FA5}">
                      <a16:colId xmlns:a16="http://schemas.microsoft.com/office/drawing/2014/main" val="1675707109"/>
                    </a:ext>
                  </a:extLst>
                </a:gridCol>
                <a:gridCol w="1130144">
                  <a:extLst>
                    <a:ext uri="{9D8B030D-6E8A-4147-A177-3AD203B41FA5}">
                      <a16:colId xmlns:a16="http://schemas.microsoft.com/office/drawing/2014/main" val="3051315564"/>
                    </a:ext>
                  </a:extLst>
                </a:gridCol>
                <a:gridCol w="1130144">
                  <a:extLst>
                    <a:ext uri="{9D8B030D-6E8A-4147-A177-3AD203B41FA5}">
                      <a16:colId xmlns:a16="http://schemas.microsoft.com/office/drawing/2014/main" val="3396398196"/>
                    </a:ext>
                  </a:extLst>
                </a:gridCol>
              </a:tblGrid>
              <a:tr h="329772">
                <a:tc>
                  <a:txBody>
                    <a:bodyPr/>
                    <a:lstStyle/>
                    <a:p>
                      <a:pPr algn="ctr"/>
                      <a:r>
                        <a:rPr lang="zh-CN" sz="1600" b="1" kern="100" dirty="0">
                          <a:effectLst/>
                          <a:latin typeface="楷体" panose="02010609060101010101" pitchFamily="49" charset="-122"/>
                          <a:ea typeface="楷体" panose="02010609060101010101" pitchFamily="49" charset="-122"/>
                          <a:cs typeface="Times New Roman" panose="02020603050405020304" pitchFamily="18" charset="0"/>
                        </a:rPr>
                        <a:t>指标</a:t>
                      </a:r>
                    </a:p>
                  </a:txBody>
                  <a:tcPr marL="68580" marR="68580" marT="0" marB="0" anchor="ctr">
                    <a:lnL>
                      <a:noFill/>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AUC</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b="1" kern="100" dirty="0" err="1">
                          <a:effectLst/>
                          <a:latin typeface="Times New Roman" panose="02020603050405020304" pitchFamily="18" charset="0"/>
                          <a:ea typeface="+mn-ea"/>
                          <a:cs typeface="Times New Roman" panose="02020603050405020304" pitchFamily="18" charset="0"/>
                        </a:rPr>
                        <a:t>pAUC</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AUC</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b="1" kern="100" dirty="0" err="1">
                          <a:effectLst/>
                          <a:latin typeface="Times New Roman" panose="02020603050405020304" pitchFamily="18" charset="0"/>
                          <a:ea typeface="+mn-ea"/>
                          <a:cs typeface="Times New Roman" panose="02020603050405020304" pitchFamily="18" charset="0"/>
                        </a:rPr>
                        <a:t>pAUC</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AUC</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1600" b="1" kern="100" dirty="0" err="1">
                          <a:effectLst/>
                          <a:latin typeface="Times New Roman" panose="02020603050405020304" pitchFamily="18" charset="0"/>
                          <a:ea typeface="+mn-ea"/>
                          <a:cs typeface="Times New Roman" panose="02020603050405020304" pitchFamily="18" charset="0"/>
                        </a:rPr>
                        <a:t>pAUC</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343511"/>
                  </a:ext>
                </a:extLst>
              </a:tr>
              <a:tr h="329772">
                <a:tc>
                  <a:txBody>
                    <a:bodyPr/>
                    <a:lstStyle/>
                    <a:p>
                      <a:pPr algn="ctr"/>
                      <a:r>
                        <a:rPr lang="zh-CN" sz="1600" b="1" kern="100" dirty="0">
                          <a:effectLst/>
                          <a:latin typeface="楷体" panose="02010609060101010101" pitchFamily="49" charset="-122"/>
                          <a:ea typeface="楷体" panose="02010609060101010101" pitchFamily="49" charset="-122"/>
                          <a:cs typeface="Times New Roman" panose="02020603050405020304" pitchFamily="18" charset="0"/>
                        </a:rPr>
                        <a:t>采样比例</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gridSpan="2">
                  <a:txBody>
                    <a:bodyPr/>
                    <a:lstStyle/>
                    <a:p>
                      <a:pPr algn="ctr"/>
                      <a:r>
                        <a:rPr lang="en-US" sz="1600" kern="100" dirty="0">
                          <a:effectLst/>
                          <a:latin typeface="Times New Roman" panose="02020603050405020304" pitchFamily="18" charset="0"/>
                          <a:ea typeface="+mn-ea"/>
                          <a:cs typeface="Times New Roman" panose="02020603050405020304" pitchFamily="18" charset="0"/>
                        </a:rPr>
                        <a:t>1:1</a:t>
                      </a:r>
                      <a:endParaRPr lang="zh-CN" sz="16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a:r>
                        <a:rPr lang="en-US" sz="1600" kern="100">
                          <a:effectLst/>
                          <a:latin typeface="Times New Roman" panose="02020603050405020304" pitchFamily="18" charset="0"/>
                          <a:ea typeface="+mn-ea"/>
                          <a:cs typeface="Times New Roman" panose="02020603050405020304" pitchFamily="18" charset="0"/>
                        </a:rPr>
                        <a:t>1:4</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a:r>
                        <a:rPr lang="en-US" sz="1600" kern="100">
                          <a:effectLst/>
                          <a:latin typeface="Times New Roman" panose="02020603050405020304" pitchFamily="18" charset="0"/>
                          <a:ea typeface="+mn-ea"/>
                          <a:cs typeface="Times New Roman" panose="02020603050405020304" pitchFamily="18" charset="0"/>
                        </a:rPr>
                        <a:t>1:9</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3734024757"/>
                  </a:ext>
                </a:extLst>
              </a:tr>
              <a:tr h="329772">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CBCE</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a:r>
                        <a:rPr lang="en-US" sz="1600" kern="100" dirty="0">
                          <a:effectLst/>
                          <a:latin typeface="Times New Roman" panose="02020603050405020304" pitchFamily="18" charset="0"/>
                          <a:ea typeface="+mn-ea"/>
                          <a:cs typeface="Times New Roman" panose="02020603050405020304" pitchFamily="18" charset="0"/>
                        </a:rPr>
                        <a:t>0.8294</a:t>
                      </a:r>
                      <a:endParaRPr lang="zh-CN" sz="16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0.4271</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0.8064</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0.3685</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0.7408</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0.2384</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a:noFill/>
                    </a:lnR>
                    <a:lnT w="190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570638290"/>
                  </a:ext>
                </a:extLst>
              </a:tr>
              <a:tr h="329772">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CE</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dirty="0">
                          <a:effectLst/>
                          <a:latin typeface="Times New Roman" panose="02020603050405020304" pitchFamily="18" charset="0"/>
                          <a:ea typeface="+mn-ea"/>
                          <a:cs typeface="Times New Roman" panose="02020603050405020304" pitchFamily="18" charset="0"/>
                        </a:rPr>
                        <a:t>0.8611</a:t>
                      </a:r>
                      <a:endParaRPr lang="zh-CN" sz="16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0.5225</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0.8624</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0.4876</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0.8118</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0.3733</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3112223774"/>
                  </a:ext>
                </a:extLst>
              </a:tr>
              <a:tr h="329772">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TPAUC</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dirty="0">
                          <a:effectLst/>
                          <a:latin typeface="Times New Roman" panose="02020603050405020304" pitchFamily="18" charset="0"/>
                          <a:ea typeface="+mn-ea"/>
                          <a:cs typeface="Times New Roman" panose="02020603050405020304" pitchFamily="18" charset="0"/>
                        </a:rPr>
                        <a:t>0.8832</a:t>
                      </a:r>
                      <a:endParaRPr lang="zh-CN" sz="16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0.5748</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0.8607</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0.5141</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0.8673</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0.5182</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4160224915"/>
                  </a:ext>
                </a:extLst>
              </a:tr>
              <a:tr h="514475">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DRO-AUC</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0.8911</a:t>
                      </a:r>
                      <a:endParaRPr lang="zh-CN" sz="16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tcPr>
                </a:tc>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0.6048</a:t>
                      </a:r>
                      <a:endParaRPr lang="zh-CN" sz="16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0.8697</a:t>
                      </a:r>
                      <a:endParaRPr lang="zh-CN" sz="16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mn-ea"/>
                          <a:cs typeface="Times New Roman" panose="02020603050405020304" pitchFamily="18" charset="0"/>
                        </a:rPr>
                        <a:t>0.5326</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mn-ea"/>
                          <a:cs typeface="Times New Roman" panose="02020603050405020304" pitchFamily="18" charset="0"/>
                        </a:rPr>
                        <a:t>0.8658</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mn-ea"/>
                          <a:cs typeface="Times New Roman" panose="02020603050405020304" pitchFamily="18" charset="0"/>
                        </a:rPr>
                        <a:t>0.5325</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a:noFill/>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1168796"/>
                  </a:ext>
                </a:extLst>
              </a:tr>
              <a:tr h="329772">
                <a:tc>
                  <a:txBody>
                    <a:bodyPr/>
                    <a:lstStyle/>
                    <a:p>
                      <a:pPr algn="ctr"/>
                      <a:r>
                        <a:rPr lang="zh-CN" sz="1600" b="1" kern="100" dirty="0">
                          <a:effectLst/>
                          <a:latin typeface="楷体" panose="02010609060101010101" pitchFamily="49" charset="-122"/>
                          <a:ea typeface="楷体" panose="02010609060101010101" pitchFamily="49" charset="-122"/>
                          <a:cs typeface="Times New Roman" panose="02020603050405020304" pitchFamily="18" charset="0"/>
                        </a:rPr>
                        <a:t>采样比例</a:t>
                      </a: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r>
                        <a:rPr lang="en-US" sz="1600" kern="100">
                          <a:effectLst/>
                          <a:latin typeface="Times New Roman" panose="02020603050405020304" pitchFamily="18" charset="0"/>
                          <a:ea typeface="+mn-ea"/>
                          <a:cs typeface="Times New Roman" panose="02020603050405020304" pitchFamily="18" charset="0"/>
                        </a:rPr>
                        <a:t>1:14</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a:r>
                        <a:rPr lang="en-US" sz="1600" kern="100">
                          <a:effectLst/>
                          <a:latin typeface="Times New Roman" panose="02020603050405020304" pitchFamily="18" charset="0"/>
                          <a:ea typeface="+mn-ea"/>
                          <a:cs typeface="Times New Roman" panose="02020603050405020304" pitchFamily="18" charset="0"/>
                        </a:rPr>
                        <a:t>1:19</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a:r>
                        <a:rPr lang="en-US" sz="1600" kern="100">
                          <a:effectLst/>
                          <a:latin typeface="Times New Roman" panose="02020603050405020304" pitchFamily="18" charset="0"/>
                          <a:ea typeface="+mn-ea"/>
                          <a:cs typeface="Times New Roman" panose="02020603050405020304" pitchFamily="18" charset="0"/>
                        </a:rPr>
                        <a:t>1:24</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886562670"/>
                  </a:ext>
                </a:extLst>
              </a:tr>
              <a:tr h="329772">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CBCE</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0.6902</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0.1671</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0.7310</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0.2297</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0.7239</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0.2247</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953998082"/>
                  </a:ext>
                </a:extLst>
              </a:tr>
              <a:tr h="329772">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CE</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0.7746</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0.2897</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0.7579</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0.2502</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0.7203</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0.2008</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1440986582"/>
                  </a:ext>
                </a:extLst>
              </a:tr>
              <a:tr h="329772">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TPAUC</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0.8488</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0.4850</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0.8455</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0.4615</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0.7964</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algn="ctr"/>
                      <a:r>
                        <a:rPr lang="en-US" sz="1600" kern="100">
                          <a:effectLst/>
                          <a:latin typeface="Times New Roman" panose="02020603050405020304" pitchFamily="18" charset="0"/>
                          <a:ea typeface="+mn-ea"/>
                          <a:cs typeface="Times New Roman" panose="02020603050405020304" pitchFamily="18" charset="0"/>
                        </a:rPr>
                        <a:t>0.3435</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3356144752"/>
                  </a:ext>
                </a:extLst>
              </a:tr>
              <a:tr h="514475">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DRO-AUC</a:t>
                      </a:r>
                      <a:endParaRPr lang="zh-CN" sz="1600" b="1" kern="100" dirty="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mn-ea"/>
                          <a:cs typeface="Times New Roman" panose="02020603050405020304" pitchFamily="18" charset="0"/>
                        </a:rPr>
                        <a:t>0.8566</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28575"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mn-ea"/>
                          <a:cs typeface="Times New Roman" panose="02020603050405020304" pitchFamily="18" charset="0"/>
                        </a:rPr>
                        <a:t>0.5094</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mn-ea"/>
                          <a:cs typeface="Times New Roman" panose="02020603050405020304" pitchFamily="18" charset="0"/>
                        </a:rPr>
                        <a:t>0.8482</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28575"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mn-ea"/>
                          <a:cs typeface="Times New Roman" panose="02020603050405020304" pitchFamily="18" charset="0"/>
                        </a:rPr>
                        <a:t>0.4810</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28575" cap="flat" cmpd="sng" algn="ctr">
                      <a:solidFill>
                        <a:srgbClr val="000000"/>
                      </a:solidFill>
                      <a:prstDash val="solid"/>
                      <a:round/>
                      <a:headEnd type="none" w="med" len="med"/>
                      <a:tailEnd type="none" w="med" len="med"/>
                    </a:lnB>
                  </a:tcPr>
                </a:tc>
                <a:tc>
                  <a:txBody>
                    <a:bodyPr/>
                    <a:lstStyle/>
                    <a:p>
                      <a:pPr algn="ctr"/>
                      <a:r>
                        <a:rPr lang="en-US" sz="1600" b="1" kern="100">
                          <a:effectLst/>
                          <a:latin typeface="Times New Roman" panose="02020603050405020304" pitchFamily="18" charset="0"/>
                          <a:ea typeface="+mn-ea"/>
                          <a:cs typeface="Times New Roman" panose="02020603050405020304" pitchFamily="18" charset="0"/>
                        </a:rPr>
                        <a:t>0.8349</a:t>
                      </a:r>
                      <a:endParaRPr lang="zh-CN" sz="1600" kern="100">
                        <a:effectLst/>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28575" cap="flat" cmpd="sng" algn="ctr">
                      <a:solidFill>
                        <a:srgbClr val="000000"/>
                      </a:solidFill>
                      <a:prstDash val="solid"/>
                      <a:round/>
                      <a:headEnd type="none" w="med" len="med"/>
                      <a:tailEnd type="none" w="med" len="med"/>
                    </a:lnB>
                  </a:tcPr>
                </a:tc>
                <a:tc>
                  <a:txBody>
                    <a:bodyPr/>
                    <a:lstStyle/>
                    <a:p>
                      <a:pPr algn="ctr"/>
                      <a:r>
                        <a:rPr lang="en-US" sz="1600" b="1" kern="100" dirty="0">
                          <a:effectLst/>
                          <a:latin typeface="Times New Roman" panose="02020603050405020304" pitchFamily="18" charset="0"/>
                          <a:ea typeface="+mn-ea"/>
                          <a:cs typeface="Times New Roman" panose="02020603050405020304" pitchFamily="18" charset="0"/>
                        </a:rPr>
                        <a:t>0.4540</a:t>
                      </a:r>
                      <a:endParaRPr lang="zh-CN" sz="1600" kern="100" dirty="0">
                        <a:effectLst/>
                        <a:latin typeface="Times New Roman" panose="02020603050405020304" pitchFamily="18" charset="0"/>
                        <a:ea typeface="+mn-ea"/>
                        <a:cs typeface="Times New Roman" panose="02020603050405020304" pitchFamily="18" charset="0"/>
                      </a:endParaRPr>
                    </a:p>
                  </a:txBody>
                  <a:tcPr marL="68580" marR="68580" marT="0" marB="0" anchor="ctr">
                    <a:lnL>
                      <a:noFill/>
                    </a:lnL>
                    <a:lnR>
                      <a:noFill/>
                    </a:lnR>
                    <a:lnT>
                      <a:noFill/>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339368"/>
                  </a:ext>
                </a:extLst>
              </a:tr>
            </a:tbl>
          </a:graphicData>
        </a:graphic>
      </p:graphicFrame>
      <p:sp>
        <p:nvSpPr>
          <p:cNvPr id="8" name="标题 1">
            <a:extLst>
              <a:ext uri="{FF2B5EF4-FFF2-40B4-BE49-F238E27FC236}">
                <a16:creationId xmlns:a16="http://schemas.microsoft.com/office/drawing/2014/main" id="{AE70D788-883E-3C2D-746F-9EFE235A1AEC}"/>
              </a:ext>
            </a:extLst>
          </p:cNvPr>
          <p:cNvSpPr>
            <a:spLocks noGrp="1"/>
          </p:cNvSpPr>
          <p:nvPr>
            <p:ph type="title"/>
          </p:nvPr>
        </p:nvSpPr>
        <p:spPr>
          <a:xfrm>
            <a:off x="337010" y="147314"/>
            <a:ext cx="5611305" cy="1029719"/>
          </a:xfrm>
        </p:spPr>
        <p:txBody>
          <a:bodyPr>
            <a:normAutofit/>
          </a:bodyPr>
          <a:lstStyle/>
          <a:p>
            <a:r>
              <a:rPr lang="zh-CN" altLang="en-US" sz="4000" b="1" dirty="0"/>
              <a:t>实验结果</a:t>
            </a:r>
          </a:p>
        </p:txBody>
      </p:sp>
      <p:cxnSp>
        <p:nvCxnSpPr>
          <p:cNvPr id="10" name="直接连接符 9">
            <a:extLst>
              <a:ext uri="{FF2B5EF4-FFF2-40B4-BE49-F238E27FC236}">
                <a16:creationId xmlns:a16="http://schemas.microsoft.com/office/drawing/2014/main" id="{8C458958-01A9-FF1E-6F95-77A469A6FFBE}"/>
              </a:ext>
            </a:extLst>
          </p:cNvPr>
          <p:cNvCxnSpPr>
            <a:cxnSpLocks/>
          </p:cNvCxnSpPr>
          <p:nvPr/>
        </p:nvCxnSpPr>
        <p:spPr>
          <a:xfrm>
            <a:off x="284723" y="1001040"/>
            <a:ext cx="2414934" cy="0"/>
          </a:xfrm>
          <a:prstGeom prst="line">
            <a:avLst/>
          </a:prstGeom>
          <a:ln w="28575"/>
        </p:spPr>
        <p:style>
          <a:lnRef idx="1">
            <a:schemeClr val="dk1"/>
          </a:lnRef>
          <a:fillRef idx="0">
            <a:schemeClr val="dk1"/>
          </a:fillRef>
          <a:effectRef idx="0">
            <a:schemeClr val="dk1"/>
          </a:effectRef>
          <a:fontRef idx="minor">
            <a:schemeClr val="tx1"/>
          </a:fontRef>
        </p:style>
      </p:cxnSp>
      <p:sp>
        <p:nvSpPr>
          <p:cNvPr id="11" name="文本框 10">
            <a:extLst>
              <a:ext uri="{FF2B5EF4-FFF2-40B4-BE49-F238E27FC236}">
                <a16:creationId xmlns:a16="http://schemas.microsoft.com/office/drawing/2014/main" id="{6BAB3BE4-1FBD-E8EF-F41B-62F0D13C638D}"/>
              </a:ext>
            </a:extLst>
          </p:cNvPr>
          <p:cNvSpPr txBox="1"/>
          <p:nvPr/>
        </p:nvSpPr>
        <p:spPr>
          <a:xfrm>
            <a:off x="8610600" y="1328633"/>
            <a:ext cx="3390122" cy="3590085"/>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a:spAutoFit/>
          </a:bodyPr>
          <a:lstStyle/>
          <a:p>
            <a:pPr marL="285750" indent="-285750" algn="just">
              <a:lnSpc>
                <a:spcPts val="2500"/>
              </a:lnSpc>
              <a:buFont typeface="Wingdings" panose="05000000000000000000" pitchFamily="2" charset="2"/>
              <a:buChar char="Ø"/>
            </a:pP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本文提出的</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DRO-AUC</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在五个</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CIFAR100-LT</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子数据集上达到了优异的效果，在</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1:24</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的采样比例下的</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AUC</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指标领先</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TPAUC</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平均约</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0.005</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，领先</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CE</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损失平均约</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0.08</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ts val="2500"/>
              </a:lnSpc>
              <a:buFont typeface="Wingdings" panose="05000000000000000000" pitchFamily="2" charset="2"/>
              <a:buChar char="Ø"/>
            </a:pPr>
            <a:endPar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endParaRPr>
          </a:p>
          <a:p>
            <a:pPr marL="285750" indent="-285750" algn="just">
              <a:lnSpc>
                <a:spcPts val="2500"/>
              </a:lnSpc>
              <a:buFont typeface="Wingdings" panose="05000000000000000000" pitchFamily="2" charset="2"/>
              <a:buChar char="Ø"/>
            </a:pP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在</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CIFAR10-LT-5</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上的</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AUC</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指标领先</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TPAUC</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约</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0.039</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，领先</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CE</a:t>
            </a:r>
            <a:r>
              <a:rPr lang="zh-CN" altLang="en-US" sz="2000" kern="100" dirty="0">
                <a:effectLst/>
                <a:latin typeface="Times New Roman" panose="02020603050405020304" pitchFamily="18" charset="0"/>
                <a:ea typeface="楷体" panose="02010609060101010101" pitchFamily="49" charset="-122"/>
                <a:cs typeface="Times New Roman" panose="02020603050405020304" pitchFamily="18" charset="0"/>
              </a:rPr>
              <a:t>约</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0.115</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3629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189CE-B008-F001-4E89-10E5D1FA8F56}"/>
              </a:ext>
            </a:extLst>
          </p:cNvPr>
          <p:cNvSpPr>
            <a:spLocks noGrp="1"/>
          </p:cNvSpPr>
          <p:nvPr>
            <p:ph type="title"/>
          </p:nvPr>
        </p:nvSpPr>
        <p:spPr>
          <a:xfrm>
            <a:off x="337010" y="147314"/>
            <a:ext cx="5611305" cy="1029719"/>
          </a:xfrm>
        </p:spPr>
        <p:txBody>
          <a:bodyPr>
            <a:normAutofit/>
          </a:bodyPr>
          <a:lstStyle/>
          <a:p>
            <a:r>
              <a:rPr lang="zh-CN" altLang="en-US" sz="4000" b="1" dirty="0"/>
              <a:t>实验结果</a:t>
            </a:r>
          </a:p>
        </p:txBody>
      </p:sp>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23</a:t>
            </a:fld>
            <a:endParaRPr lang="zh-CN" altLang="en-US" dirty="0"/>
          </a:p>
        </p:txBody>
      </p:sp>
      <p:cxnSp>
        <p:nvCxnSpPr>
          <p:cNvPr id="14" name="直接连接符 13">
            <a:extLst>
              <a:ext uri="{FF2B5EF4-FFF2-40B4-BE49-F238E27FC236}">
                <a16:creationId xmlns:a16="http://schemas.microsoft.com/office/drawing/2014/main" id="{A52245BC-E6B0-F7D8-74A7-14D2F143F257}"/>
              </a:ext>
            </a:extLst>
          </p:cNvPr>
          <p:cNvCxnSpPr>
            <a:cxnSpLocks/>
          </p:cNvCxnSpPr>
          <p:nvPr/>
        </p:nvCxnSpPr>
        <p:spPr>
          <a:xfrm>
            <a:off x="284723" y="1001040"/>
            <a:ext cx="2085253" cy="0"/>
          </a:xfrm>
          <a:prstGeom prst="line">
            <a:avLst/>
          </a:prstGeom>
          <a:ln w="28575"/>
        </p:spPr>
        <p:style>
          <a:lnRef idx="1">
            <a:schemeClr val="dk1"/>
          </a:lnRef>
          <a:fillRef idx="0">
            <a:schemeClr val="dk1"/>
          </a:fillRef>
          <a:effectRef idx="0">
            <a:schemeClr val="dk1"/>
          </a:effectRef>
          <a:fontRef idx="minor">
            <a:schemeClr val="tx1"/>
          </a:fontRef>
        </p:style>
      </p:cxnSp>
      <p:sp>
        <p:nvSpPr>
          <p:cNvPr id="3" name="文本框 2">
            <a:extLst>
              <a:ext uri="{FF2B5EF4-FFF2-40B4-BE49-F238E27FC236}">
                <a16:creationId xmlns:a16="http://schemas.microsoft.com/office/drawing/2014/main" id="{1B12B3B6-EEDD-084E-C51A-644092222BCF}"/>
              </a:ext>
            </a:extLst>
          </p:cNvPr>
          <p:cNvSpPr txBox="1"/>
          <p:nvPr/>
        </p:nvSpPr>
        <p:spPr>
          <a:xfrm>
            <a:off x="3176530" y="431340"/>
            <a:ext cx="2085253" cy="461665"/>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CIFAR100-LT</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7" name="文本框 6">
            <a:extLst>
              <a:ext uri="{FF2B5EF4-FFF2-40B4-BE49-F238E27FC236}">
                <a16:creationId xmlns:a16="http://schemas.microsoft.com/office/drawing/2014/main" id="{B1DDFCF9-B7F4-2F9C-868E-02C588C4249B}"/>
              </a:ext>
            </a:extLst>
          </p:cNvPr>
          <p:cNvSpPr txBox="1"/>
          <p:nvPr/>
        </p:nvSpPr>
        <p:spPr>
          <a:xfrm>
            <a:off x="1752318" y="4307796"/>
            <a:ext cx="3240833" cy="338554"/>
          </a:xfrm>
          <a:prstGeom prst="rect">
            <a:avLst/>
          </a:prstGeom>
          <a:noFill/>
        </p:spPr>
        <p:txBody>
          <a:bodyPr wrap="square">
            <a:spAutoFit/>
          </a:bodyPr>
          <a:lstStyle/>
          <a:p>
            <a:r>
              <a:rPr lang="en-US" altLang="zh-CN" sz="1600" kern="100" dirty="0">
                <a:effectLst/>
                <a:latin typeface="Times New Roman" panose="02020603050405020304" pitchFamily="18" charset="0"/>
                <a:ea typeface="楷体" panose="02010609060101010101" pitchFamily="49" charset="-122"/>
                <a:cs typeface="Times New Roman" panose="02020603050405020304" pitchFamily="18" charset="0"/>
              </a:rPr>
              <a:t>CIFAR-100-LT</a:t>
            </a:r>
            <a:r>
              <a:rPr lang="zh-CN" altLang="zh-CN" sz="1600" kern="100" dirty="0">
                <a:effectLst/>
                <a:latin typeface="Times New Roman" panose="02020603050405020304" pitchFamily="18" charset="0"/>
                <a:ea typeface="楷体" panose="02010609060101010101" pitchFamily="49" charset="-122"/>
                <a:cs typeface="Times New Roman" panose="02020603050405020304" pitchFamily="18" charset="0"/>
              </a:rPr>
              <a:t>的平均</a:t>
            </a:r>
            <a:r>
              <a:rPr lang="en-US" altLang="zh-CN" sz="1600" kern="100" dirty="0">
                <a:effectLst/>
                <a:latin typeface="Times New Roman" panose="02020603050405020304" pitchFamily="18" charset="0"/>
                <a:ea typeface="楷体" panose="02010609060101010101" pitchFamily="49" charset="-122"/>
                <a:cs typeface="Times New Roman" panose="02020603050405020304" pitchFamily="18" charset="0"/>
              </a:rPr>
              <a:t>AUC</a:t>
            </a:r>
            <a:r>
              <a:rPr lang="zh-CN" altLang="zh-CN" sz="1600" kern="100" dirty="0">
                <a:effectLst/>
                <a:latin typeface="Times New Roman" panose="02020603050405020304" pitchFamily="18" charset="0"/>
                <a:ea typeface="楷体" panose="02010609060101010101" pitchFamily="49" charset="-122"/>
                <a:cs typeface="Times New Roman" panose="02020603050405020304" pitchFamily="18" charset="0"/>
              </a:rPr>
              <a:t>性能</a:t>
            </a:r>
            <a:endParaRPr lang="zh-CN" alt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6" name="图表 5">
            <a:extLst>
              <a:ext uri="{FF2B5EF4-FFF2-40B4-BE49-F238E27FC236}">
                <a16:creationId xmlns:a16="http://schemas.microsoft.com/office/drawing/2014/main" id="{46FD63C8-1804-748D-E776-322DB7DBC625}"/>
              </a:ext>
            </a:extLst>
          </p:cNvPr>
          <p:cNvGraphicFramePr/>
          <p:nvPr>
            <p:extLst>
              <p:ext uri="{D42A27DB-BD31-4B8C-83A1-F6EECF244321}">
                <p14:modId xmlns:p14="http://schemas.microsoft.com/office/powerpoint/2010/main" val="632779552"/>
              </p:ext>
            </p:extLst>
          </p:nvPr>
        </p:nvGraphicFramePr>
        <p:xfrm>
          <a:off x="500773" y="1132281"/>
          <a:ext cx="5153858" cy="315910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图表 9">
            <a:extLst>
              <a:ext uri="{FF2B5EF4-FFF2-40B4-BE49-F238E27FC236}">
                <a16:creationId xmlns:a16="http://schemas.microsoft.com/office/drawing/2014/main" id="{82B904CF-D7C7-52A9-F668-7F1D4AAE082C}"/>
              </a:ext>
            </a:extLst>
          </p:cNvPr>
          <p:cNvGraphicFramePr/>
          <p:nvPr>
            <p:extLst>
              <p:ext uri="{D42A27DB-BD31-4B8C-83A1-F6EECF244321}">
                <p14:modId xmlns:p14="http://schemas.microsoft.com/office/powerpoint/2010/main" val="1507122287"/>
              </p:ext>
            </p:extLst>
          </p:nvPr>
        </p:nvGraphicFramePr>
        <p:xfrm>
          <a:off x="6095999" y="1140752"/>
          <a:ext cx="5046134" cy="3159101"/>
        </p:xfrm>
        <a:graphic>
          <a:graphicData uri="http://schemas.openxmlformats.org/drawingml/2006/chart">
            <c:chart xmlns:c="http://schemas.openxmlformats.org/drawingml/2006/chart" xmlns:r="http://schemas.openxmlformats.org/officeDocument/2006/relationships" r:id="rId3"/>
          </a:graphicData>
        </a:graphic>
      </p:graphicFrame>
      <p:sp>
        <p:nvSpPr>
          <p:cNvPr id="12" name="文本框 11">
            <a:extLst>
              <a:ext uri="{FF2B5EF4-FFF2-40B4-BE49-F238E27FC236}">
                <a16:creationId xmlns:a16="http://schemas.microsoft.com/office/drawing/2014/main" id="{BE7EBA52-226B-4EA0-91BD-323DDEFB0235}"/>
              </a:ext>
            </a:extLst>
          </p:cNvPr>
          <p:cNvSpPr txBox="1"/>
          <p:nvPr/>
        </p:nvSpPr>
        <p:spPr>
          <a:xfrm>
            <a:off x="7198849" y="4319395"/>
            <a:ext cx="3240833" cy="338554"/>
          </a:xfrm>
          <a:prstGeom prst="rect">
            <a:avLst/>
          </a:prstGeom>
          <a:noFill/>
        </p:spPr>
        <p:txBody>
          <a:bodyPr wrap="square">
            <a:spAutoFit/>
          </a:bodyPr>
          <a:lstStyle/>
          <a:p>
            <a:r>
              <a:rPr lang="en-US" altLang="zh-CN" sz="1600" kern="100" dirty="0">
                <a:effectLst/>
                <a:latin typeface="Times New Roman" panose="02020603050405020304" pitchFamily="18" charset="0"/>
                <a:ea typeface="楷体" panose="02010609060101010101" pitchFamily="49" charset="-122"/>
                <a:cs typeface="Times New Roman" panose="02020603050405020304" pitchFamily="18" charset="0"/>
              </a:rPr>
              <a:t>CIFAR-100-LT</a:t>
            </a:r>
            <a:r>
              <a:rPr lang="zh-CN" altLang="zh-CN" sz="1600" kern="100" dirty="0">
                <a:effectLst/>
                <a:latin typeface="Times New Roman" panose="02020603050405020304" pitchFamily="18" charset="0"/>
                <a:ea typeface="楷体" panose="02010609060101010101" pitchFamily="49" charset="-122"/>
                <a:cs typeface="Times New Roman" panose="02020603050405020304" pitchFamily="18" charset="0"/>
              </a:rPr>
              <a:t>的平均</a:t>
            </a:r>
            <a:r>
              <a:rPr lang="en-US" altLang="zh-CN" sz="1600" kern="100" dirty="0" err="1">
                <a:effectLst/>
                <a:latin typeface="Times New Roman" panose="02020603050405020304" pitchFamily="18" charset="0"/>
                <a:ea typeface="楷体" panose="02010609060101010101" pitchFamily="49" charset="-122"/>
                <a:cs typeface="Times New Roman" panose="02020603050405020304" pitchFamily="18" charset="0"/>
              </a:rPr>
              <a:t>pAUC</a:t>
            </a:r>
            <a:r>
              <a:rPr lang="zh-CN" altLang="zh-CN" sz="1600" kern="100" dirty="0">
                <a:effectLst/>
                <a:latin typeface="Times New Roman" panose="02020603050405020304" pitchFamily="18" charset="0"/>
                <a:ea typeface="楷体" panose="02010609060101010101" pitchFamily="49" charset="-122"/>
                <a:cs typeface="Times New Roman" panose="02020603050405020304" pitchFamily="18" charset="0"/>
              </a:rPr>
              <a:t>性能</a:t>
            </a:r>
            <a:endParaRPr lang="zh-CN" altLang="en-US"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文本框 14">
            <a:extLst>
              <a:ext uri="{FF2B5EF4-FFF2-40B4-BE49-F238E27FC236}">
                <a16:creationId xmlns:a16="http://schemas.microsoft.com/office/drawing/2014/main" id="{AC4092AF-7082-DE26-A78C-33FEB5D2D744}"/>
              </a:ext>
            </a:extLst>
          </p:cNvPr>
          <p:cNvSpPr txBox="1"/>
          <p:nvPr/>
        </p:nvSpPr>
        <p:spPr>
          <a:xfrm>
            <a:off x="816217" y="4924009"/>
            <a:ext cx="10025831" cy="704680"/>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a:spAutoFit/>
          </a:bodyPr>
          <a:lstStyle/>
          <a:p>
            <a:pPr marL="285750" indent="-285750">
              <a:lnSpc>
                <a:spcPts val="2500"/>
              </a:lnSpc>
              <a:buFont typeface="Wingdings" panose="05000000000000000000" pitchFamily="2" charset="2"/>
              <a:buChar char="Ø"/>
            </a:pP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在极端采样比例</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1:24</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下，</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DRO-AUC</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的</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AUC</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指标在</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CIFAR100-LT</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的部分子集上超出</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CE</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损失的方法达到</a:t>
            </a:r>
            <a:r>
              <a:rPr lang="en-US"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0.1</a:t>
            </a:r>
            <a:r>
              <a:rPr lang="zh-CN" altLang="zh-CN" sz="2000" kern="100" dirty="0">
                <a:effectLst/>
                <a:latin typeface="Times New Roman" panose="02020603050405020304" pitchFamily="18" charset="0"/>
                <a:ea typeface="楷体" panose="02010609060101010101" pitchFamily="49" charset="-122"/>
                <a:cs typeface="Times New Roman" panose="02020603050405020304" pitchFamily="18" charset="0"/>
              </a:rPr>
              <a:t>，二者性能差距巨大</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498750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A6662D-FB78-9A9E-0F4A-81EEE71E2315}"/>
              </a:ext>
            </a:extLst>
          </p:cNvPr>
          <p:cNvSpPr>
            <a:spLocks noGrp="1"/>
          </p:cNvSpPr>
          <p:nvPr>
            <p:ph type="ctrTitle"/>
          </p:nvPr>
        </p:nvSpPr>
        <p:spPr>
          <a:xfrm>
            <a:off x="1524000" y="2133600"/>
            <a:ext cx="9144000" cy="1170640"/>
          </a:xfrm>
        </p:spPr>
        <p:txBody>
          <a:bodyPr>
            <a:normAutofit/>
          </a:bodyPr>
          <a:lstStyle/>
          <a:p>
            <a:r>
              <a:rPr lang="en-US" altLang="zh-CN" sz="5400" b="1" dirty="0"/>
              <a:t>5  </a:t>
            </a:r>
            <a:r>
              <a:rPr lang="zh-CN" altLang="en-US" sz="5400" b="1" dirty="0"/>
              <a:t>总结与展望</a:t>
            </a:r>
          </a:p>
        </p:txBody>
      </p:sp>
      <p:sp>
        <p:nvSpPr>
          <p:cNvPr id="4" name="灯片编号占位符 3">
            <a:extLst>
              <a:ext uri="{FF2B5EF4-FFF2-40B4-BE49-F238E27FC236}">
                <a16:creationId xmlns:a16="http://schemas.microsoft.com/office/drawing/2014/main" id="{B35D4A2F-1955-46D8-2A12-84F29DF3C15A}"/>
              </a:ext>
            </a:extLst>
          </p:cNvPr>
          <p:cNvSpPr>
            <a:spLocks noGrp="1"/>
          </p:cNvSpPr>
          <p:nvPr>
            <p:ph type="sldNum" sz="quarter" idx="12"/>
          </p:nvPr>
        </p:nvSpPr>
        <p:spPr/>
        <p:txBody>
          <a:bodyPr/>
          <a:lstStyle/>
          <a:p>
            <a:fld id="{A290DF1A-1B4B-4FE9-B9C1-10AC9C5D423D}" type="slidenum">
              <a:rPr lang="zh-CN" altLang="en-US" smtClean="0"/>
              <a:t>24</a:t>
            </a:fld>
            <a:endParaRPr lang="zh-CN" altLang="en-US" dirty="0"/>
          </a:p>
        </p:txBody>
      </p:sp>
      <p:cxnSp>
        <p:nvCxnSpPr>
          <p:cNvPr id="3" name="直接连接符 2">
            <a:extLst>
              <a:ext uri="{FF2B5EF4-FFF2-40B4-BE49-F238E27FC236}">
                <a16:creationId xmlns:a16="http://schemas.microsoft.com/office/drawing/2014/main" id="{7309E07E-3374-1A0B-C6B3-472A66FF56D9}"/>
              </a:ext>
            </a:extLst>
          </p:cNvPr>
          <p:cNvCxnSpPr>
            <a:cxnSpLocks/>
          </p:cNvCxnSpPr>
          <p:nvPr/>
        </p:nvCxnSpPr>
        <p:spPr>
          <a:xfrm>
            <a:off x="4004733" y="3397139"/>
            <a:ext cx="4250267" cy="0"/>
          </a:xfrm>
          <a:prstGeom prst="line">
            <a:avLst/>
          </a:prstGeom>
          <a:ln w="12700"/>
        </p:spPr>
        <p:style>
          <a:lnRef idx="1">
            <a:schemeClr val="dk1"/>
          </a:lnRef>
          <a:fillRef idx="0">
            <a:schemeClr val="dk1"/>
          </a:fillRef>
          <a:effectRef idx="0">
            <a:schemeClr val="dk1"/>
          </a:effectRef>
          <a:fontRef idx="minor">
            <a:schemeClr val="tx1"/>
          </a:fontRef>
        </p:style>
      </p:cxnSp>
      <p:sp>
        <p:nvSpPr>
          <p:cNvPr id="5" name="文本框 4">
            <a:extLst>
              <a:ext uri="{FF2B5EF4-FFF2-40B4-BE49-F238E27FC236}">
                <a16:creationId xmlns:a16="http://schemas.microsoft.com/office/drawing/2014/main" id="{84F83633-B117-F9AD-52DF-E9160B5FE358}"/>
              </a:ext>
            </a:extLst>
          </p:cNvPr>
          <p:cNvSpPr txBox="1"/>
          <p:nvPr/>
        </p:nvSpPr>
        <p:spPr>
          <a:xfrm>
            <a:off x="5246046" y="3497273"/>
            <a:ext cx="1412040"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总结</a:t>
            </a:r>
          </a:p>
        </p:txBody>
      </p:sp>
      <p:sp>
        <p:nvSpPr>
          <p:cNvPr id="6" name="文本框 5">
            <a:extLst>
              <a:ext uri="{FF2B5EF4-FFF2-40B4-BE49-F238E27FC236}">
                <a16:creationId xmlns:a16="http://schemas.microsoft.com/office/drawing/2014/main" id="{4422975E-C451-129C-8650-1B392B92DD0B}"/>
              </a:ext>
            </a:extLst>
          </p:cNvPr>
          <p:cNvSpPr txBox="1"/>
          <p:nvPr/>
        </p:nvSpPr>
        <p:spPr>
          <a:xfrm>
            <a:off x="6390631" y="3490039"/>
            <a:ext cx="1530211" cy="461665"/>
          </a:xfrm>
          <a:prstGeom prst="rect">
            <a:avLst/>
          </a:prstGeom>
          <a:noFill/>
        </p:spPr>
        <p:txBody>
          <a:bodyPr wrap="square" rtlCol="0">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展望</a:t>
            </a:r>
          </a:p>
        </p:txBody>
      </p:sp>
      <p:cxnSp>
        <p:nvCxnSpPr>
          <p:cNvPr id="7" name="直接连接符 6">
            <a:extLst>
              <a:ext uri="{FF2B5EF4-FFF2-40B4-BE49-F238E27FC236}">
                <a16:creationId xmlns:a16="http://schemas.microsoft.com/office/drawing/2014/main" id="{81E4F79F-E7A5-3203-87BC-9DA4159D7FAE}"/>
              </a:ext>
            </a:extLst>
          </p:cNvPr>
          <p:cNvCxnSpPr>
            <a:cxnSpLocks/>
          </p:cNvCxnSpPr>
          <p:nvPr/>
        </p:nvCxnSpPr>
        <p:spPr>
          <a:xfrm>
            <a:off x="6200891" y="3559210"/>
            <a:ext cx="0" cy="358435"/>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39056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189CE-B008-F001-4E89-10E5D1FA8F56}"/>
              </a:ext>
            </a:extLst>
          </p:cNvPr>
          <p:cNvSpPr>
            <a:spLocks noGrp="1"/>
          </p:cNvSpPr>
          <p:nvPr>
            <p:ph type="title"/>
          </p:nvPr>
        </p:nvSpPr>
        <p:spPr>
          <a:xfrm>
            <a:off x="468983" y="194448"/>
            <a:ext cx="2700340" cy="1029719"/>
          </a:xfrm>
        </p:spPr>
        <p:txBody>
          <a:bodyPr>
            <a:noAutofit/>
          </a:bodyPr>
          <a:lstStyle/>
          <a:p>
            <a:r>
              <a:rPr lang="zh-CN" altLang="en-US" sz="3600" b="1" dirty="0"/>
              <a:t>总结与展望</a:t>
            </a:r>
          </a:p>
        </p:txBody>
      </p:sp>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25</a:t>
            </a:fld>
            <a:endParaRPr lang="zh-CN" altLang="en-US" dirty="0"/>
          </a:p>
        </p:txBody>
      </p:sp>
      <p:cxnSp>
        <p:nvCxnSpPr>
          <p:cNvPr id="14" name="直接连接符 13">
            <a:extLst>
              <a:ext uri="{FF2B5EF4-FFF2-40B4-BE49-F238E27FC236}">
                <a16:creationId xmlns:a16="http://schemas.microsoft.com/office/drawing/2014/main" id="{A52245BC-E6B0-F7D8-74A7-14D2F143F257}"/>
              </a:ext>
            </a:extLst>
          </p:cNvPr>
          <p:cNvCxnSpPr>
            <a:cxnSpLocks/>
          </p:cNvCxnSpPr>
          <p:nvPr/>
        </p:nvCxnSpPr>
        <p:spPr>
          <a:xfrm>
            <a:off x="416696" y="1048174"/>
            <a:ext cx="2752627" cy="0"/>
          </a:xfrm>
          <a:prstGeom prst="line">
            <a:avLst/>
          </a:prstGeom>
          <a:ln w="28575"/>
        </p:spPr>
        <p:style>
          <a:lnRef idx="1">
            <a:schemeClr val="dk1"/>
          </a:lnRef>
          <a:fillRef idx="0">
            <a:schemeClr val="dk1"/>
          </a:fillRef>
          <a:effectRef idx="0">
            <a:schemeClr val="dk1"/>
          </a:effectRef>
          <a:fontRef idx="minor">
            <a:schemeClr val="tx1"/>
          </a:fontRef>
        </p:style>
      </p:cxnSp>
      <p:sp>
        <p:nvSpPr>
          <p:cNvPr id="4" name="文本框 3">
            <a:extLst>
              <a:ext uri="{FF2B5EF4-FFF2-40B4-BE49-F238E27FC236}">
                <a16:creationId xmlns:a16="http://schemas.microsoft.com/office/drawing/2014/main" id="{66DB8C08-3269-FA32-499A-F6DDF4B2EDED}"/>
              </a:ext>
            </a:extLst>
          </p:cNvPr>
          <p:cNvSpPr txBox="1"/>
          <p:nvPr/>
        </p:nvSpPr>
        <p:spPr>
          <a:xfrm>
            <a:off x="646677" y="2018626"/>
            <a:ext cx="10495456" cy="2595839"/>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针对</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AUC</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设计的优化方法，在长尾数据分布情况下的性能</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显著</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超过基于交叉熵</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CE</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的损失函数，</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AUC</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指标的差距接近 </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0.1</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lnSpc>
                <a:spcPct val="150000"/>
              </a:lnSpc>
              <a:buFont typeface="Wingdings" panose="05000000000000000000" pitchFamily="2" charset="2"/>
              <a:buChar char="Ø"/>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将鲁棒优化的思想应用到</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AUC</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计算中，在</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极端分布</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下，训练集和测试集分布差异大，比例严重失调，仍然能够保持模型性能</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6F755DE7-6B1B-AF5B-4129-D9F164F2AA4A}"/>
              </a:ext>
            </a:extLst>
          </p:cNvPr>
          <p:cNvSpPr txBox="1"/>
          <p:nvPr/>
        </p:nvSpPr>
        <p:spPr>
          <a:xfrm>
            <a:off x="468984" y="1224167"/>
            <a:ext cx="831082" cy="461665"/>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总结</a:t>
            </a:r>
          </a:p>
        </p:txBody>
      </p:sp>
    </p:spTree>
    <p:extLst>
      <p:ext uri="{BB962C8B-B14F-4D97-AF65-F5344CB8AC3E}">
        <p14:creationId xmlns:p14="http://schemas.microsoft.com/office/powerpoint/2010/main" val="20074626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189CE-B008-F001-4E89-10E5D1FA8F56}"/>
              </a:ext>
            </a:extLst>
          </p:cNvPr>
          <p:cNvSpPr>
            <a:spLocks noGrp="1"/>
          </p:cNvSpPr>
          <p:nvPr>
            <p:ph type="title"/>
          </p:nvPr>
        </p:nvSpPr>
        <p:spPr>
          <a:xfrm>
            <a:off x="468982" y="194448"/>
            <a:ext cx="2604417" cy="1029719"/>
          </a:xfrm>
        </p:spPr>
        <p:txBody>
          <a:bodyPr>
            <a:noAutofit/>
          </a:bodyPr>
          <a:lstStyle/>
          <a:p>
            <a:r>
              <a:rPr lang="zh-CN" altLang="en-US" sz="3600" b="1" dirty="0"/>
              <a:t>总结与展望</a:t>
            </a:r>
          </a:p>
        </p:txBody>
      </p:sp>
      <p:sp>
        <p:nvSpPr>
          <p:cNvPr id="9" name="灯片编号占位符 8">
            <a:extLst>
              <a:ext uri="{FF2B5EF4-FFF2-40B4-BE49-F238E27FC236}">
                <a16:creationId xmlns:a16="http://schemas.microsoft.com/office/drawing/2014/main" id="{EA2BAE7C-C39F-45E5-754B-2F7F3A1841FA}"/>
              </a:ext>
            </a:extLst>
          </p:cNvPr>
          <p:cNvSpPr>
            <a:spLocks noGrp="1"/>
          </p:cNvSpPr>
          <p:nvPr>
            <p:ph type="sldNum" sz="quarter" idx="12"/>
          </p:nvPr>
        </p:nvSpPr>
        <p:spPr/>
        <p:txBody>
          <a:bodyPr/>
          <a:lstStyle/>
          <a:p>
            <a:fld id="{A290DF1A-1B4B-4FE9-B9C1-10AC9C5D423D}" type="slidenum">
              <a:rPr lang="zh-CN" altLang="en-US" smtClean="0"/>
              <a:t>26</a:t>
            </a:fld>
            <a:endParaRPr lang="zh-CN" altLang="en-US" dirty="0"/>
          </a:p>
        </p:txBody>
      </p:sp>
      <p:cxnSp>
        <p:nvCxnSpPr>
          <p:cNvPr id="14" name="直接连接符 13">
            <a:extLst>
              <a:ext uri="{FF2B5EF4-FFF2-40B4-BE49-F238E27FC236}">
                <a16:creationId xmlns:a16="http://schemas.microsoft.com/office/drawing/2014/main" id="{A52245BC-E6B0-F7D8-74A7-14D2F143F257}"/>
              </a:ext>
            </a:extLst>
          </p:cNvPr>
          <p:cNvCxnSpPr>
            <a:cxnSpLocks/>
          </p:cNvCxnSpPr>
          <p:nvPr/>
        </p:nvCxnSpPr>
        <p:spPr>
          <a:xfrm>
            <a:off x="416696" y="1048174"/>
            <a:ext cx="2752627" cy="0"/>
          </a:xfrm>
          <a:prstGeom prst="line">
            <a:avLst/>
          </a:prstGeom>
          <a:ln w="28575"/>
        </p:spPr>
        <p:style>
          <a:lnRef idx="1">
            <a:schemeClr val="dk1"/>
          </a:lnRef>
          <a:fillRef idx="0">
            <a:schemeClr val="dk1"/>
          </a:fillRef>
          <a:effectRef idx="0">
            <a:schemeClr val="dk1"/>
          </a:effectRef>
          <a:fontRef idx="minor">
            <a:schemeClr val="tx1"/>
          </a:fontRef>
        </p:style>
      </p:cxnSp>
      <p:sp>
        <p:nvSpPr>
          <p:cNvPr id="4" name="文本框 3">
            <a:extLst>
              <a:ext uri="{FF2B5EF4-FFF2-40B4-BE49-F238E27FC236}">
                <a16:creationId xmlns:a16="http://schemas.microsoft.com/office/drawing/2014/main" id="{66DB8C08-3269-FA32-499A-F6DDF4B2EDED}"/>
              </a:ext>
            </a:extLst>
          </p:cNvPr>
          <p:cNvSpPr txBox="1"/>
          <p:nvPr/>
        </p:nvSpPr>
        <p:spPr>
          <a:xfrm>
            <a:off x="964126" y="2077893"/>
            <a:ext cx="4005807" cy="65684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在</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复杂问题</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上的延伸</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6F755DE7-6B1B-AF5B-4129-D9F164F2AA4A}"/>
              </a:ext>
            </a:extLst>
          </p:cNvPr>
          <p:cNvSpPr txBox="1"/>
          <p:nvPr/>
        </p:nvSpPr>
        <p:spPr>
          <a:xfrm>
            <a:off x="468984" y="1224167"/>
            <a:ext cx="831082" cy="461665"/>
          </a:xfrm>
          <a:prstGeom prst="rect">
            <a:avLst/>
          </a:prstGeom>
          <a:solidFill>
            <a:schemeClr val="accent6">
              <a:lumMod val="20000"/>
              <a:lumOff val="80000"/>
            </a:schemeClr>
          </a:solidFill>
          <a:ln>
            <a:noFill/>
          </a:ln>
          <a:effectLst>
            <a:outerShdw blurRad="57785" dist="33020" dir="3180000" algn="ctr">
              <a:srgbClr val="000000">
                <a:alpha val="30000"/>
              </a:srgbClr>
            </a:outerShdw>
            <a:softEdge rad="12700"/>
          </a:effectLst>
          <a:scene3d>
            <a:camera prst="orthographicFront">
              <a:rot lat="0" lon="0" rev="0"/>
            </a:camera>
            <a:lightRig rig="brightRoom" dir="t">
              <a:rot lat="0" lon="0" rev="600000"/>
            </a:lightRig>
          </a:scene3d>
          <a:sp3d prstMaterial="metal"/>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展望</a:t>
            </a:r>
          </a:p>
        </p:txBody>
      </p:sp>
      <p:sp>
        <p:nvSpPr>
          <p:cNvPr id="6" name="文本框 5">
            <a:extLst>
              <a:ext uri="{FF2B5EF4-FFF2-40B4-BE49-F238E27FC236}">
                <a16:creationId xmlns:a16="http://schemas.microsoft.com/office/drawing/2014/main" id="{60FB2857-953D-91BD-E6A1-67321E3C4871}"/>
              </a:ext>
            </a:extLst>
          </p:cNvPr>
          <p:cNvSpPr txBox="1"/>
          <p:nvPr/>
        </p:nvSpPr>
        <p:spPr>
          <a:xfrm>
            <a:off x="1421381" y="3004141"/>
            <a:ext cx="2335745" cy="2238241"/>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rtlCol="0">
            <a:spAutoFit/>
          </a:bodyPr>
          <a:lstStyle/>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域适应</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开放类识别</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无监督</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大规模多分类</a:t>
            </a:r>
          </a:p>
        </p:txBody>
      </p:sp>
      <p:sp>
        <p:nvSpPr>
          <p:cNvPr id="10" name="文本框 9">
            <a:extLst>
              <a:ext uri="{FF2B5EF4-FFF2-40B4-BE49-F238E27FC236}">
                <a16:creationId xmlns:a16="http://schemas.microsoft.com/office/drawing/2014/main" id="{E4A6A5A9-459F-5042-CDDD-B1EABB41A378}"/>
              </a:ext>
            </a:extLst>
          </p:cNvPr>
          <p:cNvSpPr txBox="1"/>
          <p:nvPr/>
        </p:nvSpPr>
        <p:spPr>
          <a:xfrm>
            <a:off x="5921845" y="3004141"/>
            <a:ext cx="3558145" cy="2238241"/>
          </a:xfrm>
          <a:prstGeom prst="rect">
            <a:avLst/>
          </a:prstGeom>
          <a:solidFill>
            <a:schemeClr val="accent1">
              <a:lumMod val="20000"/>
              <a:lumOff val="80000"/>
            </a:schemeClr>
          </a:solidFill>
          <a:effectLst>
            <a:outerShdw blurRad="50800" dist="38100" dir="2700000" algn="tl" rotWithShape="0">
              <a:prstClr val="black">
                <a:alpha val="40000"/>
              </a:prstClr>
            </a:outerShdw>
          </a:effectLst>
        </p:spPr>
        <p:txBody>
          <a:bodyPr wrap="square" rtlCol="0">
            <a:spAutoFit/>
          </a:bodyPr>
          <a:lstStyle/>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可扩展性</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过参数化的影响</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代理损失函数的一致性</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50000"/>
              </a:lnSpc>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公平约束的</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AUC</a:t>
            </a:r>
            <a:endParaRPr lang="zh-CN" altLang="en-US" sz="2400" b="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1" name="文本框 10">
            <a:extLst>
              <a:ext uri="{FF2B5EF4-FFF2-40B4-BE49-F238E27FC236}">
                <a16:creationId xmlns:a16="http://schemas.microsoft.com/office/drawing/2014/main" id="{A7EC08A6-268C-1863-801B-14145710091C}"/>
              </a:ext>
            </a:extLst>
          </p:cNvPr>
          <p:cNvSpPr txBox="1"/>
          <p:nvPr/>
        </p:nvSpPr>
        <p:spPr>
          <a:xfrm>
            <a:off x="5564118" y="2071974"/>
            <a:ext cx="3558145" cy="65684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相关优化理论</a:t>
            </a:r>
            <a:endParaRPr lang="en-US" altLang="zh-CN" sz="28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353155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A6662D-FB78-9A9E-0F4A-81EEE71E2315}"/>
              </a:ext>
            </a:extLst>
          </p:cNvPr>
          <p:cNvSpPr>
            <a:spLocks noGrp="1"/>
          </p:cNvSpPr>
          <p:nvPr>
            <p:ph type="ctrTitle"/>
          </p:nvPr>
        </p:nvSpPr>
        <p:spPr>
          <a:xfrm>
            <a:off x="1524000" y="2127074"/>
            <a:ext cx="9144000" cy="1170640"/>
          </a:xfrm>
        </p:spPr>
        <p:txBody>
          <a:bodyPr>
            <a:normAutofit/>
          </a:bodyPr>
          <a:lstStyle/>
          <a:p>
            <a:r>
              <a:rPr lang="zh-CN" altLang="en-US" sz="5400" b="1" dirty="0">
                <a:latin typeface="Times New Roman" panose="02020603050405020304" pitchFamily="18" charset="0"/>
                <a:cs typeface="Times New Roman" panose="02020603050405020304" pitchFamily="18" charset="0"/>
              </a:rPr>
              <a:t>谢谢！</a:t>
            </a:r>
          </a:p>
        </p:txBody>
      </p:sp>
      <p:sp>
        <p:nvSpPr>
          <p:cNvPr id="4" name="灯片编号占位符 3">
            <a:extLst>
              <a:ext uri="{FF2B5EF4-FFF2-40B4-BE49-F238E27FC236}">
                <a16:creationId xmlns:a16="http://schemas.microsoft.com/office/drawing/2014/main" id="{B35D4A2F-1955-46D8-2A12-84F29DF3C15A}"/>
              </a:ext>
            </a:extLst>
          </p:cNvPr>
          <p:cNvSpPr>
            <a:spLocks noGrp="1"/>
          </p:cNvSpPr>
          <p:nvPr>
            <p:ph type="sldNum" sz="quarter" idx="12"/>
          </p:nvPr>
        </p:nvSpPr>
        <p:spPr/>
        <p:txBody>
          <a:bodyPr/>
          <a:lstStyle/>
          <a:p>
            <a:fld id="{A290DF1A-1B4B-4FE9-B9C1-10AC9C5D423D}" type="slidenum">
              <a:rPr lang="zh-CN" altLang="en-US" smtClean="0">
                <a:latin typeface="Times New Roman" panose="02020603050405020304" pitchFamily="18" charset="0"/>
                <a:cs typeface="Times New Roman" panose="02020603050405020304" pitchFamily="18" charset="0"/>
              </a:rPr>
              <a:t>27</a:t>
            </a:fld>
            <a:endParaRPr lang="zh-CN" altLang="en-US" dirty="0">
              <a:latin typeface="Times New Roman" panose="02020603050405020304" pitchFamily="18" charset="0"/>
              <a:cs typeface="Times New Roman" panose="02020603050405020304" pitchFamily="18" charset="0"/>
            </a:endParaRPr>
          </a:p>
        </p:txBody>
      </p:sp>
      <p:cxnSp>
        <p:nvCxnSpPr>
          <p:cNvPr id="3" name="直接连接符 2">
            <a:extLst>
              <a:ext uri="{FF2B5EF4-FFF2-40B4-BE49-F238E27FC236}">
                <a16:creationId xmlns:a16="http://schemas.microsoft.com/office/drawing/2014/main" id="{7309E07E-3374-1A0B-C6B3-472A66FF56D9}"/>
              </a:ext>
            </a:extLst>
          </p:cNvPr>
          <p:cNvCxnSpPr>
            <a:cxnSpLocks/>
          </p:cNvCxnSpPr>
          <p:nvPr/>
        </p:nvCxnSpPr>
        <p:spPr>
          <a:xfrm>
            <a:off x="4933820" y="3404915"/>
            <a:ext cx="2121159" cy="0"/>
          </a:xfrm>
          <a:prstGeom prst="line">
            <a:avLst/>
          </a:prstGeom>
        </p:spPr>
        <p:style>
          <a:lnRef idx="1">
            <a:schemeClr val="dk1"/>
          </a:lnRef>
          <a:fillRef idx="0">
            <a:schemeClr val="dk1"/>
          </a:fillRef>
          <a:effectRef idx="0">
            <a:schemeClr val="dk1"/>
          </a:effectRef>
          <a:fontRef idx="minor">
            <a:schemeClr val="tx1"/>
          </a:fontRef>
        </p:style>
      </p:cxnSp>
      <p:sp>
        <p:nvSpPr>
          <p:cNvPr id="8" name="标题 1">
            <a:extLst>
              <a:ext uri="{FF2B5EF4-FFF2-40B4-BE49-F238E27FC236}">
                <a16:creationId xmlns:a16="http://schemas.microsoft.com/office/drawing/2014/main" id="{E2CC320A-0BC7-3DEE-2C78-AFA26B94D9F1}"/>
              </a:ext>
            </a:extLst>
          </p:cNvPr>
          <p:cNvSpPr txBox="1">
            <a:spLocks/>
          </p:cNvSpPr>
          <p:nvPr/>
        </p:nvSpPr>
        <p:spPr>
          <a:xfrm>
            <a:off x="1524000" y="3297714"/>
            <a:ext cx="9144000" cy="117064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5400" b="1" dirty="0">
                <a:latin typeface="楷体" panose="02010609060101010101" pitchFamily="49" charset="-122"/>
                <a:ea typeface="楷体" panose="02010609060101010101" pitchFamily="49" charset="-122"/>
                <a:cs typeface="Times New Roman" panose="02020603050405020304" pitchFamily="18" charset="0"/>
              </a:rPr>
              <a:t>恳请各位老师批评指正</a:t>
            </a:r>
          </a:p>
        </p:txBody>
      </p:sp>
    </p:spTree>
    <p:extLst>
      <p:ext uri="{BB962C8B-B14F-4D97-AF65-F5344CB8AC3E}">
        <p14:creationId xmlns:p14="http://schemas.microsoft.com/office/powerpoint/2010/main" val="247879978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1918</TotalTime>
  <Words>2304</Words>
  <Application>Microsoft Office PowerPoint</Application>
  <PresentationFormat>宽屏</PresentationFormat>
  <Paragraphs>386</Paragraphs>
  <Slides>27</Slides>
  <Notes>8</Notes>
  <HiddenSlides>0</HiddenSlides>
  <MMClips>0</MMClips>
  <ScaleCrop>false</ScaleCrop>
  <HeadingPairs>
    <vt:vector size="8" baseType="variant">
      <vt:variant>
        <vt:lpstr>已用的字体</vt:lpstr>
      </vt:variant>
      <vt:variant>
        <vt:i4>7</vt:i4>
      </vt:variant>
      <vt:variant>
        <vt:lpstr>主题</vt:lpstr>
      </vt:variant>
      <vt:variant>
        <vt:i4>4</vt:i4>
      </vt:variant>
      <vt:variant>
        <vt:lpstr>嵌入 OLE 服务器</vt:lpstr>
      </vt:variant>
      <vt:variant>
        <vt:i4>2</vt:i4>
      </vt:variant>
      <vt:variant>
        <vt:lpstr>幻灯片标题</vt:lpstr>
      </vt:variant>
      <vt:variant>
        <vt:i4>27</vt:i4>
      </vt:variant>
    </vt:vector>
  </HeadingPairs>
  <TitlesOfParts>
    <vt:vector size="40" baseType="lpstr">
      <vt:lpstr>等线</vt:lpstr>
      <vt:lpstr>等线 Light</vt:lpstr>
      <vt:lpstr>楷体</vt:lpstr>
      <vt:lpstr>Arial</vt:lpstr>
      <vt:lpstr>Cambria Math</vt:lpstr>
      <vt:lpstr>Times New Roman</vt:lpstr>
      <vt:lpstr>Wingdings</vt:lpstr>
      <vt:lpstr>Office 主题​​</vt:lpstr>
      <vt:lpstr>3_Office 主题​​</vt:lpstr>
      <vt:lpstr>2_Office 主题​​</vt:lpstr>
      <vt:lpstr>1_Office 主题​​</vt:lpstr>
      <vt:lpstr>AxMath</vt:lpstr>
      <vt:lpstr>Equation.AxMath</vt:lpstr>
      <vt:lpstr>基于分布鲁棒优化的 AUC最大化研究  </vt:lpstr>
      <vt:lpstr>PowerPoint 演示文稿</vt:lpstr>
      <vt:lpstr>1     选题背景</vt:lpstr>
      <vt:lpstr>PowerPoint 演示文稿</vt:lpstr>
      <vt:lpstr>选题背景 – AUC</vt:lpstr>
      <vt:lpstr>PowerPoint 演示文稿</vt:lpstr>
      <vt:lpstr>2   理论基础与国内外研究现状</vt:lpstr>
      <vt:lpstr>理论基础– AUC优化</vt:lpstr>
      <vt:lpstr>国内外研究现状– AUC优化</vt:lpstr>
      <vt:lpstr>国内外研究现状– 分布鲁棒优化</vt:lpstr>
      <vt:lpstr>3  研究思路与内容</vt:lpstr>
      <vt:lpstr>研究思路与内容</vt:lpstr>
      <vt:lpstr>研究思路与内容</vt:lpstr>
      <vt:lpstr>研究思路与内容</vt:lpstr>
      <vt:lpstr>研究思路与内容</vt:lpstr>
      <vt:lpstr>研究思路与内容</vt:lpstr>
      <vt:lpstr>研究思路与内容</vt:lpstr>
      <vt:lpstr>4  实验结果</vt:lpstr>
      <vt:lpstr>实验结果</vt:lpstr>
      <vt:lpstr>实验结果</vt:lpstr>
      <vt:lpstr>PowerPoint 演示文稿</vt:lpstr>
      <vt:lpstr>实验结果</vt:lpstr>
      <vt:lpstr>实验结果</vt:lpstr>
      <vt:lpstr>5  总结与展望</vt:lpstr>
      <vt:lpstr>总结与展望</vt:lpstr>
      <vt:lpstr>总结与展望</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基于分布鲁棒优化的AUC最大化研究</dc:title>
  <dc:creator>李 斐然</dc:creator>
  <cp:lastModifiedBy>李 斐然</cp:lastModifiedBy>
  <cp:revision>265</cp:revision>
  <dcterms:created xsi:type="dcterms:W3CDTF">2023-03-08T01:53:48Z</dcterms:created>
  <dcterms:modified xsi:type="dcterms:W3CDTF">2023-06-01T08:07:31Z</dcterms:modified>
</cp:coreProperties>
</file>